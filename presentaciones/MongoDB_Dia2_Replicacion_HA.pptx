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y bienvenidos al segundo día. Si ayer construimos los cimientos, hoy entramos en lo que para mí es el corazón de la administración de MongoDB: la replicación y la alta disponibilidad.
Todo lo que hagamos hoy gira alrededor de un objeto, el replica set, que es la topología mínima que cualquier despliegue de producción debería tener. Vamos a entender cómo funciona por dentro, cómo se replican los datos a través del oplog, cómo se vigilan los nodos entre sí con los heartbeats y cómo eligen un nuevo primario cuando el actual falla. Después veremos cómo la aplicación decide qué garantías quiere en cada escritura y en cada lectura, con el write concern, el read concern y la read preference, y cómo se controla la topología con prioridades y tags. Y terminaremos con la alta disponibilidad en la práctica: qué ve una aplicación durante un failover, cómo se hace un mantenimiento sin cortar el servicio y cómo se reparte un replica set entre varios centros de datos.
Y como os prometí, hoy vamos a romper cosas. Muchas. Es la mejor forma de entender cómo se recupera un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 hoy. Empezamos con un repaso rápido de ayer y un hueco para dudas. Después tenemos tres módulos, cada uno con su laboratorio.
El módulo cinco es el más teórico: cómo funciona la replicación por dentro. Justo después montaréis vuestro propio replica set de tres nodos, a mano, paso a paso, porque quiero que entendáis cada pieza antes de automatizar nada. El módulo seis trata de la configuración del replica set y de las garantías de lectura y escritura; lo practicaremos después del descanso. Y el módulo siete es la alta disponibilidad en la práctica, con un laboratorio en el que provocaremos caídas, haremos un mantenimiento rolling y simularemos la pérdida de un centro de datos.
Un aviso importante: el replica set que montéis hoy es el entorno de trabajo del día tres y del día cuatro, así que al terminar lo pararemos, pero no lo borraremos.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repasemos en dos minutos las ideas clave de ayer, porque las vamos a usar hoy.
La primera: en producción el mínimo es un replica set, y hoy vamos a ver por qué. La segunda: las actualizaciones de versión mayor se hacen de una en una y en dos fases, primero los binarios, nodo a nodo, y solo cuando todo funciona, la FCV. La tercera: la caché de WiredTiger ocupa por defecto la mitad de la memoria menos un giga, y en contenedores o con varias instancias por máquina hay que fijarla explícitamente. La cuarta: el disco, con XFS montado con noatime, discos SSD y un readahead bajo. La quinta, el cambio de criterio con Transparent Huge Pages en la 8.0. Y la sexta: la autorización siempre activada, creando el primer usuario con la localhost exception.
Y una pregunta rápida para comprobar que lo de ayer quedó claro. Habéis actualizado un nodo de 7.0 a 8.0 y, una hora después, la aplicación empieza a fallar. Todavía no habéis tocado la FCV. ¿Qué hacéis? Exacto: volver a poner los binarios de la 7.0. Como la FCV sigue en 7.0, los datos están en un formato que la 7.0 entiende, y el rollback es inmediato. Ese es precisamente el motivo de separar las dos fases.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el módulo cinco, dedicado a la replicación. Veremos para qué sirve replicar, cómo es un replica set por dentro, qué es el oplog y cómo se dimensiona, cómo se vigilan los nodos con los heartbeats, cómo se elige un nuevo primario, por qué todo gira alrededor del concepto de mayoría y qué tipos de miembros existen, incluidos los árbitros, sobre los que tengo una opinión bastante clara que os contaré.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qué replicamos? La primera razón, y la más importante, es la alta disponibilidad: si el primario cae, otro nodo toma el relevo automáticamente en cuestión de segundos, sin intervención humana y sin que la aplicación tenga que reconfigurarse.
La segunda es la durabilidad. Una escritura que ha sido confirmada por la mayoría de los nodos sobrevive a la pérdida de cualquiera de ellos, incluido el disco del primario.
La tercera, que en el día a día es la que más se agradece, es poder hacer mantenimiento sin parada: parchear el sistema operativo, actualizar MongoDB o cambiar hardware nodo a nodo, sin cortar el servicio. Lo practicaremos esta tarde.
La cuarta es el escalado de lecturas: podemos dirigir ciertas lecturas a los secundarios, típicamente informes o analítica que toleran leer datos con algún segundo de retraso. Y la quinta, hacer backups desde un secundario sin cargar al primario.
Y la última tarjeta es la más importante de la diapositiva: la replicación no es un backup. Si alguien ejecuta un drop de una colección por error, ese drop se replica en milisegundos a todos los nodos. La replicación os protege frente a fallos de hardware y de infraestructura, no frente a errores humanos ni frente a errores de la aplicación. Para eso están los backups, que veremos el cuarto día, y los secundarios retrasados, que veremos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anatomía de un replica set típico de tres nodos.
Hay un único primario, que es el único nodo que acepta escrituras. Y hay uno o varios secundarios, que mantienen una copia completa de los datos. Los secundarios no reciben las escrituras directamente de la aplicación, sino que leen continuamente el registro de operaciones del primario, el oplog, y aplican esas mismas operaciones sobre su copia de los datos. Un detalle: un secundario puede replicar también desde otro secundario, lo que se llama replicación encadenada, y que es útil cuando hay nodos en centros de datos lejanos.
Un replica set puede tener hasta cincuenta miembros, pero como máximo siete de ellos pueden votar en las elecciones. En la práctica, la inmensa mayoría de los replica sets tienen tres o cinco miembros. Y el número de votos debe ser impar, por un motivo que veremos en unos minutos cuando hablemos de mayorías.
Muy importante para las aplicaciones: los clientes se conectan al conjunto, no a un nodo concreto. El driver descubre quién es el primario y le envía las escrituras, y si el primario cambia, el driver lo detecta y redirige el tráfico. Esto es lo que hace que el failover sea transparente, o casi, para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oplog es la pieza central de la replicación. Es una colección especial, llamada oplog.rs, que vive en la base de datos local, que es la única base de datos que no se replica. Tiene tamaño limitado, es decir, cuando se llena, las entradas más antiguas se van descartando.
Cada vez que el primario modifica un documento, anota una entrada en el oplog. Aquí veis una entrada de actualización: op es el tipo de operación, ns es el espacio de nombres, es decir, base de datos y colección, o es el cambio y o2 identifica el documento afectado por su _id.
Dos propiedades fundamentales. La primera: hay una entrada por cada documento modificado. Si ejecutáis un updateMany que cambia cien mil documentos, se generan cien mil entradas en el oplog. Esto tiene consecuencias operativas muy serias: una actualización masiva puede llenar el oplog en minutos y dejar atrás a los secundarios.
La segunda: las operaciones son idempotentes. Fijaos en que no se guarda la operación original, que era multiplicar el precio por uno coma uno, sino el resultado, el precio final. Así, aplicar la misma entrada una o diez veces produce el mismo resultado, y un secundario que se interrumpe a mitad puede reintentar sin miedo.
Por último, ts es la marca de tiempo que ordena todas las operaciones, y t es el término, un número que aumenta con cada elección. Lo veréis en el laboratorio y os servirá para saber cuántas elecciones ha habido.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¿Cuánto debe medir el oplog? Por defecto ocupa el cinco por ciento del espacio libre del disco, con un mínimo de novecientos noventa megas y un máximo de cincuenta gigas. Pero la cifra que realmente importa no son los gigas, sino el tiempo: la ventana del oplog, es decir, cuánto tiempo de operaciones cabe en él con vuestra carga real.
¿Por qué importa? Porque si un secundario se desconecta, por ejemplo por un mantenimiento o por una avería, cuando vuelve tiene que ponerse al día leyendo del oplog del primario todo lo que se ha perdido. Si en ese tiempo el oplog ya ha descartado las entradas que necesita, el secundario no puede ponerse al día, pasa al estado RECOVERING y hay que hacer una resincronización completa, que en una base de datos de varios terabytes puede tardar horas o días, durante los cuales tenéis un nodo menos.
Mi recomendación es que la ventana sea como mínimo de veinticuatro horas, y en cualquier caso mayor que la parada más larga que podáis tener en un secundario. Se consulta con rs.printReplicationInfo, que os dice el tiempo entre la primera y la última entrada, se cambia en caliente con replSetResizeOplog, y desde la versión 4.4 se puede fijar además una retención mínima por tiempo, de forma que el oplog crezca si hace falta para no descartar entradas más recientes que ese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el viaje completo de una escritura.
Primero, la aplicación envía la escritura al primario. Segundo, el primario aplica el cambio y anota la entrada correspondiente en su oplog, y lo hace en la misma unidad atómica: no puede haber un cambio sin su entrada de oplog ni al revés.
Tercero, cada secundario tiene abierto un cursor sobre el oplog de su fuente de sincronización, que normalmente es el primario, y va recibiendo las nuevas entradas en cuanto aparecen. Es un modelo en el que el secundario tira de los datos, no uno en el que el primario empuja.
Cuarto, el secundario aplica las operaciones en lotes y en paralelo, con varios hilos, y las anota en su propio oplog, de forma que a su vez puede servir de fuente para otros secundarios.
Y quinto, los secundarios informan periódicamente de hasta dónde han llegado, y el primario usa esa información para confirmar la escritura a la aplicación según el nivel de confirmación que esta haya pedido, que es el write concern que veremos en el módulo seis.
La idea clave está en el recuadro: la replicación es asíncrona. El primario no espera a los secundarios para aplicar la escritura. Solo espera para confirmarla, y solo si el write concern lo pide. Esa diferencia entre aplicar y confirmar es la que explica los rollbacks, de los que hablaremos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sabe cada nodo si los demás están vivos? Con los heartbeats. Cada miembro envía un pequeño mensaje a todos los demás cada dos segundos, y la respuesta incluye el estado del nodo, hasta qué operación ha aplicado, que es su optime, y el término actual. Así, todos los miembros tienen en todo momento una visión de todos los demás.
Si los secundarios dejan de recibir respuesta del primario durante diez segundos, que es el valor por defecto de electionTimeoutMillis, alguno de ellos convoca una elección.
Pero hay un detalle muy importante que suele pasar desapercibido: el primario también vigila. Si el primario deja de ver a la mayoría de los miembros, por ejemplo porque se ha producido una partición de red y ha quedado aislado en el lado minoritario, se degrada a sí mismo a secundario y deja de aceptar escrituras. ¿Por qué? Para evitar tener dos primarios a la vez. En el otro lado de la partición, donde está la mayoría, se elegirá un nuevo primario, y si el antiguo siguiera aceptando escrituras, tendríamos dos versiones divergentes de los datos, lo que se conoce como split brain.
Todo esto lo podéis observar con rs.status(), que muestra para cada miembro su salud, su estado, el momento del último heartbeat y la latencia de red. En el laboratorio lo miraréis con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cómo se desarrolla una elección. El protocolo que usa MongoDB, el protocolVersion uno, está basado en Raft, un algoritmo de consenso muy conocido.
Todo empieza con la detección: un secundario no recibe heartbeats del primario durante el tiempo de electionTimeoutMillis. En ese momento se presenta como candidato: incrementa el término, que es como el número de legislatura, y pide el voto a los demás miembros.
Cada miembro decide si le vota con dos reglas sencillas: solo vota a un candidato cuyo oplog esté al menos tan actualizado como el suyo, y solo vota una vez por término. La primera regla es la que garantiza que no se elija a un nodo al que le faltan escrituras confirmadas por mayoría. Si el candidato consigue la mayoría de los votos del replica set, pasa a ser primario.
Hay además un paso final opcional, el catch-up: el nuevo primario puede esperar un momento a recibir de otros secundarios las operaciones que le falten antes de empezar a aceptar escrituras, para minimizar lo que se pierde.
¿Cuánto dura todo? La elección en sí tarda muy poco, del orden de uno o dos segundos. Pero el tiempo total sin primario, que es lo que ve la aplicación, suele estar entre diez y doce segundos, porque hay que sumar el tiempo de detección. Lo mediréis vosotros mismos en el laboratorio siete.
Y un matiz: las prioridades de los miembros influyen en quién se presenta y cuándo. Un nodo con más prioridad que el primario actual convocará una elección para quitarle el puesto en cuanto esté al día, como veremos en el módulo seis.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explica por qué hablamos siempre de números impares.
Para elegir un primario hace falta la mayoría de los votos, y mayoría significa más de la mitad de los votos configurados en el replica set, no de los nodos que estén vivos en ese momento. Esto es muy importante: si tenéis tres nodos y caen dos, el que queda no puede ser primario, porque uno no es más de la mitad de tres.
Con un solo nodo no hay alta disponibilidad. Con dos, la mayoría es dos, así que si cae cualquiera de los dos, el otro no puede ser primario: un replica set de dos nodos es menos disponible que un único nodo, porque tiene el doble de probabilidades de sufrir una caída que lo deje sin primario. Con tres nodos, la mayoría es dos y podéis perder uno: es la configuración mínima de producción. Con cuatro, la mayoría es tres y seguís pudiendo perder solo uno, así que el cuarto nodo no aporta tolerancia. Con cinco podéis perder dos, lo que es recomendable para servicios críticos o repartidos en varios centros de datos. Y siete es el máximo de miembros con voto.
Así que la regla práctica es: número impar de votos. Si por algún motivo necesitáis un número par de nodos con datos, al último le quitáis el voto.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Hablemos de los árbitros, porque aparecen mucho en arquitecturas heredadas.
Un árbitro es un miembro que vota en las elecciones pero no guarda datos. Se inventó para ahorrar hardware: en lugar de tres nodos con datos, se ponen dos nodos con datos y un árbitro, que puede correr en una máquina pequeña. Es la arquitectura primario, secundario, árbitro, o PSA.
El problema es lo que pasa cuando cae uno de los dos nodos con datos. El replica set sigue teniendo primario, porque quedan dos votos de tres. Pero solo hay un nodo con datos, así que una escritura con write concern majority, que necesita dos nodos con datos, no se puede confirmar. Y como desde la versión 5.0 el write concern por defecto es majority, las aplicaciones empiezan a quedarse esperando. Además, el primario tiene que mantener en su caché todos los cambios que no se han podido confirmar por mayoría, lo que provoca una presión de caché que puede degradar gravemente el rendimiento. Y, obviamente, mientras dura la caída solo tenéis una copia de los datos.
Por eso mi recomendación, y la de la propia MongoDB, es usar tres nodos con datos, lo que se conoce como PSS, siempre que se pueda. Si heredáis un PSA, conviene conocer estos efectos y tener un procedimiento para la caída de un nodo de datos, que suele pasar por quitarle temporalmente el voto al nodo caído.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configuración de un replica set tal como la devuelve rs.conf(). Es un documento más, que se guarda en la base de datos local de cada miembro y que se sincroniza entre todos.
Tiene un nombre, que debe coincidir con el parámetro replSetName de cada nodo, una versión que aumenta con cada cambio, y una lista de miembros. Cada miembro tiene un identificador, su dirección, que es muy importante que sea resoluble desde todos los demás nodos y desde los clientes, y una serie de atributos: la prioridad, los votos, los tags y, opcionalmente, si es oculto o retrasado. En este ejemplo tenéis un poco de todo, y lo iremos desgranando a lo largo del día.
Abajo están los settings globales: el intervalo de heartbeats, el tiempo de detección de fallo, si se permite la replicación encadenada y los modos de write concern personalizados, que usaremos en el laboratorio siete para exigir confirmación en dos centros de datos.
Para administrar la configuración tenéis rs.initiate, que crea el replica set, rs.add y rs.remove para añadir y quitar miembros, y rs.reconfig, que aplica una configuración completa. El patrón habitual con reconfig es leer la configuración actual en una variable, modificarla y aplicarla, como haréis en el laboratorio. Una limitación a tener en cuenta: en cada reconfiguración solo se puede cambiar el voto de un miembro, así que los cambios de votos se hacen de uno en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esos atributos se configuran distintos tipos de miembros, cada uno con su utilidad.
El secundario normal tiene prioridad uno o superior y un voto; es candidato a primario. Un miembro con prioridad cero nunca será primario, lo que es útil, por ejemplo, para nodos en un centro de datos de respaldo o en máquinas con menos recursos, donde no queréis que acabe el primario.
Un miembro oculto, además de tener prioridad cero, no se anuncia a los clientes, así que los drivers nunca le envían lecturas. Solo recibe tráfico de conexiones directas. Es ideal para hacer backups o para lanzar informes pesados sin afectar a nada más.
El miembro retrasado es un oculto que aplica el oplog con un retraso configurable, por ejemplo una hora. Es vuestra máquina del tiempo: si alguien borra una colección por error, tenéis una hora para ir al nodo retrasado y recuperarla antes de que el borrado llegue también allí. Eso sí, el oplog tiene que cubrir más tiempo que el retraso.
Los miembros sin voto sirven para tener más de siete miembros o para nodos que no deben influir en la mayoría. Y el árbitro, del que ya hemos hablado.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laboratorio cinco, que es el más importante del día porque construye el entorno sobre el que trabajaremos el resto del curso.
Vais a arrancar tres nodos con el parámetro replSet y con un keyfile compartido. El keyfile es un secreto común que los miembros usan para autenticarse entre sí, y al activarlo también se activa la autorización para los clientes. Lo veremos con más detalle el día tres. Como la autorización está activa y no hay usuarios, tendréis que iniciar el replica set y crear el administrador desde dentro del propio nodo, aprovechando la localhost exception que vimos ayer.
Después cargaréis los datos del curso desde el toolbox, examinaréis el estado y la configuración del replica set, y exploraréis el oplog: veréis cuántas entradas genera un updateMany y comprobaréis que se guarda el resultado y no la operación.
Tenéis cuarenta minutos. Id despacio y leed los mensajes, porque es fácil equivocarse de nodo al crear el usuario si el primario no es el que esperáis.
[Al terminar] Repasemos. Los heartbeats van cada dos segundos, la elección se convoca a los diez segundos, y el protocolo es la versión uno. El updateMany sobre los libros ha generado una entrada por cada documento modificado, y en cada una aparece el precio final, no la multiplicación. Esa es la idempotencia de la que hablábamos.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módulo seis. Si el módulo anterior trataba de cómo funciona la replicación, este trata de cómo la aplicación y el administrador controlan sus garantías: con qué nivel de confirmación se escribe, qué versión de los datos se lee y de qué nodo, y cómo se decide qué nodo debe ser primario y a qué nodos van ciertas lecturas.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write concern es el nivel de confirmación que pide la aplicación para cada escritura. Veamos las opciones.
Con w cero, el cliente ni siquiera espera respuesta. Es muy rápido y muy peligroso, porque los errores pasan desapercibidos. No lo uséis salvo para métricas que no importe perder.
Con w uno, la escritura se confirma en cuanto el primario la ha aplicado. El riesgo es que, si el primario cae antes de que algún secundario haya recibido esa escritura, el nuevo primario no la tendrá, y cuando el antiguo vuelva, la deshará. Es lo que se llama un rollback.
Con w majority, la escritura se confirma cuando la mayoría de los miembros con voto la tienen. Una escritura confirmada así sobrevive a cualquier failover, porque cualquier nuevo primario tiene que haber recibido votos de la mayoría, y al menos uno de ellos tiene la escritura. Desde la versión 5.0 es el valor por defecto.
También se puede pedir un número concreto de nodos, o un modo personalizado basado en tags, como exigir que la escritura esté en dos centros de datos distintos.
La opción j indica si la escritura tiene que estar en el journal del disco antes de confirmarse, y con majority está implícita por defecto.
Y cuidado con wtimeout, porque es fuente de muchos malentendidos. wtimeout es el tiempo máximo que el cliente espera a la confirmación. Si vence, el cliente recibe un error, pero la escritura no se deshace: sigue en el primario y se replicará cuando pueda. El write concern no es una transacción. Lo comprobaréis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Detengámonos un momento en el rollback, porque es un concepto que un administrador tiene que entender bien.
Imaginad un primario que acepta escrituras con w uno, es decir, confirmando a la aplicación en cuanto él las ha aplicado. Justo después, antes de que los secundarios hayan recibido esas escrituras, el primario cae. Los secundarios eligen un nuevo primario, que no tiene esas últimas escrituras, y la vida sigue: el nuevo primario acepta nuevas escrituras.
Cuando el antiguo primario vuelve, se encuentra con que su historia ha divergido de la del replica set: tiene operaciones que el nuevo primario no tiene. Así que deshace esas operaciones hasta el último punto común, y después se pone al día con el nuevo primario. Los documentos que ha deshecho no se pierden del todo: se guardan en ficheros BSON en el directorio rollback, dentro del directorio de datos.
Si os encontráis ficheros de rollback, revisad el log, recuperad esos documentos con bsondump o mongorestore, y decidid con los responsables de negocio qué hacer con ellos. Pero, sobre todo, haceos la pregunta de fondo: ¿por qué esa aplicación escribe con w uno? Porque con w majority, una escritura confirmada nunca sufre rollback. Esa es la gran garantía de majority, y por eso es el valor por defecto desde la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write concern controla cuándo se confirma una escritura, el read concern controla qué versión de los datos devuelve una lectura.
Con local, que es el nivel por defecto, el nodo devuelve lo último que tiene, aunque todavía no esté confirmado por la mayoría. Es lo más rápido, pero en teoría podríais leer un dato que después sufra un rollback. available es parecido y en clusters con sharding puede devolver documentos huérfanos; se usa poco.
Con majority, el nodo solo devuelve datos que la mayoría ya tiene, es decir, datos que nunca van a desaparecer por un rollback. Es la opción adecuada cuando la aplicación no puede permitirse ver un dato que luego se esfume, por ejemplo al confirmar un pago.
linearizable es el nivel más estricto: garantiza que leéis el último valor confirmado por mayoría antes de que empezara la lectura. Solo se puede usar en el primario, sobre un único documento, y es caro porque obliga al primario a comprobar que sigue siéndolo. Y snapshot da una foto coherente de los datos en un instante; es el que usan las transacciones.
Para vosotros como administradores, lo importante es saber que existen, qué cuestan y qué pedir a los equipos de desarrollo según la criticidad de cada operación. En el laboratorio probaréis local, majority y linearizable.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pieza es la read preference, que decide a qué nodo va cada lectura.
Por defecto, primary: todas las lecturas van al primario, lo que garantiza que leéis lo último que se ha escrito. primaryPreferred lee del primario, pero si no hay primario, por ejemplo durante una elección, lee de un secundario, lo que permite seguir atendiendo lecturas durante un failover.
secondary lee solo de secundarios, y es la opción típica para informes o cargas analíticas que no deben competir con la aplicación en el primario. secondaryPreferred prefiere secundarios, pero si no hay ninguno disponible, lee del primario. Y nearest lee del nodo con menor latencia de red, sea primario o secundario, lo que tiene sentido en aplicaciones repartidas por varias regiones.
Hay dos complementos importantes. readPreferenceTags permite elegir nodos por etiqueta, por ejemplo, solo el nodo dedicado a informes, que es lo siguiente que vamos a ver. Y maxStalenessSeconds permite decirle al driver que descarte los secundarios que vayan más retrasados que un cierto número de segundos.
Una advertencia que repito a todos los equipos de desarrollo: leer de secundarios no es gratis. La replicación es asíncrona, así que un secundario puede no tener todavía lo que acabáis de escribir. Si la aplicación escribe y a continuación lee de un secundario, puede no encontrar su propio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tags son pares clave-valor que asignáis libremente a cada miembro, y sirven para dos cosas: dirigir lecturas y definir garantías de escritura.
En el primer bloque etiquetamos los tres nodos con dos claves: el centro de datos y el uso. mongo1 y mongo2 están en Madrid y atienden la aplicación; mongo3 está en Barcelona y es el nodo de informes.
En el segundo bloque dirigimos lecturas por tag. La aplicación de informes lee de secundarios con el tag uso informes. Fijaos en el segundo elemento de la lista, un conjunto vacío: significa que, si no hay ningún secundario con ese tag disponible, puede leer de cualquier secundario. Sin esa alternativa, si el nodo de informes cae, las lecturas fallan. Lo mismo se expresa en la cadena de conexión repitiendo el parámetro readPreferenceTags, el último vacío.
Y en el tercer bloque, lo más potente: un modo de write concern personalizado. dosCPD, con dc dos, significa que la escritura debe estar confirmada en nodos con al menos dos valores distintos del tag dc, es decir, en dos centros de datos. Las escrituras críticas, como un pago, pueden pedir este modo para garantizar que sobrevivirían a la pérdida completa de un centro de datos. Lo probaréis en el laboratorio siete.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prioridades deciden qué nodo preferís como primario. Van de cero a mil, y por defecto son uno.
El comportamiento es el siguiente: si un secundario tiene más prioridad que el primario actual y está al día, convoca una elección para quitarle el puesto. Es lo que se llama priority takeover. Así, en este ejemplo, mongo1, con prioridad dos, será el primario siempre que esté disponible. Si cae, lo sustituirá mongo2, y cuando mongo1 vuelva y se ponga al día, recuperará el puesto.
Un nodo con prioridad cero nunca será primario, pero sigue votando y sigue teniendo una copia completa de los datos. Es lo adecuado para nodos en un centro de datos de respaldo, que no queréis que acaben siendo primarios porque la aplicación está en el otro centro y la latencia sería mala.
Si todas las prioridades son iguales, no hay elecciones innecesarias: el primario sigue siéndolo mientras funcione. Lo comprobaréis en el laboratorio: cuando devolváis las prioridades a uno, el primario no cambiará.
Un consejo práctico: no juguéis con prioridades sin motivo. Cada cambio de primario provoca unos segundos sin escrituras, así que una configuración que provoque elecciones frecuentes es peor que no tener preferencias.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tuviera que resumir el módulo en una recomendación, sería esta: por defecto, escribid con w majority, leed del primario con read concern local, y reservad los secundarios y los tags para cargas que toleran algo de retraso, como informes y analítica.
Esa combinación da unas garantías muy razonables con un rendimiento muy bueno, y es lo que MongoDB ofrece por defecto desde la 5.0.
Todo lo demás debería ser una decisión explícita y documentada. Escribir con w uno para datos que se pueden perder sin problema, como métricas de uso. Leer con majority o linearizable cuando una lectura no puede ver datos que luego desaparezcan. O usar nearest en aplicaciones repartidas por regiones. Pero siempre sabiendo qué se gana y qué se arriesga.
Nos vamos al descanso y, a la vuelta, lo ponemos en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 nuevo. Vamos con el laboratorio seis, que pone en práctica todo el módulo seis.
En la primera parte escribiréis con distintos niveles de write concern, primero con los tres nodos vivos y después con uno parado, y comprobaréis qué pasa cuando no se puede cumplir el nivel pedido. Atentos a la pregunta de si la escritura fallida se ha guardado o no. En la segunda parte veréis qué nodo atiende cada lectura según la read preference, y probaréis los niveles de read concern. En la tercera cambiaréis las prioridades para que otro nodo se convierta en primario. En la cuarta etiquetaréis los nodos y dirigiréis una consulta de informes a un nodo concreto. Y en la quinta convertiréis un nodo en un secundario oculto y retrasado, y veréis cómo los datos le llegan con un minuto de retraso.
[Al terminar] Lo más importante del laboratorio: la escritura con w tres y un nodo caído devolvió un error, pero el documento se escribió. El write concern informa, no deshace. Y el secundario oculto desapareció de la lista de hosts que ven los clientes, que es exactamente lo que lo hace útil para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módulo del día: la alta disponibilidad en la práctica. Hasta ahora hemos visto los mecanismos; ahora vamos a verlos desde el punto de vista de la aplicación y de la operación diaria. Qué pasa exactamente durante un failover y qué ve la aplicación, cómo descubren los drivers los nodos, cuándo tiene sentido leer de secundarios, cómo se hace un mantenimiento sin cortar el servicio y cómo se reparte un replica set entre varios centros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la cronología de un failover no planificado.
En el segundo cero, el primario deja de responder, ya sea porque el proceso ha muerto, porque el servidor se ha apagado o porque ha habido un problema de red. Durante los siguientes diez segundos, como máximo, los secundarios esperan sin recibir heartbeats. Pasado ese tiempo, uno de ellos se presenta como candidato y, en uno o dos segundos, consigue la mayoría y se convierte en primario. Los drivers, que están vigilando continuamente el replica set, detectan el nuevo primario en cuestión de un segundo y redirigen las escrituras. Y cuando el nodo caído vuelve, entra como secundario y se pone al día leyendo el oplog.
En total, el corte de escrituras en un fallo no planificado ronda entre diez y quince segundos. En cambio, en un cambio planificado con rs.stepDown, el corte es de uno o dos segundos, porque no hay que esperar a la detección: el primario cede el puesto voluntariamente. Por eso cualquier mantenimiento sobre un primario empieza siempre con un stepDown.
¿Se puede bajar el tiempo de detección? Sí, reduciendo electionTimeoutMillis, pero con cuidado: un valor demasiado bajo provoca elecciones innecesarias ante cualquier pequeña pausa de red o de disco, y cada elección es un corte. El valor por defecto es un buen equilibrio para la mayoría de los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ve la aplicación durante esos diez o quince segundos? Depende mucho del driver y de su configuración, pero con los valores por defecto de los drivers modernos, la respuesta es sorprendentemente buena.
Los drivers tienen activadas por defecto las escrituras reintentables y las lecturas reintentables. Si una escritura falla porque el primario ha desaparecido, el driver espera a que haya un nuevo primario y la reintenta una vez, de forma transparente. Y el tiempo que el driver está dispuesto a esperar a encontrar un primario es serverSelectionTimeoutMS, treinta segundos por defecto, que es más que el tiempo típico de un failover.
El resultado práctico es que la aplicación normalmente no ve errores, sino escrituras que tardan varios segundos durante el failover. Lo vais a ver con vuestros propios ojos en el laboratorio con el script escritor.
Hay excepciones: algunas operaciones no son reintentables, y un cursor que estaba abierto contra el antiguo primario se pierde. Y las transacciones, si se interrumpen, devuelven un error etiquetado como transitorio, TransientTransactionError, que la aplicación debe capturar para reintentar la transacción completa.
En el recuadro tenéis lo que debéis pedir a los equipos de desarrollo: drivers actualizados, una única cadena de conexión con el replica set completo, las escrituras reintentables activadas, manejo de errores transitorios en las transacciones y timeouts de aplicación coherentes con el tiempo de failover. Si un equipo tiene un timeout de cinco segundos en su petición HTTP, verá errores en cada failover por mucho que el driver sea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sabe el driver qué nodos hay y cuál es el primario? Con el descubrimiento de nodos.
En la cadena de conexión ponéis una lista semilla de nodos y el nombre del replica set. El driver se conecta a cualquiera de los nodos de la semilla y le pregunta con el comando hello quiénes son los miembros y quién es el primario. A partir de ahí, abre conexiones de monitorización con todos los miembros y los vigila periódicamente, así que detecta cualquier cambio de topología. Por eso basta con una sola dirección en la semilla, aunque en producción conviene poner al menos dos o tres por si la primera está caída justo cuando arranca la aplicación.
Si en lugar de replicaSet usáis directConnection igual a true, el driver habla únicamente con ese nodo y no descubre nada. Es lo que usaréis para tareas de administración sobre un nodo concreto, como hacer un fsyncLock en un secundario, pero nunca para una aplicación.
También existe el formato mongodb más srv, en el que la lista de nodos se obtiene de un registro DNS. Es cómodo porque permite cambiar los nodos sin tocar la configuración de las aplicaciones, y es el que usa Atlas.
Y un detalle que causa muchísimos problemas: los nombres de host que aparecen en rs.conf() son los que el driver usará después del descubrimiento. Si en la configuración del replica set habéis puesto nombres cortos que solo se resuelven dentro de la red de los servidores, las aplicaciones de fuera se conectarán a la semilla, recibirán esos nombres y no podrán resolverlos. En nuestro entorno Docker funciona porque todo está en la misma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Hablemos de lecturas en secundarios, porque es una de las ideas que más malentendidos genera.
Es buena idea para informes y analítica que toleran algunos segundos de retraso, y todavía mejor si los aislamos en un nodo concreto mediante un tag o en un nodo oculto, de forma que una consulta pesada no afecte a la aplicación. También para aplicaciones repartidas geográficamente, que leen del nodo más cercano, y para seguir atendiendo lecturas durante un failover.
Y es mala idea como forma general de escalar. Mucha gente piensa que con tres nodos tiene el triple de capacidad de lectura, pero cada secundario tiene que aplicar todas las escrituras del primario, así que su capacidad libre es menor de lo que parece. Además, si repartís la carga de lectura entre los tres nodos y cae uno, los otros dos tienen que absorber toda la carga justo en el peor momento, y es fácil entrar en una cascada de fallos. Si necesitáis escalar de verdad, la respuesta es optimizar consultas e índices, añadir memoria, y en último término, sharding.
Tampoco es buena idea cuando la aplicación lee lo que acaba de escribir, por lo que ya hemos comentado del retraso. Y en cualquier caso, si leéis de secundarios, tenéis que vigilar el lag de replicación, porque un secundario con lag sirve datos obsoletos sin que nadie se entere. Lo veremos en el laboratorio de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mantenimiento rolling es el procedimiento estándar para cualquier operación que exija reiniciar los nodos de un replica set: parches del sistema operativo, actualizaciones de versión de MongoDB, cambios de configuración que no se pueden aplicar en caliente o cambios de hardware.
La receta es siempre la misma. Primero los secundarios, de uno en uno. Paráis el primero, hacéis el mantenimiento, lo arrancáis y esperáis a que vuelva al estado SECONDARY y con el lag a cero. Solo entonces pasáis al siguiente. Nunca dos a la vez, porque con tres nodos, si paráis dos, el que queda no tiene mayoría y os quedáis sin primario.
Cuando todos los secundarios están hechos, llega el turno del primario. Primero hacéis rs.stepDown, para que ceda el puesto de forma ordenada; otro nodo toma el relevo en uno o dos segundos. El antiguo primario ahora es un secundario más, y le aplicáis el mismo procedimiento. Al final verificáis el estado completo y, si tenéis un primario preferido por prioridad, comprobáis que ha recuperado el puesto.
Con este procedimiento, la aplicación solo nota un corte de uno o dos segundos durante el stepDown. Lo haréis en el laboratorio con el escritor en marcha, para comprobarlo.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la teoría con la geodistribución, es decir, repartir un replica set entre varios centros de datos para sobrevivir a la pérdida de uno completo.
El error más común es repartir el replica set entre dos centros de datos. Con dos, uno de ellos tiene siempre la mayoría de los votos: por ejemplo, dos nodos en Madrid y uno en Barcelona. Si cae Barcelona, no pasa nada. Pero si cae Madrid, el nodo de Barcelona es un voto de tres, no tiene mayoría, y no puede ser primario. El replica set queda en solo lectura hasta que alguien intervenga a mano. Con dos centros de datos, siempre habrá un lado cuya caída os deja sin primario.
La solución es una tercera ubicación. El esquema del diagrama es clásico: cinco miembros, dos en Madrid, dos en Barcelona y uno en Valencia. Si cae cualquier centro de datos, quedan al menos tres votos de cinco, que es mayoría. El tercer sitio puede ser pequeño, un solo nodo, incluso en una región de la nube, y con prioridad cero para que nunca sea primario, ya que normalmente estará lejos de la aplicación.
Las escrituras críticas pueden usar un modo de write concern que exija confirmación en dos centros de datos, como el dosCPD que hemos visto. Y hay que tener muy presente la latencia entre sitios: una escritura con majority tiene que esperar a que la confirme un nodo de otro centro de datos si los del centro local no son suficientes, así que la latencia de red entre sitios se suma a cada escritura.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laboratorio del día, y el más divertido, porque vamos a romper cosas.
Vais a trabajar con dos terminales. En una lanzaréis el script escritor, que simula una aplicación que escribe cada medio segundo y avisa de cualquier escritura lenta o fallida. En la otra, mataréis el primario de golpe, como si se hubiera ido la luz, y mediréis cuánto tarda la aplicación en volver a escribir. Después haréis lo mismo pero de forma planificada, con stepDown, y compararéis. Luego haréis un reinicio rolling completo de los tres nodos con el escritor en marcha. Probaréis el descubrimiento de nodos con una sola semilla y con conexión directa. Y terminaréis simulando la caída del centro de datos de Barcelona con el write concern de dos centros de datos.
[Al terminar] ¿Cuánto os ha tardado el failover no planificado? Lo normal es entre diez y quince segundos, y casi nadie ha visto un error, sino una escritura lenta, gracias a las escrituras reintentables. Con stepDown, uno o dos segundos. Y en la última parte, la pregunta clave: con dos centros de datos, si cae el que tiene la mayoría, el otro no puede elegir primario. Hace falta una tercera ubicación.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el segundo día. Repasemos las ideas clave.
El oplog es el registro de operaciones: idempotente, con una entrada por cada documento modificado, y con una ventana que debería superar las veinticuatro horas. Los nodos se vigilan con heartbeats cada dos segundos y convocan una elección tras diez segundos sin noticias del primario, y todo se decide por mayoría de votos, por eso el número de votos debe ser impar y los árbitros son una solución de compromiso. Escribir con w majority evita los rollbacks, y el wtimeout informa, pero no deshace. Hemos visto cómo controlar qué se lee y de dónde, con el read concern, la read preference y los tags, y quién debe ser primario, con las prioridades. Y en la práctica, un failover no planificado corta las escrituras entre diez y quince segundos, uno planificado con stepDown uno o dos, y el mantenimiento se hace siempre nodo a nodo.
Mañana dedicamos el día completo a la seguridad: los mecanismos de autenticación, la gestión de usuarios y roles, la migración en caliente a TLS de un replica set en servicio, y la auditoría y el cifrado en reposo con Percona Server.
Antes de iros, parad el entorno con docker compose stop, pero no lo borréis: mañana seguimos trabajando sobre él. Muchas gracias y hasta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9326880" y="1737360"/>
            <a:ext cx="1828800" cy="1188720"/>
          </a:xfrm>
          <a:prstGeom prst="line">
            <a:avLst/>
          </a:prstGeom>
          <a:noFill/>
          <a:ln w="25400">
            <a:solidFill>
              <a:srgbClr val="2E9E66"/>
            </a:solidFill>
            <a:prstDash val="solid"/>
          </a:ln>
        </p:spPr>
      </p:sp>
      <p:sp>
        <p:nvSpPr>
          <p:cNvPr id="3" name="Shape 1"/>
          <p:cNvSpPr/>
          <p:nvPr/>
        </p:nvSpPr>
        <p:spPr>
          <a:xfrm flipV="1">
            <a:off x="9601200" y="2926080"/>
            <a:ext cx="1554480" cy="1554480"/>
          </a:xfrm>
          <a:prstGeom prst="line">
            <a:avLst/>
          </a:prstGeom>
          <a:noFill/>
          <a:ln w="25400">
            <a:solidFill>
              <a:srgbClr val="2E9E66"/>
            </a:solidFill>
            <a:prstDash val="solid"/>
          </a:ln>
        </p:spPr>
      </p:sp>
      <p:sp>
        <p:nvSpPr>
          <p:cNvPr id="4" name="Shape 2"/>
          <p:cNvSpPr/>
          <p:nvPr/>
        </p:nvSpPr>
        <p:spPr>
          <a:xfrm>
            <a:off x="9326880" y="1737360"/>
            <a:ext cx="274320" cy="2743200"/>
          </a:xfrm>
          <a:prstGeom prst="line">
            <a:avLst/>
          </a:prstGeom>
          <a:noFill/>
          <a:ln w="25400">
            <a:solidFill>
              <a:srgbClr val="2E9E66"/>
            </a:solidFill>
            <a:prstDash val="solid"/>
          </a:ln>
        </p:spPr>
      </p:sp>
      <p:sp>
        <p:nvSpPr>
          <p:cNvPr id="5" name="Shape 3"/>
          <p:cNvSpPr/>
          <p:nvPr/>
        </p:nvSpPr>
        <p:spPr>
          <a:xfrm>
            <a:off x="8778240" y="1188720"/>
            <a:ext cx="1097280" cy="1097280"/>
          </a:xfrm>
          <a:prstGeom prst="ellipse">
            <a:avLst/>
          </a:prstGeom>
          <a:solidFill>
            <a:srgbClr val="F2B33D"/>
          </a:solidFill>
          <a:ln w="12700">
            <a:solidFill>
              <a:srgbClr val="F2B33D"/>
            </a:solidFill>
            <a:prstDash val="solid"/>
          </a:ln>
        </p:spPr>
      </p:sp>
      <p:sp>
        <p:nvSpPr>
          <p:cNvPr id="6" name="Text 4"/>
          <p:cNvSpPr txBox="1"/>
          <p:nvPr/>
        </p:nvSpPr>
        <p:spPr>
          <a:xfrm>
            <a:off x="8778240" y="1188720"/>
            <a:ext cx="1097280" cy="1097280"/>
          </a:xfrm>
          <a:prstGeom prst="rect">
            <a:avLst/>
          </a:prstGeom>
          <a:noFill/>
          <a:ln/>
        </p:spPr>
        <p:txBody>
          <a:bodyPr wrap="square" lIns="0" tIns="0" rIns="0" bIns="0" rtlCol="0" anchor="ctr"/>
          <a:lstStyle/>
          <a:p>
            <a:pPr algn="ctr" indent="0" marL="0">
              <a:buNone/>
            </a:pPr>
            <a:r>
              <a:rPr lang="en-US" sz="3000" b="1" dirty="0">
                <a:solidFill>
                  <a:srgbClr val="0F2A25"/>
                </a:solidFill>
                <a:latin typeface="Cambria" pitchFamily="34" charset="0"/>
                <a:ea typeface="Cambria" pitchFamily="34" charset="-122"/>
                <a:cs typeface="Cambria" pitchFamily="34" charset="-120"/>
              </a:rPr>
              <a:t>P</a:t>
            </a:r>
            <a:endParaRPr lang="en-US" sz="3000" dirty="0"/>
          </a:p>
        </p:txBody>
      </p:sp>
      <p:sp>
        <p:nvSpPr>
          <p:cNvPr id="7" name="Shape 5"/>
          <p:cNvSpPr/>
          <p:nvPr/>
        </p:nvSpPr>
        <p:spPr>
          <a:xfrm>
            <a:off x="10607040" y="2377440"/>
            <a:ext cx="1097280" cy="1097280"/>
          </a:xfrm>
          <a:prstGeom prst="ellipse">
            <a:avLst/>
          </a:prstGeom>
          <a:solidFill>
            <a:srgbClr val="1F7A4D"/>
          </a:solidFill>
          <a:ln w="12700">
            <a:solidFill>
              <a:srgbClr val="1F7A4D"/>
            </a:solidFill>
            <a:prstDash val="solid"/>
          </a:ln>
        </p:spPr>
      </p:sp>
      <p:sp>
        <p:nvSpPr>
          <p:cNvPr id="8" name="Text 6"/>
          <p:cNvSpPr txBox="1"/>
          <p:nvPr/>
        </p:nvSpPr>
        <p:spPr>
          <a:xfrm>
            <a:off x="10607040" y="237744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9" name="Shape 7"/>
          <p:cNvSpPr/>
          <p:nvPr/>
        </p:nvSpPr>
        <p:spPr>
          <a:xfrm>
            <a:off x="9052560" y="3931920"/>
            <a:ext cx="1097280" cy="1097280"/>
          </a:xfrm>
          <a:prstGeom prst="ellipse">
            <a:avLst/>
          </a:prstGeom>
          <a:solidFill>
            <a:srgbClr val="1F7A4D"/>
          </a:solidFill>
          <a:ln w="12700">
            <a:solidFill>
              <a:srgbClr val="1F7A4D"/>
            </a:solidFill>
            <a:prstDash val="solid"/>
          </a:ln>
        </p:spPr>
      </p:sp>
      <p:sp>
        <p:nvSpPr>
          <p:cNvPr id="10" name="Text 8"/>
          <p:cNvSpPr txBox="1"/>
          <p:nvPr/>
        </p:nvSpPr>
        <p:spPr>
          <a:xfrm>
            <a:off x="9052560" y="393192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11" name="Text 9"/>
          <p:cNvSpPr txBox="1"/>
          <p:nvPr/>
        </p:nvSpPr>
        <p:spPr>
          <a:xfrm>
            <a:off x="548640" y="1097280"/>
            <a:ext cx="7589520" cy="365760"/>
          </a:xfrm>
          <a:prstGeom prst="rect">
            <a:avLst/>
          </a:prstGeom>
          <a:noFill/>
          <a:ln/>
        </p:spPr>
        <p:txBody>
          <a:bodyPr wrap="square" lIns="0" tIns="0" rIns="0" bIns="0" rtlCol="0" anchor="ctr"/>
          <a:lstStyle/>
          <a:p>
            <a:pPr indent="0" marL="0">
              <a:buNone/>
            </a:pPr>
            <a:r>
              <a:rPr lang="en-US" sz="1600" b="1" spc="400" kern="0" dirty="0">
                <a:solidFill>
                  <a:srgbClr val="F2B33D"/>
                </a:solidFill>
                <a:latin typeface="Calibri" pitchFamily="34" charset="0"/>
                <a:ea typeface="Calibri" pitchFamily="34" charset="-122"/>
                <a:cs typeface="Calibri" pitchFamily="34" charset="-120"/>
              </a:rPr>
              <a:t>CURSO DE ADMINISTRACIÓN DE MONGODB · DÍA 2 DE 4</a:t>
            </a:r>
            <a:endParaRPr lang="en-US" sz="1600" dirty="0"/>
          </a:p>
        </p:txBody>
      </p:sp>
      <p:sp>
        <p:nvSpPr>
          <p:cNvPr id="12" name="Text 10"/>
          <p:cNvSpPr txBox="1"/>
          <p:nvPr/>
        </p:nvSpPr>
        <p:spPr>
          <a:xfrm>
            <a:off x="548640" y="1554480"/>
            <a:ext cx="7589520" cy="2011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Replicación y alta disponibilidad</a:t>
            </a:r>
            <a:endParaRPr lang="en-US" sz="4400" dirty="0"/>
          </a:p>
        </p:txBody>
      </p:sp>
      <p:sp>
        <p:nvSpPr>
          <p:cNvPr id="13" name="Text 11"/>
          <p:cNvSpPr txBox="1"/>
          <p:nvPr/>
        </p:nvSpPr>
        <p:spPr>
          <a:xfrm>
            <a:off x="548640" y="3657600"/>
            <a:ext cx="7589520" cy="914400"/>
          </a:xfrm>
          <a:prstGeom prst="rect">
            <a:avLst/>
          </a:prstGeom>
          <a:noFill/>
          <a:ln/>
        </p:spPr>
        <p:txBody>
          <a:bodyPr wrap="square" lIns="0" tIns="0" rIns="0" bIns="0" rtlCol="0" anchor="t"/>
          <a:lstStyle/>
          <a:p>
            <a:pPr indent="0" marL="0">
              <a:buNone/>
            </a:pPr>
            <a:r>
              <a:rPr lang="en-US" sz="2000" dirty="0">
                <a:solidFill>
                  <a:srgbClr val="CFE3D8"/>
                </a:solidFill>
                <a:latin typeface="Calibri" pitchFamily="34" charset="0"/>
                <a:ea typeface="Calibri" pitchFamily="34" charset="-122"/>
                <a:cs typeface="Calibri" pitchFamily="34" charset="-120"/>
              </a:rPr>
              <a:t>Oplog, heartbeats, elecciones, concerns, tags, prioridades, failover, mantenimiento rolling y geodistribución</a:t>
            </a:r>
            <a:endParaRPr lang="en-US" sz="2000" dirty="0"/>
          </a:p>
        </p:txBody>
      </p:sp>
      <p:sp>
        <p:nvSpPr>
          <p:cNvPr id="14" name="Text 12"/>
          <p:cNvSpPr txBox="1"/>
          <p:nvPr/>
        </p:nvSpPr>
        <p:spPr>
          <a:xfrm>
            <a:off x="548640" y="5394960"/>
            <a:ext cx="7589520" cy="365760"/>
          </a:xfrm>
          <a:prstGeom prst="rect">
            <a:avLst/>
          </a:prstGeom>
          <a:noFill/>
          <a:ln/>
        </p:spPr>
        <p:txBody>
          <a:bodyPr wrap="square" lIns="0" tIns="0" rIns="0" bIns="0" rtlCol="0" anchor="ctr"/>
          <a:lstStyle/>
          <a:p>
            <a:pPr indent="0" marL="0">
              <a:buNone/>
            </a:pPr>
            <a:r>
              <a:rPr lang="en-US" sz="1400" dirty="0">
                <a:solidFill>
                  <a:srgbClr val="9DB8AE"/>
                </a:solidFill>
                <a:latin typeface="Calibri" pitchFamily="34" charset="0"/>
                <a:ea typeface="Calibri" pitchFamily="34" charset="-122"/>
                <a:cs typeface="Calibri" pitchFamily="34" charset="-120"/>
              </a:rPr>
              <a:t>Módulos 5, 6 y 7 · Laboratorios 05, 06 y 07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Agenda de hoy</a:t>
            </a:r>
            <a:endParaRPr lang="en-US" sz="3200" dirty="0"/>
          </a:p>
        </p:txBody>
      </p:sp>
      <p:sp>
        <p:nvSpPr>
          <p:cNvPr id="3" name="Shape 1"/>
          <p:cNvSpPr/>
          <p:nvPr/>
        </p:nvSpPr>
        <p:spPr>
          <a:xfrm>
            <a:off x="548640" y="1600200"/>
            <a:ext cx="11094415" cy="457200"/>
          </a:xfrm>
          <a:prstGeom prst="roundRect">
            <a:avLst>
              <a:gd name="adj" fmla="val 12000"/>
            </a:avLst>
          </a:prstGeom>
          <a:solidFill>
            <a:srgbClr val="F4F9F6"/>
          </a:solidFill>
          <a:ln w="12700">
            <a:solidFill>
              <a:srgbClr val="D5DDD9"/>
            </a:solidFill>
            <a:prstDash val="solid"/>
          </a:ln>
        </p:spPr>
      </p:sp>
      <p:sp>
        <p:nvSpPr>
          <p:cNvPr id="4" name="Text 2"/>
          <p:cNvSpPr txBox="1"/>
          <p:nvPr/>
        </p:nvSpPr>
        <p:spPr>
          <a:xfrm>
            <a:off x="685800"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0:00</a:t>
            </a:r>
            <a:endParaRPr lang="en-US" sz="1300" dirty="0"/>
          </a:p>
        </p:txBody>
      </p:sp>
      <p:sp>
        <p:nvSpPr>
          <p:cNvPr id="5" name="Shape 3"/>
          <p:cNvSpPr/>
          <p:nvPr/>
        </p:nvSpPr>
        <p:spPr>
          <a:xfrm>
            <a:off x="1463040" y="1691640"/>
            <a:ext cx="868680" cy="274320"/>
          </a:xfrm>
          <a:prstGeom prst="roundRect">
            <a:avLst>
              <a:gd name="adj" fmla="val 50000"/>
            </a:avLst>
          </a:prstGeom>
          <a:solidFill>
            <a:srgbClr val="173D35"/>
          </a:solidFill>
          <a:ln w="12700">
            <a:solidFill>
              <a:srgbClr val="173D35"/>
            </a:solidFill>
            <a:prstDash val="solid"/>
          </a:ln>
        </p:spPr>
      </p:sp>
      <p:sp>
        <p:nvSpPr>
          <p:cNvPr id="6" name="Text 4"/>
          <p:cNvSpPr txBox="1"/>
          <p:nvPr/>
        </p:nvSpPr>
        <p:spPr>
          <a:xfrm>
            <a:off x="1463040" y="1691640"/>
            <a:ext cx="868680" cy="274320"/>
          </a:xfrm>
          <a:prstGeom prst="rect">
            <a:avLst/>
          </a:prstGeom>
          <a:noFill/>
          <a:ln/>
        </p:spPr>
        <p:txBody>
          <a:bodyPr wrap="square" lIns="0" tIns="0" rIns="0" bIns="0" rtlCol="0" anchor="ctr"/>
          <a:lstStyle/>
          <a:p>
            <a:pPr algn="ctr" indent="0" marL="0">
              <a:buNone/>
            </a:pPr>
            <a:endParaRPr lang="en-US" sz="1000" dirty="0"/>
          </a:p>
        </p:txBody>
      </p:sp>
      <p:sp>
        <p:nvSpPr>
          <p:cNvPr id="7" name="Text 5"/>
          <p:cNvSpPr txBox="1"/>
          <p:nvPr/>
        </p:nvSpPr>
        <p:spPr>
          <a:xfrm>
            <a:off x="2468880" y="160020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Repaso del día 1 y dudas</a:t>
            </a:r>
            <a:endParaRPr lang="en-US" sz="1400" dirty="0"/>
          </a:p>
        </p:txBody>
      </p:sp>
      <p:sp>
        <p:nvSpPr>
          <p:cNvPr id="8" name="Shape 6"/>
          <p:cNvSpPr/>
          <p:nvPr/>
        </p:nvSpPr>
        <p:spPr>
          <a:xfrm>
            <a:off x="548640" y="2148840"/>
            <a:ext cx="11094415" cy="457200"/>
          </a:xfrm>
          <a:prstGeom prst="roundRect">
            <a:avLst>
              <a:gd name="adj" fmla="val 12000"/>
            </a:avLst>
          </a:prstGeom>
          <a:solidFill>
            <a:srgbClr val="FFFFFF"/>
          </a:solidFill>
          <a:ln w="12700">
            <a:solidFill>
              <a:srgbClr val="D5DDD9"/>
            </a:solidFill>
            <a:prstDash val="solid"/>
          </a:ln>
        </p:spPr>
      </p:sp>
      <p:sp>
        <p:nvSpPr>
          <p:cNvPr id="9" name="Text 7"/>
          <p:cNvSpPr txBox="1"/>
          <p:nvPr/>
        </p:nvSpPr>
        <p:spPr>
          <a:xfrm>
            <a:off x="685800"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0:10</a:t>
            </a:r>
            <a:endParaRPr lang="en-US" sz="1300" dirty="0"/>
          </a:p>
        </p:txBody>
      </p:sp>
      <p:sp>
        <p:nvSpPr>
          <p:cNvPr id="10" name="Shape 8"/>
          <p:cNvSpPr/>
          <p:nvPr/>
        </p:nvSpPr>
        <p:spPr>
          <a:xfrm>
            <a:off x="1463040" y="2240280"/>
            <a:ext cx="868680" cy="274320"/>
          </a:xfrm>
          <a:prstGeom prst="roundRect">
            <a:avLst>
              <a:gd name="adj" fmla="val 50000"/>
            </a:avLst>
          </a:prstGeom>
          <a:solidFill>
            <a:srgbClr val="1F7A4D"/>
          </a:solidFill>
          <a:ln w="12700">
            <a:solidFill>
              <a:srgbClr val="1F7A4D"/>
            </a:solidFill>
            <a:prstDash val="solid"/>
          </a:ln>
        </p:spPr>
      </p:sp>
      <p:sp>
        <p:nvSpPr>
          <p:cNvPr id="11" name="Text 9"/>
          <p:cNvSpPr txBox="1"/>
          <p:nvPr/>
        </p:nvSpPr>
        <p:spPr>
          <a:xfrm>
            <a:off x="1463040" y="22402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12" name="Text 10"/>
          <p:cNvSpPr txBox="1"/>
          <p:nvPr/>
        </p:nvSpPr>
        <p:spPr>
          <a:xfrm>
            <a:off x="2468880" y="214884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5 · Replicación: oplog, heartbeats y elecciones</a:t>
            </a:r>
            <a:endParaRPr lang="en-US" sz="1400" dirty="0"/>
          </a:p>
        </p:txBody>
      </p:sp>
      <p:sp>
        <p:nvSpPr>
          <p:cNvPr id="13" name="Shape 11"/>
          <p:cNvSpPr/>
          <p:nvPr/>
        </p:nvSpPr>
        <p:spPr>
          <a:xfrm>
            <a:off x="548640" y="2697480"/>
            <a:ext cx="11094415" cy="457200"/>
          </a:xfrm>
          <a:prstGeom prst="roundRect">
            <a:avLst>
              <a:gd name="adj" fmla="val 12000"/>
            </a:avLst>
          </a:prstGeom>
          <a:solidFill>
            <a:srgbClr val="F4F9F6"/>
          </a:solidFill>
          <a:ln w="12700">
            <a:solidFill>
              <a:srgbClr val="D5DDD9"/>
            </a:solidFill>
            <a:prstDash val="solid"/>
          </a:ln>
        </p:spPr>
      </p:sp>
      <p:sp>
        <p:nvSpPr>
          <p:cNvPr id="14" name="Text 12"/>
          <p:cNvSpPr txBox="1"/>
          <p:nvPr/>
        </p:nvSpPr>
        <p:spPr>
          <a:xfrm>
            <a:off x="685800"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0:55</a:t>
            </a:r>
            <a:endParaRPr lang="en-US" sz="1300" dirty="0"/>
          </a:p>
        </p:txBody>
      </p:sp>
      <p:sp>
        <p:nvSpPr>
          <p:cNvPr id="15" name="Shape 13"/>
          <p:cNvSpPr/>
          <p:nvPr/>
        </p:nvSpPr>
        <p:spPr>
          <a:xfrm>
            <a:off x="1463040" y="2788920"/>
            <a:ext cx="868680" cy="274320"/>
          </a:xfrm>
          <a:prstGeom prst="roundRect">
            <a:avLst>
              <a:gd name="adj" fmla="val 50000"/>
            </a:avLst>
          </a:prstGeom>
          <a:solidFill>
            <a:srgbClr val="F2B33D"/>
          </a:solidFill>
          <a:ln w="12700">
            <a:solidFill>
              <a:srgbClr val="F2B33D"/>
            </a:solidFill>
            <a:prstDash val="solid"/>
          </a:ln>
        </p:spPr>
      </p:sp>
      <p:sp>
        <p:nvSpPr>
          <p:cNvPr id="16" name="Text 14"/>
          <p:cNvSpPr txBox="1"/>
          <p:nvPr/>
        </p:nvSpPr>
        <p:spPr>
          <a:xfrm>
            <a:off x="1463040" y="278892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17" name="Text 15"/>
          <p:cNvSpPr txBox="1"/>
          <p:nvPr/>
        </p:nvSpPr>
        <p:spPr>
          <a:xfrm>
            <a:off x="2468880" y="269748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05 · Replica set de tres nodos con keyfile</a:t>
            </a:r>
            <a:endParaRPr lang="en-US" sz="1400" dirty="0"/>
          </a:p>
        </p:txBody>
      </p:sp>
      <p:sp>
        <p:nvSpPr>
          <p:cNvPr id="18" name="Shape 16"/>
          <p:cNvSpPr/>
          <p:nvPr/>
        </p:nvSpPr>
        <p:spPr>
          <a:xfrm>
            <a:off x="548640" y="3246120"/>
            <a:ext cx="11094415" cy="457200"/>
          </a:xfrm>
          <a:prstGeom prst="roundRect">
            <a:avLst>
              <a:gd name="adj" fmla="val 12000"/>
            </a:avLst>
          </a:prstGeom>
          <a:solidFill>
            <a:srgbClr val="FFFFFF"/>
          </a:solidFill>
          <a:ln w="12700">
            <a:solidFill>
              <a:srgbClr val="D5DDD9"/>
            </a:solidFill>
            <a:prstDash val="solid"/>
          </a:ln>
        </p:spPr>
      </p:sp>
      <p:sp>
        <p:nvSpPr>
          <p:cNvPr id="19" name="Text 17"/>
          <p:cNvSpPr txBox="1"/>
          <p:nvPr/>
        </p:nvSpPr>
        <p:spPr>
          <a:xfrm>
            <a:off x="685800"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1:35</a:t>
            </a:r>
            <a:endParaRPr lang="en-US" sz="1300" dirty="0"/>
          </a:p>
        </p:txBody>
      </p:sp>
      <p:sp>
        <p:nvSpPr>
          <p:cNvPr id="20" name="Shape 18"/>
          <p:cNvSpPr/>
          <p:nvPr/>
        </p:nvSpPr>
        <p:spPr>
          <a:xfrm>
            <a:off x="1463040" y="3337560"/>
            <a:ext cx="868680" cy="274320"/>
          </a:xfrm>
          <a:prstGeom prst="roundRect">
            <a:avLst>
              <a:gd name="adj" fmla="val 50000"/>
            </a:avLst>
          </a:prstGeom>
          <a:solidFill>
            <a:srgbClr val="1F7A4D"/>
          </a:solidFill>
          <a:ln w="12700">
            <a:solidFill>
              <a:srgbClr val="1F7A4D"/>
            </a:solidFill>
            <a:prstDash val="solid"/>
          </a:ln>
        </p:spPr>
      </p:sp>
      <p:sp>
        <p:nvSpPr>
          <p:cNvPr id="21" name="Text 19"/>
          <p:cNvSpPr txBox="1"/>
          <p:nvPr/>
        </p:nvSpPr>
        <p:spPr>
          <a:xfrm>
            <a:off x="1463040" y="333756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22" name="Text 20"/>
          <p:cNvSpPr txBox="1"/>
          <p:nvPr/>
        </p:nvSpPr>
        <p:spPr>
          <a:xfrm>
            <a:off x="2468880" y="324612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6 · Configuración, concerns, tags y prioridades</a:t>
            </a:r>
            <a:endParaRPr lang="en-US" sz="1400" dirty="0"/>
          </a:p>
        </p:txBody>
      </p:sp>
      <p:sp>
        <p:nvSpPr>
          <p:cNvPr id="23" name="Shape 21"/>
          <p:cNvSpPr/>
          <p:nvPr/>
        </p:nvSpPr>
        <p:spPr>
          <a:xfrm>
            <a:off x="548640" y="3794760"/>
            <a:ext cx="11094415" cy="457200"/>
          </a:xfrm>
          <a:prstGeom prst="roundRect">
            <a:avLst>
              <a:gd name="adj" fmla="val 12000"/>
            </a:avLst>
          </a:prstGeom>
          <a:solidFill>
            <a:srgbClr val="F4F9F6"/>
          </a:solidFill>
          <a:ln w="12700">
            <a:solidFill>
              <a:srgbClr val="D5DDD9"/>
            </a:solidFill>
            <a:prstDash val="solid"/>
          </a:ln>
        </p:spPr>
      </p:sp>
      <p:sp>
        <p:nvSpPr>
          <p:cNvPr id="24" name="Text 22"/>
          <p:cNvSpPr txBox="1"/>
          <p:nvPr/>
        </p:nvSpPr>
        <p:spPr>
          <a:xfrm>
            <a:off x="685800"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2:15</a:t>
            </a:r>
            <a:endParaRPr lang="en-US" sz="1300" dirty="0"/>
          </a:p>
        </p:txBody>
      </p:sp>
      <p:sp>
        <p:nvSpPr>
          <p:cNvPr id="25" name="Shape 23"/>
          <p:cNvSpPr/>
          <p:nvPr/>
        </p:nvSpPr>
        <p:spPr>
          <a:xfrm>
            <a:off x="1463040" y="3886200"/>
            <a:ext cx="868680" cy="274320"/>
          </a:xfrm>
          <a:prstGeom prst="roundRect">
            <a:avLst>
              <a:gd name="adj" fmla="val 50000"/>
            </a:avLst>
          </a:prstGeom>
          <a:solidFill>
            <a:srgbClr val="D5DDD9"/>
          </a:solidFill>
          <a:ln w="12700">
            <a:solidFill>
              <a:srgbClr val="D5DDD9"/>
            </a:solidFill>
            <a:prstDash val="solid"/>
          </a:ln>
        </p:spPr>
      </p:sp>
      <p:sp>
        <p:nvSpPr>
          <p:cNvPr id="26" name="Text 24"/>
          <p:cNvSpPr txBox="1"/>
          <p:nvPr/>
        </p:nvSpPr>
        <p:spPr>
          <a:xfrm>
            <a:off x="1463040" y="388620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PAUSA</a:t>
            </a:r>
            <a:endParaRPr lang="en-US" sz="1000" dirty="0"/>
          </a:p>
        </p:txBody>
      </p:sp>
      <p:sp>
        <p:nvSpPr>
          <p:cNvPr id="27" name="Text 25"/>
          <p:cNvSpPr txBox="1"/>
          <p:nvPr/>
        </p:nvSpPr>
        <p:spPr>
          <a:xfrm>
            <a:off x="2468880" y="379476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Descanso</a:t>
            </a:r>
            <a:endParaRPr lang="en-US" sz="1400" dirty="0"/>
          </a:p>
        </p:txBody>
      </p:sp>
      <p:sp>
        <p:nvSpPr>
          <p:cNvPr id="28" name="Shape 26"/>
          <p:cNvSpPr/>
          <p:nvPr/>
        </p:nvSpPr>
        <p:spPr>
          <a:xfrm>
            <a:off x="548640" y="4343400"/>
            <a:ext cx="11094415" cy="457200"/>
          </a:xfrm>
          <a:prstGeom prst="roundRect">
            <a:avLst>
              <a:gd name="adj" fmla="val 12000"/>
            </a:avLst>
          </a:prstGeom>
          <a:solidFill>
            <a:srgbClr val="FFFFFF"/>
          </a:solidFill>
          <a:ln w="12700">
            <a:solidFill>
              <a:srgbClr val="D5DDD9"/>
            </a:solidFill>
            <a:prstDash val="solid"/>
          </a:ln>
        </p:spPr>
      </p:sp>
      <p:sp>
        <p:nvSpPr>
          <p:cNvPr id="29" name="Text 27"/>
          <p:cNvSpPr txBox="1"/>
          <p:nvPr/>
        </p:nvSpPr>
        <p:spPr>
          <a:xfrm>
            <a:off x="685800" y="43434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2:30</a:t>
            </a:r>
            <a:endParaRPr lang="en-US" sz="1300" dirty="0"/>
          </a:p>
        </p:txBody>
      </p:sp>
      <p:sp>
        <p:nvSpPr>
          <p:cNvPr id="30" name="Shape 28"/>
          <p:cNvSpPr/>
          <p:nvPr/>
        </p:nvSpPr>
        <p:spPr>
          <a:xfrm>
            <a:off x="1463040" y="4434840"/>
            <a:ext cx="868680" cy="274320"/>
          </a:xfrm>
          <a:prstGeom prst="roundRect">
            <a:avLst>
              <a:gd name="adj" fmla="val 50000"/>
            </a:avLst>
          </a:prstGeom>
          <a:solidFill>
            <a:srgbClr val="F2B33D"/>
          </a:solidFill>
          <a:ln w="12700">
            <a:solidFill>
              <a:srgbClr val="F2B33D"/>
            </a:solidFill>
            <a:prstDash val="solid"/>
          </a:ln>
        </p:spPr>
      </p:sp>
      <p:sp>
        <p:nvSpPr>
          <p:cNvPr id="31" name="Text 29"/>
          <p:cNvSpPr txBox="1"/>
          <p:nvPr/>
        </p:nvSpPr>
        <p:spPr>
          <a:xfrm>
            <a:off x="1463040" y="443484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32" name="Text 30"/>
          <p:cNvSpPr txBox="1"/>
          <p:nvPr/>
        </p:nvSpPr>
        <p:spPr>
          <a:xfrm>
            <a:off x="2468880" y="434340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06 · Concerns, prioridades y tags</a:t>
            </a:r>
            <a:endParaRPr lang="en-US" sz="1400" dirty="0"/>
          </a:p>
        </p:txBody>
      </p:sp>
      <p:sp>
        <p:nvSpPr>
          <p:cNvPr id="33" name="Shape 31"/>
          <p:cNvSpPr/>
          <p:nvPr/>
        </p:nvSpPr>
        <p:spPr>
          <a:xfrm>
            <a:off x="548640" y="4892040"/>
            <a:ext cx="11094415" cy="457200"/>
          </a:xfrm>
          <a:prstGeom prst="roundRect">
            <a:avLst>
              <a:gd name="adj" fmla="val 12000"/>
            </a:avLst>
          </a:prstGeom>
          <a:solidFill>
            <a:srgbClr val="F4F9F6"/>
          </a:solidFill>
          <a:ln w="12700">
            <a:solidFill>
              <a:srgbClr val="D5DDD9"/>
            </a:solidFill>
            <a:prstDash val="solid"/>
          </a:ln>
        </p:spPr>
      </p:sp>
      <p:sp>
        <p:nvSpPr>
          <p:cNvPr id="34" name="Text 32"/>
          <p:cNvSpPr txBox="1"/>
          <p:nvPr/>
        </p:nvSpPr>
        <p:spPr>
          <a:xfrm>
            <a:off x="685800" y="48920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3:05</a:t>
            </a:r>
            <a:endParaRPr lang="en-US" sz="1300" dirty="0"/>
          </a:p>
        </p:txBody>
      </p:sp>
      <p:sp>
        <p:nvSpPr>
          <p:cNvPr id="35" name="Shape 33"/>
          <p:cNvSpPr/>
          <p:nvPr/>
        </p:nvSpPr>
        <p:spPr>
          <a:xfrm>
            <a:off x="1463040" y="4983480"/>
            <a:ext cx="868680" cy="274320"/>
          </a:xfrm>
          <a:prstGeom prst="roundRect">
            <a:avLst>
              <a:gd name="adj" fmla="val 50000"/>
            </a:avLst>
          </a:prstGeom>
          <a:solidFill>
            <a:srgbClr val="1F7A4D"/>
          </a:solidFill>
          <a:ln w="12700">
            <a:solidFill>
              <a:srgbClr val="1F7A4D"/>
            </a:solidFill>
            <a:prstDash val="solid"/>
          </a:ln>
        </p:spPr>
      </p:sp>
      <p:sp>
        <p:nvSpPr>
          <p:cNvPr id="36" name="Text 34"/>
          <p:cNvSpPr txBox="1"/>
          <p:nvPr/>
        </p:nvSpPr>
        <p:spPr>
          <a:xfrm>
            <a:off x="1463040" y="49834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37" name="Text 35"/>
          <p:cNvSpPr txBox="1"/>
          <p:nvPr/>
        </p:nvSpPr>
        <p:spPr>
          <a:xfrm>
            <a:off x="2468880" y="489204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7 · Alta disponibilidad en la práctica</a:t>
            </a:r>
            <a:endParaRPr lang="en-US" sz="1400" dirty="0"/>
          </a:p>
        </p:txBody>
      </p:sp>
      <p:sp>
        <p:nvSpPr>
          <p:cNvPr id="38" name="Shape 36"/>
          <p:cNvSpPr/>
          <p:nvPr/>
        </p:nvSpPr>
        <p:spPr>
          <a:xfrm>
            <a:off x="548640" y="5440680"/>
            <a:ext cx="11094415" cy="457200"/>
          </a:xfrm>
          <a:prstGeom prst="roundRect">
            <a:avLst>
              <a:gd name="adj" fmla="val 12000"/>
            </a:avLst>
          </a:prstGeom>
          <a:solidFill>
            <a:srgbClr val="FFFFFF"/>
          </a:solidFill>
          <a:ln w="12700">
            <a:solidFill>
              <a:srgbClr val="D5DDD9"/>
            </a:solidFill>
            <a:prstDash val="solid"/>
          </a:ln>
        </p:spPr>
      </p:sp>
      <p:sp>
        <p:nvSpPr>
          <p:cNvPr id="39" name="Text 37"/>
          <p:cNvSpPr txBox="1"/>
          <p:nvPr/>
        </p:nvSpPr>
        <p:spPr>
          <a:xfrm>
            <a:off x="685800" y="54406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3:35</a:t>
            </a:r>
            <a:endParaRPr lang="en-US" sz="1300" dirty="0"/>
          </a:p>
        </p:txBody>
      </p:sp>
      <p:sp>
        <p:nvSpPr>
          <p:cNvPr id="40" name="Shape 38"/>
          <p:cNvSpPr/>
          <p:nvPr/>
        </p:nvSpPr>
        <p:spPr>
          <a:xfrm>
            <a:off x="1463040" y="5532120"/>
            <a:ext cx="868680" cy="274320"/>
          </a:xfrm>
          <a:prstGeom prst="roundRect">
            <a:avLst>
              <a:gd name="adj" fmla="val 50000"/>
            </a:avLst>
          </a:prstGeom>
          <a:solidFill>
            <a:srgbClr val="F2B33D"/>
          </a:solidFill>
          <a:ln w="12700">
            <a:solidFill>
              <a:srgbClr val="F2B33D"/>
            </a:solidFill>
            <a:prstDash val="solid"/>
          </a:ln>
        </p:spPr>
      </p:sp>
      <p:sp>
        <p:nvSpPr>
          <p:cNvPr id="41" name="Text 39"/>
          <p:cNvSpPr txBox="1"/>
          <p:nvPr/>
        </p:nvSpPr>
        <p:spPr>
          <a:xfrm>
            <a:off x="1463040" y="553212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42" name="Text 40"/>
          <p:cNvSpPr txBox="1"/>
          <p:nvPr/>
        </p:nvSpPr>
        <p:spPr>
          <a:xfrm>
            <a:off x="2468880" y="5440680"/>
            <a:ext cx="9037015"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07 · Failover, mantenimiento rolling y geodistribución</a:t>
            </a:r>
            <a:endParaRPr lang="en-US" sz="1400" dirty="0"/>
          </a:p>
        </p:txBody>
      </p:sp>
      <p:sp>
        <p:nvSpPr>
          <p:cNvPr id="43" name="Text 4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44" name="Text 4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 / 34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Repaso del día 1</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En producción, el mínimo es un </a:t>
            </a:r>
            <a:r>
              <a:rPr lang="en-US" sz="2000" b="1" dirty="0">
                <a:solidFill>
                  <a:srgbClr val="1C2B27"/>
                </a:solidFill>
                <a:latin typeface="Calibri" pitchFamily="34" charset="0"/>
                <a:ea typeface="Calibri" pitchFamily="34" charset="-122"/>
                <a:cs typeface="Calibri" pitchFamily="34" charset="-120"/>
              </a:rPr>
              <a:t>replica set</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Actualizaciones de versión mayor de una en una y en dos fases: </a:t>
            </a:r>
            <a:r>
              <a:rPr lang="en-US" sz="2000" b="1" dirty="0">
                <a:solidFill>
                  <a:srgbClr val="1C2B27"/>
                </a:solidFill>
                <a:latin typeface="Calibri" pitchFamily="34" charset="0"/>
                <a:ea typeface="Calibri" pitchFamily="34" charset="-122"/>
                <a:cs typeface="Calibri" pitchFamily="34" charset="-120"/>
              </a:rPr>
              <a:t>binarios y después FCV</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Caché de WiredTiger por defecto: </a:t>
            </a:r>
            <a:r>
              <a:rPr lang="en-US" sz="2000" b="1" dirty="0">
                <a:solidFill>
                  <a:srgbClr val="1C2B27"/>
                </a:solidFill>
                <a:latin typeface="Calibri" pitchFamily="34" charset="0"/>
                <a:ea typeface="Calibri" pitchFamily="34" charset="-122"/>
                <a:cs typeface="Calibri" pitchFamily="34" charset="-120"/>
              </a:rPr>
              <a:t>50 % de (RAM − 1 GB)</a:t>
            </a:r>
            <a:r>
              <a:rPr lang="en-US" sz="2000" dirty="0">
                <a:solidFill>
                  <a:srgbClr val="1C2B27"/>
                </a:solidFill>
                <a:latin typeface="Calibri" pitchFamily="34" charset="0"/>
                <a:ea typeface="Calibri" pitchFamily="34" charset="-122"/>
                <a:cs typeface="Calibri" pitchFamily="34" charset="-120"/>
              </a:rPr>
              <a:t>; en contenedores, fijarla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Datos en </a:t>
            </a:r>
            <a:r>
              <a:rPr lang="en-US" sz="2000" b="1" dirty="0">
                <a:solidFill>
                  <a:srgbClr val="1C2B27"/>
                </a:solidFill>
                <a:latin typeface="Calibri" pitchFamily="34" charset="0"/>
                <a:ea typeface="Calibri" pitchFamily="34" charset="-122"/>
                <a:cs typeface="Calibri" pitchFamily="34" charset="-120"/>
              </a:rPr>
              <a:t>XFS</a:t>
            </a:r>
            <a:r>
              <a:rPr lang="en-US" sz="2000" dirty="0">
                <a:solidFill>
                  <a:srgbClr val="1C2B27"/>
                </a:solidFill>
                <a:latin typeface="Calibri" pitchFamily="34" charset="0"/>
                <a:ea typeface="Calibri" pitchFamily="34" charset="-122"/>
                <a:cs typeface="Calibri" pitchFamily="34" charset="-120"/>
              </a:rPr>
              <a:t> con noatime, discos SSD, readahead bajo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THP: </a:t>
            </a:r>
            <a:r>
              <a:rPr lang="en-US" sz="2000" b="1" dirty="0">
                <a:solidFill>
                  <a:srgbClr val="1C2B27"/>
                </a:solidFill>
                <a:latin typeface="Calibri" pitchFamily="34" charset="0"/>
                <a:ea typeface="Calibri" pitchFamily="34" charset="-122"/>
                <a:cs typeface="Calibri" pitchFamily="34" charset="-120"/>
              </a:rPr>
              <a:t>habilitar en 8.0</a:t>
            </a:r>
            <a:r>
              <a:rPr lang="en-US" sz="2000" dirty="0">
                <a:solidFill>
                  <a:srgbClr val="1C2B27"/>
                </a:solidFill>
                <a:latin typeface="Calibri" pitchFamily="34" charset="0"/>
                <a:ea typeface="Calibri" pitchFamily="34" charset="-122"/>
                <a:cs typeface="Calibri" pitchFamily="34" charset="-120"/>
              </a:rPr>
              <a:t>, deshabilitar en 7.0 y anteriores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Autorización activada siempre; primer usuario con la </a:t>
            </a:r>
            <a:r>
              <a:rPr lang="en-US" sz="2000" b="1" dirty="0">
                <a:solidFill>
                  <a:srgbClr val="1C2B27"/>
                </a:solidFill>
                <a:latin typeface="Calibri" pitchFamily="34" charset="0"/>
                <a:ea typeface="Calibri" pitchFamily="34" charset="-122"/>
                <a:cs typeface="Calibri" pitchFamily="34" charset="-120"/>
              </a:rPr>
              <a:t>localhost exception</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Pregunta rápida</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Actualizáis un nodo de 7.0 a 8.0 y la aplicación empieza a fallar una hora después. Todavía no habéis tocado la FCV. ¿Qué hacéis?</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 / 34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5</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Replicación</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Cómo se copian los datos y cómo se elige quién manda</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Para qué replicar</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Anatomía de un replica set</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 oplog</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Heartbeats</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Elecciones y mayorías</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Árbitros y tipos de miembros</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4 / 34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¿Para qué replicar?</a:t>
            </a:r>
            <a:endParaRPr lang="en-US" sz="3200" dirty="0"/>
          </a:p>
        </p:txBody>
      </p:sp>
      <p:sp>
        <p:nvSpPr>
          <p:cNvPr id="3" name="Shape 1"/>
          <p:cNvSpPr/>
          <p:nvPr/>
        </p:nvSpPr>
        <p:spPr>
          <a:xfrm>
            <a:off x="548640"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F2B33D"/>
          </a:solidFill>
          <a:ln w="12700">
            <a:solidFill>
              <a:srgbClr val="F2B33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Alta disponibilidad</a:t>
            </a:r>
            <a:endParaRPr lang="en-US" sz="1800" dirty="0"/>
          </a:p>
        </p:txBody>
      </p:sp>
      <p:sp>
        <p:nvSpPr>
          <p:cNvPr id="7" name="Text 5"/>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Si cae el primario, otro nodo toma el relevo automáticamente en segundos.</a:t>
            </a:r>
            <a:endParaRPr lang="en-US" sz="1600" dirty="0"/>
          </a:p>
        </p:txBody>
      </p:sp>
      <p:sp>
        <p:nvSpPr>
          <p:cNvPr id="8" name="Shape 6"/>
          <p:cNvSpPr/>
          <p:nvPr/>
        </p:nvSpPr>
        <p:spPr>
          <a:xfrm>
            <a:off x="4338218"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Durabilidad</a:t>
            </a:r>
            <a:endParaRPr lang="en-US" sz="1800" dirty="0"/>
          </a:p>
        </p:txBody>
      </p:sp>
      <p:sp>
        <p:nvSpPr>
          <p:cNvPr id="12" name="Text 10"/>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Una escritura confirmada por mayoría sobrevive a la pérdida de cualquier nodo.</a:t>
            </a:r>
            <a:endParaRPr lang="en-US" sz="1600" dirty="0"/>
          </a:p>
        </p:txBody>
      </p:sp>
      <p:sp>
        <p:nvSpPr>
          <p:cNvPr id="13" name="Shape 11"/>
          <p:cNvSpPr/>
          <p:nvPr/>
        </p:nvSpPr>
        <p:spPr>
          <a:xfrm>
            <a:off x="8127797"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1F7A4D"/>
          </a:solidFill>
          <a:ln w="12700">
            <a:solidFill>
              <a:srgbClr val="1F7A4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Mantenimiento sin parada</a:t>
            </a:r>
            <a:endParaRPr lang="en-US" sz="1800" dirty="0"/>
          </a:p>
        </p:txBody>
      </p:sp>
      <p:sp>
        <p:nvSpPr>
          <p:cNvPr id="17" name="Text 15"/>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Parcheo, actualizaciones y cambios de hardware nodo a nodo, sin cortar el servicio.</a:t>
            </a:r>
            <a:endParaRPr lang="en-US" sz="1600" dirty="0"/>
          </a:p>
        </p:txBody>
      </p:sp>
      <p:sp>
        <p:nvSpPr>
          <p:cNvPr id="18" name="Shape 16"/>
          <p:cNvSpPr/>
          <p:nvPr/>
        </p:nvSpPr>
        <p:spPr>
          <a:xfrm>
            <a:off x="548640"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77240"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417320"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Escalado de lecturas</a:t>
            </a:r>
            <a:endParaRPr lang="en-US" sz="1800" dirty="0"/>
          </a:p>
        </p:txBody>
      </p:sp>
      <p:sp>
        <p:nvSpPr>
          <p:cNvPr id="22" name="Text 20"/>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Informes, analítica o lecturas tolerantes a datos algo antiguos, dirigidas a secundarios.</a:t>
            </a:r>
            <a:endParaRPr lang="en-US" sz="1600" dirty="0"/>
          </a:p>
        </p:txBody>
      </p:sp>
      <p:sp>
        <p:nvSpPr>
          <p:cNvPr id="23" name="Shape 21"/>
          <p:cNvSpPr/>
          <p:nvPr/>
        </p:nvSpPr>
        <p:spPr>
          <a:xfrm>
            <a:off x="4338218"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4206240"/>
            <a:ext cx="502920" cy="502920"/>
          </a:xfrm>
          <a:prstGeom prst="ellipse">
            <a:avLst/>
          </a:prstGeom>
          <a:solidFill>
            <a:srgbClr val="1F7A4D"/>
          </a:solidFill>
          <a:ln w="12700">
            <a:solidFill>
              <a:srgbClr val="1F7A4D"/>
            </a:solidFill>
            <a:prstDash val="solid"/>
          </a:ln>
        </p:spPr>
      </p:sp>
      <p:sp>
        <p:nvSpPr>
          <p:cNvPr id="25" name="Text 23"/>
          <p:cNvSpPr txBox="1"/>
          <p:nvPr/>
        </p:nvSpPr>
        <p:spPr>
          <a:xfrm>
            <a:off x="456681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6" name="Text 24"/>
          <p:cNvSpPr txBox="1"/>
          <p:nvPr/>
        </p:nvSpPr>
        <p:spPr>
          <a:xfrm>
            <a:off x="5206898"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Backups sin impacto</a:t>
            </a:r>
            <a:endParaRPr lang="en-US" sz="1800" dirty="0"/>
          </a:p>
        </p:txBody>
      </p:sp>
      <p:sp>
        <p:nvSpPr>
          <p:cNvPr id="27" name="Text 25"/>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Copias desde un secundario, sin cargar al primario que atiende la aplicación.</a:t>
            </a:r>
            <a:endParaRPr lang="en-US" sz="1600" dirty="0"/>
          </a:p>
        </p:txBody>
      </p:sp>
      <p:sp>
        <p:nvSpPr>
          <p:cNvPr id="28" name="Shape 26"/>
          <p:cNvSpPr/>
          <p:nvPr/>
        </p:nvSpPr>
        <p:spPr>
          <a:xfrm>
            <a:off x="8127797"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8356397" y="4206240"/>
            <a:ext cx="502920" cy="502920"/>
          </a:xfrm>
          <a:prstGeom prst="ellipse">
            <a:avLst/>
          </a:prstGeom>
          <a:solidFill>
            <a:srgbClr val="F2B33D"/>
          </a:solidFill>
          <a:ln w="12700">
            <a:solidFill>
              <a:srgbClr val="F2B33D"/>
            </a:solidFill>
            <a:prstDash val="solid"/>
          </a:ln>
        </p:spPr>
      </p:sp>
      <p:sp>
        <p:nvSpPr>
          <p:cNvPr id="30" name="Text 28"/>
          <p:cNvSpPr txBox="1"/>
          <p:nvPr/>
        </p:nvSpPr>
        <p:spPr>
          <a:xfrm>
            <a:off x="8356397" y="420624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a:t>
            </a:r>
            <a:endParaRPr lang="en-US" sz="1500" dirty="0"/>
          </a:p>
        </p:txBody>
      </p:sp>
      <p:sp>
        <p:nvSpPr>
          <p:cNvPr id="31" name="Text 29"/>
          <p:cNvSpPr txBox="1"/>
          <p:nvPr/>
        </p:nvSpPr>
        <p:spPr>
          <a:xfrm>
            <a:off x="8996477"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Lo que NO es</a:t>
            </a:r>
            <a:endParaRPr lang="en-US" sz="1800" dirty="0"/>
          </a:p>
        </p:txBody>
      </p:sp>
      <p:sp>
        <p:nvSpPr>
          <p:cNvPr id="32" name="Text 30"/>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Un backup. Un borrado accidental se replica en milisegundos a todos los nodos.</a:t>
            </a:r>
            <a:endParaRPr lang="en-US" sz="1600" dirty="0"/>
          </a:p>
        </p:txBody>
      </p:sp>
      <p:sp>
        <p:nvSpPr>
          <p:cNvPr id="33"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34" name="Text 3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5 / 34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Anatomía de un replica set</a:t>
            </a:r>
            <a:endParaRPr lang="en-US" sz="3200" dirty="0"/>
          </a:p>
        </p:txBody>
      </p:sp>
      <p:sp>
        <p:nvSpPr>
          <p:cNvPr id="3" name="Shape 1"/>
          <p:cNvSpPr/>
          <p:nvPr/>
        </p:nvSpPr>
        <p:spPr>
          <a:xfrm>
            <a:off x="548640" y="1508760"/>
            <a:ext cx="6675120" cy="4617720"/>
          </a:xfrm>
          <a:prstGeom prst="roundRect">
            <a:avLst>
              <a:gd name="adj" fmla="val 2376"/>
            </a:avLst>
          </a:prstGeom>
          <a:solidFill>
            <a:srgbClr val="F4F9F6"/>
          </a:solidFill>
          <a:ln w="12700">
            <a:solidFill>
              <a:srgbClr val="D5DDD9"/>
            </a:solidFill>
            <a:prstDash val="solid"/>
          </a:ln>
        </p:spPr>
      </p:sp>
      <p:sp>
        <p:nvSpPr>
          <p:cNvPr id="4" name="Shape 2"/>
          <p:cNvSpPr/>
          <p:nvPr/>
        </p:nvSpPr>
        <p:spPr>
          <a:xfrm flipH="1">
            <a:off x="1965960" y="2514600"/>
            <a:ext cx="1920240" cy="1874520"/>
          </a:xfrm>
          <a:prstGeom prst="line">
            <a:avLst/>
          </a:prstGeom>
          <a:noFill/>
          <a:ln w="25400">
            <a:solidFill>
              <a:srgbClr val="2E9E66"/>
            </a:solidFill>
            <a:prstDash val="dash"/>
          </a:ln>
        </p:spPr>
      </p:sp>
      <p:sp>
        <p:nvSpPr>
          <p:cNvPr id="5" name="Shape 3"/>
          <p:cNvSpPr/>
          <p:nvPr/>
        </p:nvSpPr>
        <p:spPr>
          <a:xfrm>
            <a:off x="3886200" y="2514600"/>
            <a:ext cx="1920240" cy="1874520"/>
          </a:xfrm>
          <a:prstGeom prst="line">
            <a:avLst/>
          </a:prstGeom>
          <a:noFill/>
          <a:ln w="25400">
            <a:solidFill>
              <a:srgbClr val="2E9E66"/>
            </a:solidFill>
            <a:prstDash val="dash"/>
          </a:ln>
        </p:spPr>
      </p:sp>
      <p:sp>
        <p:nvSpPr>
          <p:cNvPr id="6" name="Shape 4"/>
          <p:cNvSpPr/>
          <p:nvPr/>
        </p:nvSpPr>
        <p:spPr>
          <a:xfrm>
            <a:off x="3291840" y="1920240"/>
            <a:ext cx="1188720" cy="1188720"/>
          </a:xfrm>
          <a:prstGeom prst="ellipse">
            <a:avLst/>
          </a:prstGeom>
          <a:solidFill>
            <a:srgbClr val="F2B33D"/>
          </a:solidFill>
          <a:ln w="12700">
            <a:solidFill>
              <a:srgbClr val="F2B33D"/>
            </a:solidFill>
            <a:prstDash val="solid"/>
          </a:ln>
        </p:spPr>
      </p:sp>
      <p:sp>
        <p:nvSpPr>
          <p:cNvPr id="7" name="Text 5"/>
          <p:cNvSpPr txBox="1"/>
          <p:nvPr/>
        </p:nvSpPr>
        <p:spPr>
          <a:xfrm>
            <a:off x="3291840" y="1920240"/>
            <a:ext cx="1188720" cy="1188720"/>
          </a:xfrm>
          <a:prstGeom prst="rect">
            <a:avLst/>
          </a:prstGeom>
          <a:noFill/>
          <a:ln/>
        </p:spPr>
        <p:txBody>
          <a:bodyPr wrap="square" lIns="0" tIns="0" rIns="0" bIns="0" rtlCol="0" anchor="ctr"/>
          <a:lstStyle/>
          <a:p>
            <a:pPr algn="ctr" indent="0" marL="0">
              <a:buNone/>
            </a:pPr>
            <a:r>
              <a:rPr lang="en-US" sz="1500" b="1" dirty="0">
                <a:solidFill>
                  <a:srgbClr val="0F2A25"/>
                </a:solidFill>
                <a:latin typeface="Calibri" pitchFamily="34" charset="0"/>
                <a:ea typeface="Calibri" pitchFamily="34" charset="-122"/>
                <a:cs typeface="Calibri" pitchFamily="34" charset="-120"/>
              </a:rPr>
              <a:t>mongo1</a:t>
            </a:r>
            <a:endParaRPr lang="en-US" sz="1500" dirty="0"/>
          </a:p>
        </p:txBody>
      </p:sp>
      <p:sp>
        <p:nvSpPr>
          <p:cNvPr id="8" name="Text 6"/>
          <p:cNvSpPr txBox="1"/>
          <p:nvPr/>
        </p:nvSpPr>
        <p:spPr>
          <a:xfrm>
            <a:off x="2743200" y="315468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PRIMARY</a:t>
            </a:r>
            <a:endParaRPr lang="en-US" sz="1100" dirty="0"/>
          </a:p>
        </p:txBody>
      </p:sp>
      <p:sp>
        <p:nvSpPr>
          <p:cNvPr id="9" name="Text 7"/>
          <p:cNvSpPr txBox="1"/>
          <p:nvPr/>
        </p:nvSpPr>
        <p:spPr>
          <a:xfrm>
            <a:off x="2560320" y="341071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Recibe todas las escrituras</a:t>
            </a:r>
            <a:endParaRPr lang="en-US" sz="1100" dirty="0"/>
          </a:p>
        </p:txBody>
      </p:sp>
      <p:sp>
        <p:nvSpPr>
          <p:cNvPr id="10" name="Shape 8"/>
          <p:cNvSpPr/>
          <p:nvPr/>
        </p:nvSpPr>
        <p:spPr>
          <a:xfrm>
            <a:off x="1371600" y="3794760"/>
            <a:ext cx="1188720" cy="1188720"/>
          </a:xfrm>
          <a:prstGeom prst="ellipse">
            <a:avLst/>
          </a:prstGeom>
          <a:solidFill>
            <a:srgbClr val="1F7A4D"/>
          </a:solidFill>
          <a:ln w="12700">
            <a:solidFill>
              <a:srgbClr val="1F7A4D"/>
            </a:solidFill>
            <a:prstDash val="solid"/>
          </a:ln>
        </p:spPr>
      </p:sp>
      <p:sp>
        <p:nvSpPr>
          <p:cNvPr id="11" name="Text 9"/>
          <p:cNvSpPr txBox="1"/>
          <p:nvPr/>
        </p:nvSpPr>
        <p:spPr>
          <a:xfrm>
            <a:off x="1371600" y="379476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mongo2</a:t>
            </a:r>
            <a:endParaRPr lang="en-US" sz="1500" dirty="0"/>
          </a:p>
        </p:txBody>
      </p:sp>
      <p:sp>
        <p:nvSpPr>
          <p:cNvPr id="12" name="Text 10"/>
          <p:cNvSpPr txBox="1"/>
          <p:nvPr/>
        </p:nvSpPr>
        <p:spPr>
          <a:xfrm>
            <a:off x="822960" y="50292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SECONDARY</a:t>
            </a:r>
            <a:endParaRPr lang="en-US" sz="1100" dirty="0"/>
          </a:p>
        </p:txBody>
      </p:sp>
      <p:sp>
        <p:nvSpPr>
          <p:cNvPr id="13" name="Text 11"/>
          <p:cNvSpPr txBox="1"/>
          <p:nvPr/>
        </p:nvSpPr>
        <p:spPr>
          <a:xfrm>
            <a:off x="640080" y="528523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Replica el oplog del primario</a:t>
            </a:r>
            <a:endParaRPr lang="en-US" sz="1100" dirty="0"/>
          </a:p>
        </p:txBody>
      </p:sp>
      <p:sp>
        <p:nvSpPr>
          <p:cNvPr id="14" name="Shape 12"/>
          <p:cNvSpPr/>
          <p:nvPr/>
        </p:nvSpPr>
        <p:spPr>
          <a:xfrm>
            <a:off x="5212080" y="3794760"/>
            <a:ext cx="1188720" cy="1188720"/>
          </a:xfrm>
          <a:prstGeom prst="ellipse">
            <a:avLst/>
          </a:prstGeom>
          <a:solidFill>
            <a:srgbClr val="1F7A4D"/>
          </a:solidFill>
          <a:ln w="12700">
            <a:solidFill>
              <a:srgbClr val="1F7A4D"/>
            </a:solidFill>
            <a:prstDash val="solid"/>
          </a:ln>
        </p:spPr>
      </p:sp>
      <p:sp>
        <p:nvSpPr>
          <p:cNvPr id="15" name="Text 13"/>
          <p:cNvSpPr txBox="1"/>
          <p:nvPr/>
        </p:nvSpPr>
        <p:spPr>
          <a:xfrm>
            <a:off x="5212080" y="379476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mongo3</a:t>
            </a:r>
            <a:endParaRPr lang="en-US" sz="1500" dirty="0"/>
          </a:p>
        </p:txBody>
      </p:sp>
      <p:sp>
        <p:nvSpPr>
          <p:cNvPr id="16" name="Text 14"/>
          <p:cNvSpPr txBox="1"/>
          <p:nvPr/>
        </p:nvSpPr>
        <p:spPr>
          <a:xfrm>
            <a:off x="4663440" y="50292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SECONDARY</a:t>
            </a:r>
            <a:endParaRPr lang="en-US" sz="1100" dirty="0"/>
          </a:p>
        </p:txBody>
      </p:sp>
      <p:sp>
        <p:nvSpPr>
          <p:cNvPr id="17" name="Text 15"/>
          <p:cNvSpPr txBox="1"/>
          <p:nvPr/>
        </p:nvSpPr>
        <p:spPr>
          <a:xfrm>
            <a:off x="4480560" y="528523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Replica el oplog del primario</a:t>
            </a:r>
            <a:endParaRPr lang="en-US" sz="1100" dirty="0"/>
          </a:p>
        </p:txBody>
      </p:sp>
      <p:sp>
        <p:nvSpPr>
          <p:cNvPr id="18" name="Text 16"/>
          <p:cNvSpPr txBox="1"/>
          <p:nvPr/>
        </p:nvSpPr>
        <p:spPr>
          <a:xfrm>
            <a:off x="731520" y="5715000"/>
            <a:ext cx="6309360" cy="320040"/>
          </a:xfrm>
          <a:prstGeom prst="rect">
            <a:avLst/>
          </a:prstGeom>
          <a:noFill/>
          <a:ln/>
        </p:spPr>
        <p:txBody>
          <a:bodyPr wrap="square" lIns="0" tIns="0" rIns="0" bIns="0" rtlCol="0" anchor="ctr"/>
          <a:lstStyle/>
          <a:p>
            <a:pPr algn="ctr" indent="0" marL="0">
              <a:buNone/>
            </a:pPr>
            <a:r>
              <a:rPr lang="en-US" sz="1200" i="1" dirty="0">
                <a:solidFill>
                  <a:srgbClr val="5B6B66"/>
                </a:solidFill>
                <a:latin typeface="Calibri" pitchFamily="34" charset="0"/>
                <a:ea typeface="Calibri" pitchFamily="34" charset="-122"/>
                <a:cs typeface="Calibri" pitchFamily="34" charset="-120"/>
              </a:rPr>
              <a:t>Los secundarios leen el oplog del primario (o de otro secundario) y aplican las operaciones</a:t>
            </a:r>
            <a:endParaRPr lang="en-US" sz="1200" dirty="0"/>
          </a:p>
        </p:txBody>
      </p:sp>
      <p:sp>
        <p:nvSpPr>
          <p:cNvPr id="19" name="Text 17"/>
          <p:cNvSpPr txBox="1"/>
          <p:nvPr/>
        </p:nvSpPr>
        <p:spPr>
          <a:xfrm>
            <a:off x="7589520" y="1508760"/>
            <a:ext cx="4053535" cy="4617720"/>
          </a:xfrm>
          <a:prstGeom prst="rect">
            <a:avLst/>
          </a:prstGeom>
          <a:noFill/>
          <a:ln/>
        </p:spPr>
        <p:txBody>
          <a:bodyPr wrap="square" lIns="0" tIns="0" rIns="0" bIns="0" rtlCol="0" anchor="t"/>
          <a:lstStyle/>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Un </a:t>
            </a:r>
            <a:r>
              <a:rPr lang="en-US" sz="1600" b="1" dirty="0">
                <a:solidFill>
                  <a:srgbClr val="1C2B27"/>
                </a:solidFill>
                <a:latin typeface="Calibri" pitchFamily="34" charset="0"/>
                <a:ea typeface="Calibri" pitchFamily="34" charset="-122"/>
                <a:cs typeface="Calibri" pitchFamily="34" charset="-120"/>
              </a:rPr>
              <a:t>primario</a:t>
            </a:r>
            <a:r>
              <a:rPr lang="en-US" sz="1600" dirty="0">
                <a:solidFill>
                  <a:srgbClr val="1C2B27"/>
                </a:solidFill>
                <a:latin typeface="Calibri" pitchFamily="34" charset="0"/>
                <a:ea typeface="Calibri" pitchFamily="34" charset="-122"/>
                <a:cs typeface="Calibri" pitchFamily="34" charset="-120"/>
              </a:rPr>
              <a:t>: único nodo que acepta escrituras</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Uno o varios </a:t>
            </a:r>
            <a:r>
              <a:rPr lang="en-US" sz="1600" b="1" dirty="0">
                <a:solidFill>
                  <a:srgbClr val="1C2B27"/>
                </a:solidFill>
                <a:latin typeface="Calibri" pitchFamily="34" charset="0"/>
                <a:ea typeface="Calibri" pitchFamily="34" charset="-122"/>
                <a:cs typeface="Calibri" pitchFamily="34" charset="-120"/>
              </a:rPr>
              <a:t>secundarios</a:t>
            </a:r>
            <a:r>
              <a:rPr lang="en-US" sz="1600" dirty="0">
                <a:solidFill>
                  <a:srgbClr val="1C2B27"/>
                </a:solidFill>
                <a:latin typeface="Calibri" pitchFamily="34" charset="0"/>
                <a:ea typeface="Calibri" pitchFamily="34" charset="-122"/>
                <a:cs typeface="Calibri" pitchFamily="34" charset="-120"/>
              </a:rPr>
              <a:t>: copias completas de los datos</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Hasta </a:t>
            </a:r>
            <a:r>
              <a:rPr lang="en-US" sz="1600" b="1" dirty="0">
                <a:solidFill>
                  <a:srgbClr val="1C2B27"/>
                </a:solidFill>
                <a:latin typeface="Calibri" pitchFamily="34" charset="0"/>
                <a:ea typeface="Calibri" pitchFamily="34" charset="-122"/>
                <a:cs typeface="Calibri" pitchFamily="34" charset="-120"/>
              </a:rPr>
              <a:t>50 miembros</a:t>
            </a:r>
            <a:r>
              <a:rPr lang="en-US" sz="1600" dirty="0">
                <a:solidFill>
                  <a:srgbClr val="1C2B27"/>
                </a:solidFill>
                <a:latin typeface="Calibri" pitchFamily="34" charset="0"/>
                <a:ea typeface="Calibri" pitchFamily="34" charset="-122"/>
                <a:cs typeface="Calibri" pitchFamily="34" charset="-120"/>
              </a:rPr>
              <a:t>, de los que como máximo </a:t>
            </a:r>
            <a:r>
              <a:rPr lang="en-US" sz="1600" b="1" dirty="0">
                <a:solidFill>
                  <a:srgbClr val="1C2B27"/>
                </a:solidFill>
                <a:latin typeface="Calibri" pitchFamily="34" charset="0"/>
                <a:ea typeface="Calibri" pitchFamily="34" charset="-122"/>
                <a:cs typeface="Calibri" pitchFamily="34" charset="-120"/>
              </a:rPr>
              <a:t>7 votan</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Número </a:t>
            </a:r>
            <a:r>
              <a:rPr lang="en-US" sz="1600" b="1" dirty="0">
                <a:solidFill>
                  <a:srgbClr val="1C2B27"/>
                </a:solidFill>
                <a:latin typeface="Calibri" pitchFamily="34" charset="0"/>
                <a:ea typeface="Calibri" pitchFamily="34" charset="-122"/>
                <a:cs typeface="Calibri" pitchFamily="34" charset="-120"/>
              </a:rPr>
              <a:t>impar</a:t>
            </a:r>
            <a:r>
              <a:rPr lang="en-US" sz="1600" dirty="0">
                <a:solidFill>
                  <a:srgbClr val="1C2B27"/>
                </a:solidFill>
                <a:latin typeface="Calibri" pitchFamily="34" charset="0"/>
                <a:ea typeface="Calibri" pitchFamily="34" charset="-122"/>
                <a:cs typeface="Calibri" pitchFamily="34" charset="-120"/>
              </a:rPr>
              <a:t> de votos para garantizar mayorías</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Los clientes se conectan al </a:t>
            </a:r>
            <a:r>
              <a:rPr lang="en-US" sz="1600" b="1" dirty="0">
                <a:solidFill>
                  <a:srgbClr val="1C2B27"/>
                </a:solidFill>
                <a:latin typeface="Calibri" pitchFamily="34" charset="0"/>
                <a:ea typeface="Calibri" pitchFamily="34" charset="-122"/>
                <a:cs typeface="Calibri" pitchFamily="34" charset="-120"/>
              </a:rPr>
              <a:t>conjunto</a:t>
            </a:r>
            <a:r>
              <a:rPr lang="en-US" sz="1600" dirty="0">
                <a:solidFill>
                  <a:srgbClr val="1C2B27"/>
                </a:solidFill>
                <a:latin typeface="Calibri" pitchFamily="34" charset="0"/>
                <a:ea typeface="Calibri" pitchFamily="34" charset="-122"/>
                <a:cs typeface="Calibri" pitchFamily="34" charset="-120"/>
              </a:rPr>
              <a:t>, no a un nodo</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Si el primario cae, los secundarios </a:t>
            </a:r>
            <a:r>
              <a:rPr lang="en-US" sz="1600" b="1" dirty="0">
                <a:solidFill>
                  <a:srgbClr val="1C2B27"/>
                </a:solidFill>
                <a:latin typeface="Calibri" pitchFamily="34" charset="0"/>
                <a:ea typeface="Calibri" pitchFamily="34" charset="-122"/>
                <a:cs typeface="Calibri" pitchFamily="34" charset="-120"/>
              </a:rPr>
              <a:t>eligen</a:t>
            </a:r>
            <a:r>
              <a:rPr lang="en-US" sz="1600" dirty="0">
                <a:solidFill>
                  <a:srgbClr val="1C2B27"/>
                </a:solidFill>
                <a:latin typeface="Calibri" pitchFamily="34" charset="0"/>
                <a:ea typeface="Calibri" pitchFamily="34" charset="-122"/>
                <a:cs typeface="Calibri" pitchFamily="34" charset="-120"/>
              </a:rPr>
              <a:t> uno nuevo</a:t>
            </a:r>
            <a:endParaRPr lang="en-US" sz="1600" dirty="0"/>
          </a:p>
        </p:txBody>
      </p:sp>
      <p:sp>
        <p:nvSpPr>
          <p:cNvPr id="20" name="Text 18"/>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1" name="Text 19"/>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6 / 34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 oplog: el registro de operaciones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local.oplog.rs · una entrada de actualización</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400" dirty="0">
                <a:solidFill>
                  <a:srgbClr val="D8F3E3"/>
                </a:solidFill>
                <a:latin typeface="Courier New" pitchFamily="34" charset="0"/>
                <a:ea typeface="Courier New" pitchFamily="34" charset="-122"/>
                <a:cs typeface="Courier New" pitchFamily="34" charset="-120"/>
              </a:rPr>
              <a:t>{
  op: "u",          // i, u, d, c (comando), n (no-op)
  ns: "tienda.productos",
  ui: UUID("3b6a..."),
  o:  { $v: 2, diff: { u: { precio: 54.945 } } },
  o2: { _id: 17 },
  ts: Timestamp({ t: 1790241300, i: 3 }),
  t:  NumberLong(4),   // término de la elección
  v:  NumberLong(2),
  wall: ISODate("2026-09-24T09:15:00.123Z")
}
</a:t>
            </a:r>
            <a:endParaRPr lang="en-US" sz="14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Colección especial </a:t>
            </a:r>
            <a:r>
              <a:rPr lang="en-US" sz="1600" b="1" dirty="0">
                <a:solidFill>
                  <a:srgbClr val="1C2B27"/>
                </a:solidFill>
                <a:latin typeface="Calibri" pitchFamily="34" charset="0"/>
                <a:ea typeface="Calibri" pitchFamily="34" charset="-122"/>
                <a:cs typeface="Calibri" pitchFamily="34" charset="-120"/>
              </a:rPr>
              <a:t>con tamaño limitado</a:t>
            </a:r>
            <a:r>
              <a:rPr lang="en-US" sz="1600" dirty="0">
                <a:solidFill>
                  <a:srgbClr val="1C2B27"/>
                </a:solidFill>
                <a:latin typeface="Calibri" pitchFamily="34" charset="0"/>
                <a:ea typeface="Calibri" pitchFamily="34" charset="-122"/>
                <a:cs typeface="Calibri" pitchFamily="34" charset="-120"/>
              </a:rPr>
              <a:t> (capped) en la base de datos </a:t>
            </a:r>
            <a:r>
              <a:rPr lang="en-US" sz="1600" b="1" dirty="0">
                <a:solidFill>
                  <a:srgbClr val="1C2B27"/>
                </a:solidFill>
                <a:latin typeface="Calibri" pitchFamily="34" charset="0"/>
                <a:ea typeface="Calibri" pitchFamily="34" charset="-122"/>
                <a:cs typeface="Calibri" pitchFamily="34" charset="-120"/>
              </a:rPr>
              <a:t>local</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Una entrada </a:t>
            </a:r>
            <a:r>
              <a:rPr lang="en-US" sz="1600" b="1" dirty="0">
                <a:solidFill>
                  <a:srgbClr val="1C2B27"/>
                </a:solidFill>
                <a:latin typeface="Calibri" pitchFamily="34" charset="0"/>
                <a:ea typeface="Calibri" pitchFamily="34" charset="-122"/>
                <a:cs typeface="Calibri" pitchFamily="34" charset="-120"/>
              </a:rPr>
              <a:t>por documento</a:t>
            </a:r>
            <a:r>
              <a:rPr lang="en-US" sz="1600" dirty="0">
                <a:solidFill>
                  <a:srgbClr val="1C2B27"/>
                </a:solidFill>
                <a:latin typeface="Calibri" pitchFamily="34" charset="0"/>
                <a:ea typeface="Calibri" pitchFamily="34" charset="-122"/>
                <a:cs typeface="Calibri" pitchFamily="34" charset="-120"/>
              </a:rPr>
              <a:t> modificado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Operaciones </a:t>
            </a:r>
            <a:r>
              <a:rPr lang="en-US" sz="1600" b="1" dirty="0">
                <a:solidFill>
                  <a:srgbClr val="1C2B27"/>
                </a:solidFill>
                <a:latin typeface="Calibri" pitchFamily="34" charset="0"/>
                <a:ea typeface="Calibri" pitchFamily="34" charset="-122"/>
                <a:cs typeface="Calibri" pitchFamily="34" charset="-120"/>
              </a:rPr>
              <a:t>idempotentes</a:t>
            </a:r>
            <a:r>
              <a:rPr lang="en-US" sz="1600" dirty="0">
                <a:solidFill>
                  <a:srgbClr val="1C2B27"/>
                </a:solidFill>
                <a:latin typeface="Calibri" pitchFamily="34" charset="0"/>
                <a:ea typeface="Calibri" pitchFamily="34" charset="-122"/>
                <a:cs typeface="Calibri" pitchFamily="34" charset="-120"/>
              </a:rPr>
              <a:t>: se guarda el resultado, no la operación ($inc, $mul...)</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ts</a:t>
            </a:r>
            <a:r>
              <a:rPr lang="en-US" sz="1600" dirty="0">
                <a:solidFill>
                  <a:srgbClr val="1C2B27"/>
                </a:solidFill>
                <a:latin typeface="Calibri" pitchFamily="34" charset="0"/>
                <a:ea typeface="Calibri" pitchFamily="34" charset="-122"/>
                <a:cs typeface="Calibri" pitchFamily="34" charset="-120"/>
              </a:rPr>
              <a:t>: marca de tiempo única que ordena todas las operaciones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t</a:t>
            </a:r>
            <a:r>
              <a:rPr lang="en-US" sz="1600" dirty="0">
                <a:solidFill>
                  <a:srgbClr val="1C2B27"/>
                </a:solidFill>
                <a:latin typeface="Calibri" pitchFamily="34" charset="0"/>
                <a:ea typeface="Calibri" pitchFamily="34" charset="-122"/>
                <a:cs typeface="Calibri" pitchFamily="34" charset="-120"/>
              </a:rPr>
              <a:t>: término; cambia con cada elección</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7 / 34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Tamaño del oplog y ventana de replicación</a:t>
            </a:r>
            <a:endParaRPr lang="en-US" sz="3200" dirty="0"/>
          </a:p>
        </p:txBody>
      </p:sp>
      <p:sp>
        <p:nvSpPr>
          <p:cNvPr id="3" name="Shape 1"/>
          <p:cNvSpPr/>
          <p:nvPr/>
        </p:nvSpPr>
        <p:spPr>
          <a:xfrm>
            <a:off x="548640" y="1554480"/>
            <a:ext cx="3515258" cy="2103120"/>
          </a:xfrm>
          <a:prstGeom prst="roundRect">
            <a:avLst>
              <a:gd name="adj" fmla="val 5217"/>
            </a:avLst>
          </a:prstGeom>
          <a:solidFill>
            <a:srgbClr val="0F2A25"/>
          </a:solidFill>
          <a:ln w="12700">
            <a:solidFill>
              <a:srgbClr val="0F2A25"/>
            </a:solidFill>
            <a:prstDash val="solid"/>
          </a:ln>
        </p:spPr>
      </p:sp>
      <p:sp>
        <p:nvSpPr>
          <p:cNvPr id="4" name="Text 2"/>
          <p:cNvSpPr txBox="1"/>
          <p:nvPr/>
        </p:nvSpPr>
        <p:spPr>
          <a:xfrm>
            <a:off x="731520" y="1783080"/>
            <a:ext cx="3149498" cy="1005840"/>
          </a:xfrm>
          <a:prstGeom prst="rect">
            <a:avLst/>
          </a:prstGeom>
          <a:noFill/>
          <a:ln/>
        </p:spPr>
        <p:txBody>
          <a:bodyPr wrap="square" lIns="0" tIns="0" rIns="0" bIns="0" rtlCol="0" anchor="ctr"/>
          <a:lstStyle/>
          <a:p>
            <a:pPr indent="0" marL="0">
              <a:buNone/>
            </a:pPr>
            <a:r>
              <a:rPr lang="en-US" sz="4400" b="1" dirty="0">
                <a:solidFill>
                  <a:srgbClr val="F2B33D"/>
                </a:solidFill>
                <a:latin typeface="Cambria" pitchFamily="34" charset="0"/>
                <a:ea typeface="Cambria" pitchFamily="34" charset="-122"/>
                <a:cs typeface="Cambria" pitchFamily="34" charset="-120"/>
              </a:rPr>
              <a:t>5 %</a:t>
            </a:r>
            <a:endParaRPr lang="en-US" sz="4400" dirty="0"/>
          </a:p>
        </p:txBody>
      </p:sp>
      <p:sp>
        <p:nvSpPr>
          <p:cNvPr id="5" name="Text 3"/>
          <p:cNvSpPr txBox="1"/>
          <p:nvPr/>
        </p:nvSpPr>
        <p:spPr>
          <a:xfrm>
            <a:off x="731520" y="2788920"/>
            <a:ext cx="3149498"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del disco libre: tamaño por defecto del oplog (mín. 990 MB, máx. 50 GB)</a:t>
            </a:r>
            <a:endParaRPr lang="en-US" sz="1400" dirty="0"/>
          </a:p>
        </p:txBody>
      </p:sp>
      <p:sp>
        <p:nvSpPr>
          <p:cNvPr id="6" name="Shape 4"/>
          <p:cNvSpPr/>
          <p:nvPr/>
        </p:nvSpPr>
        <p:spPr>
          <a:xfrm>
            <a:off x="4338218" y="1554480"/>
            <a:ext cx="3515258" cy="2103120"/>
          </a:xfrm>
          <a:prstGeom prst="roundRect">
            <a:avLst>
              <a:gd name="adj" fmla="val 5217"/>
            </a:avLst>
          </a:prstGeom>
          <a:solidFill>
            <a:srgbClr val="E8F3EC"/>
          </a:solidFill>
          <a:ln w="12700">
            <a:solidFill>
              <a:srgbClr val="E8F3EC"/>
            </a:solidFill>
            <a:prstDash val="solid"/>
          </a:ln>
        </p:spPr>
      </p:sp>
      <p:sp>
        <p:nvSpPr>
          <p:cNvPr id="7" name="Text 5"/>
          <p:cNvSpPr txBox="1"/>
          <p:nvPr/>
        </p:nvSpPr>
        <p:spPr>
          <a:xfrm>
            <a:off x="4521098"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Horas</a:t>
            </a:r>
            <a:endParaRPr lang="en-US" sz="4400" dirty="0"/>
          </a:p>
        </p:txBody>
      </p:sp>
      <p:sp>
        <p:nvSpPr>
          <p:cNvPr id="8" name="Text 6"/>
          <p:cNvSpPr txBox="1"/>
          <p:nvPr/>
        </p:nvSpPr>
        <p:spPr>
          <a:xfrm>
            <a:off x="4521098"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Ventana del oplog: tiempo que cubren las entradas que contiene</a:t>
            </a:r>
            <a:endParaRPr lang="en-US" sz="1400" dirty="0"/>
          </a:p>
        </p:txBody>
      </p:sp>
      <p:sp>
        <p:nvSpPr>
          <p:cNvPr id="9" name="Shape 7"/>
          <p:cNvSpPr/>
          <p:nvPr/>
        </p:nvSpPr>
        <p:spPr>
          <a:xfrm>
            <a:off x="8127797" y="1554480"/>
            <a:ext cx="3515258" cy="2103120"/>
          </a:xfrm>
          <a:prstGeom prst="roundRect">
            <a:avLst>
              <a:gd name="adj" fmla="val 5217"/>
            </a:avLst>
          </a:prstGeom>
          <a:solidFill>
            <a:srgbClr val="E8F3EC"/>
          </a:solidFill>
          <a:ln w="12700">
            <a:solidFill>
              <a:srgbClr val="E8F3EC"/>
            </a:solidFill>
            <a:prstDash val="solid"/>
          </a:ln>
        </p:spPr>
      </p:sp>
      <p:sp>
        <p:nvSpPr>
          <p:cNvPr id="10" name="Text 8"/>
          <p:cNvSpPr txBox="1"/>
          <p:nvPr/>
        </p:nvSpPr>
        <p:spPr>
          <a:xfrm>
            <a:off x="8310677"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&gt; 24 h</a:t>
            </a:r>
            <a:endParaRPr lang="en-US" sz="4400" dirty="0"/>
          </a:p>
        </p:txBody>
      </p:sp>
      <p:sp>
        <p:nvSpPr>
          <p:cNvPr id="11" name="Text 9"/>
          <p:cNvSpPr txBox="1"/>
          <p:nvPr/>
        </p:nvSpPr>
        <p:spPr>
          <a:xfrm>
            <a:off x="8310677"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Objetivo razonable: más que la parada más larga de un secundario</a:t>
            </a:r>
            <a:endParaRPr lang="en-US" sz="1400" dirty="0"/>
          </a:p>
        </p:txBody>
      </p:sp>
      <p:sp>
        <p:nvSpPr>
          <p:cNvPr id="12" name="Text 10"/>
          <p:cNvSpPr txBox="1"/>
          <p:nvPr/>
        </p:nvSpPr>
        <p:spPr>
          <a:xfrm>
            <a:off x="548640" y="3931920"/>
            <a:ext cx="11094415" cy="219456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Si un secundario se queda atrás </a:t>
            </a:r>
            <a:r>
              <a:rPr lang="en-US" sz="1800" b="1" dirty="0">
                <a:solidFill>
                  <a:srgbClr val="1C2B27"/>
                </a:solidFill>
                <a:latin typeface="Calibri" pitchFamily="34" charset="0"/>
                <a:ea typeface="Calibri" pitchFamily="34" charset="-122"/>
                <a:cs typeface="Calibri" pitchFamily="34" charset="-120"/>
              </a:rPr>
              <a:t>más que la ventana</a:t>
            </a:r>
            <a:r>
              <a:rPr lang="en-US" sz="1800" dirty="0">
                <a:solidFill>
                  <a:srgbClr val="1C2B27"/>
                </a:solidFill>
                <a:latin typeface="Calibri" pitchFamily="34" charset="0"/>
                <a:ea typeface="Calibri" pitchFamily="34" charset="-122"/>
                <a:cs typeface="Calibri" pitchFamily="34" charset="-120"/>
              </a:rPr>
              <a:t>, pasa a RECOVERING y necesita </a:t>
            </a:r>
            <a:r>
              <a:rPr lang="en-US" sz="1800" b="1" dirty="0">
                <a:solidFill>
                  <a:srgbClr val="1C2B27"/>
                </a:solidFill>
                <a:latin typeface="Calibri" pitchFamily="34" charset="0"/>
                <a:ea typeface="Calibri" pitchFamily="34" charset="-122"/>
                <a:cs typeface="Calibri" pitchFamily="34" charset="-120"/>
              </a:rPr>
              <a:t>resincronización completa</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Consultar: </a:t>
            </a:r>
            <a:r>
              <a:rPr lang="en-US" sz="1800" b="1" dirty="0">
                <a:solidFill>
                  <a:srgbClr val="1C2B27"/>
                </a:solidFill>
                <a:latin typeface="Calibri" pitchFamily="34" charset="0"/>
                <a:ea typeface="Calibri" pitchFamily="34" charset="-122"/>
                <a:cs typeface="Calibri" pitchFamily="34" charset="-120"/>
              </a:rPr>
              <a:t>rs.printReplicationInfo()</a:t>
            </a:r>
            <a:r>
              <a:rPr lang="en-US" sz="1800" dirty="0">
                <a:solidFill>
                  <a:srgbClr val="1C2B27"/>
                </a:solidFill>
                <a:latin typeface="Calibri" pitchFamily="34" charset="0"/>
                <a:ea typeface="Calibri" pitchFamily="34" charset="-122"/>
                <a:cs typeface="Calibri" pitchFamily="34" charset="-120"/>
              </a:rPr>
              <a:t> · Cambiar en caliente: </a:t>
            </a:r>
            <a:r>
              <a:rPr lang="en-US" sz="1800" b="1" dirty="0">
                <a:solidFill>
                  <a:srgbClr val="1C2B27"/>
                </a:solidFill>
                <a:latin typeface="Calibri" pitchFamily="34" charset="0"/>
                <a:ea typeface="Calibri" pitchFamily="34" charset="-122"/>
                <a:cs typeface="Calibri" pitchFamily="34" charset="-120"/>
              </a:rPr>
              <a:t>replSetResizeOplog</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Retención mínima por tiempo: </a:t>
            </a:r>
            <a:r>
              <a:rPr lang="en-US" sz="1800" b="1" dirty="0">
                <a:solidFill>
                  <a:srgbClr val="1C2B27"/>
                </a:solidFill>
                <a:latin typeface="Calibri" pitchFamily="34" charset="0"/>
                <a:ea typeface="Calibri" pitchFamily="34" charset="-122"/>
                <a:cs typeface="Calibri" pitchFamily="34" charset="-120"/>
              </a:rPr>
              <a:t>storage.oplogMinRetentionHours</a:t>
            </a:r>
            <a:endParaRPr lang="en-US" sz="1800" dirty="0"/>
          </a:p>
        </p:txBody>
      </p:sp>
      <p:sp>
        <p:nvSpPr>
          <p:cNvPr id="13" name="Text 1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4" name="Text 1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8 / 34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Cómo viaja una escritura</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Escritura</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La aplicación escribe en el primario.</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Oplog</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primario aplica el cambio y lo anota en su oplog, en la misma unidad atómica.</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Lectura del oplog</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Cada secundario mantiene un cursor abierto sobre el oplog de su fuente de sincronización.</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Aplicación</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secundario aplica las operaciones en lotes, en paralelo, y las anota en su propio oplog.</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Confirmación</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Los secundarios informan de su progreso; el primario confirma según el write concern.</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La replicación es asíncrona: el primario no espera a los secundarios para aplicar la escritura, solo para confirmarla si el write concern lo pide.</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9 / 34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Heartbeats: cómo se vigilan los nodos</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Cada miembro envía un </a:t>
            </a:r>
            <a:r>
              <a:rPr lang="en-US" sz="2000" b="1" dirty="0">
                <a:solidFill>
                  <a:srgbClr val="1C2B27"/>
                </a:solidFill>
                <a:latin typeface="Calibri" pitchFamily="34" charset="0"/>
                <a:ea typeface="Calibri" pitchFamily="34" charset="-122"/>
                <a:cs typeface="Calibri" pitchFamily="34" charset="-120"/>
              </a:rPr>
              <a:t>heartbeat</a:t>
            </a:r>
            <a:r>
              <a:rPr lang="en-US" sz="2000" dirty="0">
                <a:solidFill>
                  <a:srgbClr val="1C2B27"/>
                </a:solidFill>
                <a:latin typeface="Calibri" pitchFamily="34" charset="0"/>
                <a:ea typeface="Calibri" pitchFamily="34" charset="-122"/>
                <a:cs typeface="Calibri" pitchFamily="34" charset="-120"/>
              </a:rPr>
              <a:t> a todos los demás cada </a:t>
            </a:r>
            <a:r>
              <a:rPr lang="en-US" sz="2000" b="1" dirty="0">
                <a:solidFill>
                  <a:srgbClr val="1C2B27"/>
                </a:solidFill>
                <a:latin typeface="Calibri" pitchFamily="34" charset="0"/>
                <a:ea typeface="Calibri" pitchFamily="34" charset="-122"/>
                <a:cs typeface="Calibri" pitchFamily="34" charset="-120"/>
              </a:rPr>
              <a:t>2 segundos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La respuesta incluye estado, optime y término: todos conocen a todos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Si el primario no responde en </a:t>
            </a:r>
            <a:r>
              <a:rPr lang="en-US" sz="2000" b="1" dirty="0">
                <a:solidFill>
                  <a:srgbClr val="1C2B27"/>
                </a:solidFill>
                <a:latin typeface="Calibri" pitchFamily="34" charset="0"/>
                <a:ea typeface="Calibri" pitchFamily="34" charset="-122"/>
                <a:cs typeface="Calibri" pitchFamily="34" charset="-120"/>
              </a:rPr>
              <a:t>10 segundos</a:t>
            </a:r>
            <a:r>
              <a:rPr lang="en-US" sz="2000" dirty="0">
                <a:solidFill>
                  <a:srgbClr val="1C2B27"/>
                </a:solidFill>
                <a:latin typeface="Calibri" pitchFamily="34" charset="0"/>
                <a:ea typeface="Calibri" pitchFamily="34" charset="-122"/>
                <a:cs typeface="Calibri" pitchFamily="34" charset="-120"/>
              </a:rPr>
              <a:t> (electionTimeoutMillis), se convoca una elección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primario también vigila: si </a:t>
            </a:r>
            <a:r>
              <a:rPr lang="en-US" sz="2000" b="1" dirty="0">
                <a:solidFill>
                  <a:srgbClr val="1C2B27"/>
                </a:solidFill>
                <a:latin typeface="Calibri" pitchFamily="34" charset="0"/>
                <a:ea typeface="Calibri" pitchFamily="34" charset="-122"/>
                <a:cs typeface="Calibri" pitchFamily="34" charset="-120"/>
              </a:rPr>
              <a:t>pierde contacto con la mayoría</a:t>
            </a:r>
            <a:r>
              <a:rPr lang="en-US" sz="2000" dirty="0">
                <a:solidFill>
                  <a:srgbClr val="1C2B27"/>
                </a:solidFill>
                <a:latin typeface="Calibri" pitchFamily="34" charset="0"/>
                <a:ea typeface="Calibri" pitchFamily="34" charset="-122"/>
                <a:cs typeface="Calibri" pitchFamily="34" charset="-120"/>
              </a:rPr>
              <a:t>, deja de ser primario</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rs.status()</a:t>
            </a:r>
            <a:r>
              <a:rPr lang="en-US" sz="2000" dirty="0">
                <a:solidFill>
                  <a:srgbClr val="1C2B27"/>
                </a:solidFill>
                <a:latin typeface="Calibri" pitchFamily="34" charset="0"/>
                <a:ea typeface="Calibri" pitchFamily="34" charset="-122"/>
                <a:cs typeface="Calibri" pitchFamily="34" charset="-120"/>
              </a:rPr>
              <a:t>: health, lastHeartbeat, pingMs, stateStr de cada miembro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¿Por qué el primario se degrada solo?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Para evitar dos primarios. Si queda aislado en una partición de red en minoría, la otra parte puede elegir un primario nuevo. El antiguo, al no ver a la mayoría, pasa a secundario y deja de aceptar escrituras.</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10 / 34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Elecciones</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Detección</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 secundario no recibe heartbeat del primario durante electionTimeoutMillis.</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Candidatura</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 presenta como candidato, incrementa el término y pide votos.</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Votación</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Cada miembro vota si el candidato está al menos tan actualizado como él y no ha votado en ese término.</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Mayoría</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Con la mayoría de los votos, el candidato pasa a PRIMARY.</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Catch-up</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nuevo primario puede esperar a ponerse al día antes de aceptar escrituras.</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Protocolo de replicación versión 1 (pv1), basado en Raft. Una elección típica tarda pocos segundos; el corte total ronda los 10-12 s por la detección.</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11 / 34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Mayorías: cuántos nodos puedo perder</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1828800"/>
                <a:gridCol w="2377440"/>
                <a:gridCol w="438912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Miembros con voto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Mayoría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Tolerancia a fallos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Comentario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Sin alta disponibilidad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¡Peor que uno! Cualquier caída deja sin primario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Configuración mínima de producción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Un nodo más no añade tolerancia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Recomendado para servicios críticos o varios CPD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Máximo de miembros con voto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Mayoría = más de la mitad de los votos configurados, no de los nodos vivos. Por eso los números pares no aportan.</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12 / 34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Árbitros: sí, pero con cuidado</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Qué es un árbitro</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Miembro que </a:t>
            </a:r>
            <a:r>
              <a:rPr lang="en-US" sz="1800" b="1" dirty="0">
                <a:solidFill>
                  <a:srgbClr val="1C2B27"/>
                </a:solidFill>
                <a:latin typeface="Calibri" pitchFamily="34" charset="0"/>
                <a:ea typeface="Calibri" pitchFamily="34" charset="-122"/>
                <a:cs typeface="Calibri" pitchFamily="34" charset="-120"/>
              </a:rPr>
              <a:t>vota</a:t>
            </a:r>
            <a:r>
              <a:rPr lang="en-US" sz="1800" dirty="0">
                <a:solidFill>
                  <a:srgbClr val="1C2B27"/>
                </a:solidFill>
                <a:latin typeface="Calibri" pitchFamily="34" charset="0"/>
                <a:ea typeface="Calibri" pitchFamily="34" charset="-122"/>
                <a:cs typeface="Calibri" pitchFamily="34" charset="-120"/>
              </a:rPr>
              <a:t> pero </a:t>
            </a:r>
            <a:r>
              <a:rPr lang="en-US" sz="1800" b="1" dirty="0">
                <a:solidFill>
                  <a:srgbClr val="1C2B27"/>
                </a:solidFill>
                <a:latin typeface="Calibri" pitchFamily="34" charset="0"/>
                <a:ea typeface="Calibri" pitchFamily="34" charset="-122"/>
                <a:cs typeface="Calibri" pitchFamily="34" charset="-120"/>
              </a:rPr>
              <a:t>no guarda datos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Permite desempatar con un coste mínimo de hardware</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Típico en esquemas primario + secundario + árbitro (PSA)</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No puede ser primario ni fuente de sincronización</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Por qué evitarlo en producción</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En PSA, si cae un nodo de datos, </a:t>
            </a:r>
            <a:r>
              <a:rPr lang="en-US" sz="1800" b="1" dirty="0">
                <a:solidFill>
                  <a:srgbClr val="1C2B27"/>
                </a:solidFill>
                <a:latin typeface="Calibri" pitchFamily="34" charset="0"/>
                <a:ea typeface="Calibri" pitchFamily="34" charset="-122"/>
                <a:cs typeface="Calibri" pitchFamily="34" charset="-120"/>
              </a:rPr>
              <a:t>w: majority no se puede cumplir</a:t>
            </a:r>
            <a:r>
              <a:rPr lang="en-US" sz="1800" dirty="0">
                <a:solidFill>
                  <a:srgbClr val="1C2B27"/>
                </a:solidFill>
                <a:latin typeface="Calibri" pitchFamily="34" charset="0"/>
                <a:ea typeface="Calibri" pitchFamily="34" charset="-122"/>
                <a:cs typeface="Calibri" pitchFamily="34" charset="-120"/>
              </a:rPr>
              <a:t> en la práctica</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La caché del primario se llena de datos pendientes de confirmar (</a:t>
            </a:r>
            <a:r>
              <a:rPr lang="en-US" sz="1800" b="1" dirty="0">
                <a:solidFill>
                  <a:srgbClr val="1C2B27"/>
                </a:solidFill>
                <a:latin typeface="Calibri" pitchFamily="34" charset="0"/>
                <a:ea typeface="Calibri" pitchFamily="34" charset="-122"/>
                <a:cs typeface="Calibri" pitchFamily="34" charset="-120"/>
              </a:rPr>
              <a:t>presión de caché</a:t>
            </a:r>
            <a:r>
              <a:rPr lang="en-US" sz="1800" dirty="0">
                <a:solidFill>
                  <a:srgbClr val="1C2B27"/>
                </a:solidFill>
                <a:latin typeface="Calibri" pitchFamily="34" charset="0"/>
                <a:ea typeface="Calibri" pitchFamily="34" charset="-122"/>
                <a:cs typeface="Calibri" pitchFamily="34" charset="-120"/>
              </a:rPr>
              <a:t>)</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Solo queda </a:t>
            </a:r>
            <a:r>
              <a:rPr lang="en-US" sz="1800" b="1" dirty="0">
                <a:solidFill>
                  <a:srgbClr val="1C2B27"/>
                </a:solidFill>
                <a:latin typeface="Calibri" pitchFamily="34" charset="0"/>
                <a:ea typeface="Calibri" pitchFamily="34" charset="-122"/>
                <a:cs typeface="Calibri" pitchFamily="34" charset="-120"/>
              </a:rPr>
              <a:t>una copia</a:t>
            </a:r>
            <a:r>
              <a:rPr lang="en-US" sz="1800" dirty="0">
                <a:solidFill>
                  <a:srgbClr val="1C2B27"/>
                </a:solidFill>
                <a:latin typeface="Calibri" pitchFamily="34" charset="0"/>
                <a:ea typeface="Calibri" pitchFamily="34" charset="-122"/>
                <a:cs typeface="Calibri" pitchFamily="34" charset="-120"/>
              </a:rPr>
              <a:t> de los datos mientras dura la caída</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Mejor </a:t>
            </a:r>
            <a:r>
              <a:rPr lang="en-US" sz="1800" b="1" dirty="0">
                <a:solidFill>
                  <a:srgbClr val="1C2B27"/>
                </a:solidFill>
                <a:latin typeface="Calibri" pitchFamily="34" charset="0"/>
                <a:ea typeface="Calibri" pitchFamily="34" charset="-122"/>
                <a:cs typeface="Calibri" pitchFamily="34" charset="-120"/>
              </a:rPr>
              <a:t>tres nodos con datos</a:t>
            </a:r>
            <a:r>
              <a:rPr lang="en-US" sz="1800" dirty="0">
                <a:solidFill>
                  <a:srgbClr val="1C2B27"/>
                </a:solidFill>
                <a:latin typeface="Calibri" pitchFamily="34" charset="0"/>
                <a:ea typeface="Calibri" pitchFamily="34" charset="-122"/>
                <a:cs typeface="Calibri" pitchFamily="34" charset="-120"/>
              </a:rPr>
              <a:t> (PSS) siempre que sea posible</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13 / 34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Configuración de un replica set</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rs.conf() (resumen)</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
  _id: "rs0",
  version: 7,
  term: 4,
  protocolVersion: 1,
  members: [
    { _id: 0, host: "mongo1:27017", priority: 2, votes: 1,
      tags: { dc: "madrid" } },
    { _id: 1, host: "mongo2:27017", priority: 1, votes: 1,
      tags: { dc: "madrid" } },
    { _id: 2, host: "mongo3:27017", priority: 0, votes: 1,
      hidden: true, secondaryDelaySecs: 3600 }
  ],
  settings: {
    heartbeatIntervalMillis: 2000,
    electionTimeoutMillis: 10000,
    chainingAllowed: true,
    getLastErrorModes: { dosCPD: { dc: 2 } }
  }
}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rs.initiate(cfg)</a:t>
            </a:r>
            <a:r>
              <a:rPr lang="en-US" sz="1600" dirty="0">
                <a:solidFill>
                  <a:srgbClr val="1C2B27"/>
                </a:solidFill>
                <a:latin typeface="Calibri" pitchFamily="34" charset="0"/>
                <a:ea typeface="Calibri" pitchFamily="34" charset="-122"/>
                <a:cs typeface="Calibri" pitchFamily="34" charset="-120"/>
              </a:rPr>
              <a:t>: crea el replica set</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rs.add() / rs.remove()</a:t>
            </a:r>
            <a:r>
              <a:rPr lang="en-US" sz="1600" dirty="0">
                <a:solidFill>
                  <a:srgbClr val="1C2B27"/>
                </a:solidFill>
                <a:latin typeface="Calibri" pitchFamily="34" charset="0"/>
                <a:ea typeface="Calibri" pitchFamily="34" charset="-122"/>
                <a:cs typeface="Calibri" pitchFamily="34" charset="-120"/>
              </a:rPr>
              <a:t>: añadir y quitar miembros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rs.reconfig(cfg)</a:t>
            </a:r>
            <a:r>
              <a:rPr lang="en-US" sz="1600" dirty="0">
                <a:solidFill>
                  <a:srgbClr val="1C2B27"/>
                </a:solidFill>
                <a:latin typeface="Calibri" pitchFamily="34" charset="0"/>
                <a:ea typeface="Calibri" pitchFamily="34" charset="-122"/>
                <a:cs typeface="Calibri" pitchFamily="34" charset="-120"/>
              </a:rPr>
              <a:t>: cambia la configuración; se replica a todos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Cambios de voto: de uno en uno por reconfiguración</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version</a:t>
            </a:r>
            <a:r>
              <a:rPr lang="en-US" sz="1600" dirty="0">
                <a:solidFill>
                  <a:srgbClr val="1C2B27"/>
                </a:solidFill>
                <a:latin typeface="Calibri" pitchFamily="34" charset="0"/>
                <a:ea typeface="Calibri" pitchFamily="34" charset="-122"/>
                <a:cs typeface="Calibri" pitchFamily="34" charset="-120"/>
              </a:rPr>
              <a:t> sube en cada cambio</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14 / 34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Tipos de miembros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3474720"/>
                <a:gridCol w="512064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Tipo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Configuración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Secundario normal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priority ≥ 1, votes: 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Candidato a primario; copia completa de los datos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Prioridad 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priority: 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Nunca será primario: nodos en un CPD secundario o con menos hardware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Oculto (hidden)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priority: 0, hidden: true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Invisible para los clientes: backups, informes pesados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Retrasado (delayed)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priority: 0, hidden: true, secondaryDelaySecs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Protección frente a errores humanos: una hora de margen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Sin voto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votes: 0, priority: 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Más de 7 miembros, o nodos que no deben influir en la mayoría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Árbitro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arbiterOnly: true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Vota sin datos; evitar si se puede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15 / 34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05</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Replica set de tres nodos con autenticación interna</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Arrancar tres nodos con --replSet y un keyfile compartido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Iniciar el replica set a mano con rs.initiate()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el administrador en el primario con la localhost exception</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Cargar los datos del curso y leer rs.status() y rs.conf()</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Explorar el oplog: entradas, idempotencia y ventana de replicación</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40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dia2/lab05-replica-set/README.md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16 / 34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6</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Configuración y consistencia</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Write concern, read concern, read preference, tags y prioridades</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Write concern</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Rollbacks</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Read concern</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Read preference</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Tags</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Prioridades</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17 / 34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Write concern: ¿cuándo se confirma una escritura?</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743200"/>
                <a:gridCol w="4572000"/>
                <a:gridCol w="3657600"/>
              </a:tblGrid>
              <a:tr h="554355">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Opción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Significado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Riesgo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 0</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Sin confirmación: el cliente no espera respuesta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Errores invisibles; no usar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 1</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Confirmada por el primario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Puede perderse en un rollback si el primario cae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 "majority"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Confirmada por la mayoría de miembros con voto y datos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Por defecto desde 5.0; sobrevive a cualquier failover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 &lt;n&gt;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Confirmada por n miembros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Si no hay n nodos vivos, espera o vence el wtimeout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 "&lt;modo&gt;"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Modo personalizado con tags (getLastErrorModes)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Por ejemplo, dos centros de datos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j: true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Escrita en el journal del disco antes de confirmar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 majority, implícito por defecto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wtimeout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Tiempo máximo de espera de la confirmación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¡No deshace la escritura!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18 / 34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Rollbacks: por qué importa majority</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primario aplica escrituras con </a:t>
            </a:r>
            <a:r>
              <a:rPr lang="en-US" sz="2000" b="1" dirty="0">
                <a:solidFill>
                  <a:srgbClr val="1C2B27"/>
                </a:solidFill>
                <a:latin typeface="Calibri" pitchFamily="34" charset="0"/>
                <a:ea typeface="Calibri" pitchFamily="34" charset="-122"/>
                <a:cs typeface="Calibri" pitchFamily="34" charset="-120"/>
              </a:rPr>
              <a:t>w: 1</a:t>
            </a:r>
            <a:r>
              <a:rPr lang="en-US" sz="2000" dirty="0">
                <a:solidFill>
                  <a:srgbClr val="1C2B27"/>
                </a:solidFill>
                <a:latin typeface="Calibri" pitchFamily="34" charset="0"/>
                <a:ea typeface="Calibri" pitchFamily="34" charset="-122"/>
                <a:cs typeface="Calibri" pitchFamily="34" charset="-120"/>
              </a:rPr>
              <a:t> y cae antes de replicarlas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Los secundarios eligen un nuevo primario </a:t>
            </a:r>
            <a:r>
              <a:rPr lang="en-US" sz="2000" b="1" dirty="0">
                <a:solidFill>
                  <a:srgbClr val="1C2B27"/>
                </a:solidFill>
                <a:latin typeface="Calibri" pitchFamily="34" charset="0"/>
                <a:ea typeface="Calibri" pitchFamily="34" charset="-122"/>
                <a:cs typeface="Calibri" pitchFamily="34" charset="-120"/>
              </a:rPr>
              <a:t>sin esas escrituras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antiguo primario vuelve, detecta la divergencia y </a:t>
            </a:r>
            <a:r>
              <a:rPr lang="en-US" sz="2000" b="1" dirty="0">
                <a:solidFill>
                  <a:srgbClr val="1C2B27"/>
                </a:solidFill>
                <a:latin typeface="Calibri" pitchFamily="34" charset="0"/>
                <a:ea typeface="Calibri" pitchFamily="34" charset="-122"/>
                <a:cs typeface="Calibri" pitchFamily="34" charset="-120"/>
              </a:rPr>
              <a:t>deshace</a:t>
            </a:r>
            <a:r>
              <a:rPr lang="en-US" sz="2000" dirty="0">
                <a:solidFill>
                  <a:srgbClr val="1C2B27"/>
                </a:solidFill>
                <a:latin typeface="Calibri" pitchFamily="34" charset="0"/>
                <a:ea typeface="Calibri" pitchFamily="34" charset="-122"/>
                <a:cs typeface="Calibri" pitchFamily="34" charset="-120"/>
              </a:rPr>
              <a:t> lo que no está en el nuevo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Los documentos deshechos se guardan en </a:t>
            </a:r>
            <a:r>
              <a:rPr lang="en-US" sz="2000" b="1" dirty="0">
                <a:solidFill>
                  <a:srgbClr val="1C2B27"/>
                </a:solidFill>
                <a:latin typeface="Calibri" pitchFamily="34" charset="0"/>
                <a:ea typeface="Calibri" pitchFamily="34" charset="-122"/>
                <a:cs typeface="Calibri" pitchFamily="34" charset="-120"/>
              </a:rPr>
              <a:t>dbPath/rollback/</a:t>
            </a:r>
            <a:r>
              <a:rPr lang="en-US" sz="2000" dirty="0">
                <a:solidFill>
                  <a:srgbClr val="1C2B27"/>
                </a:solidFill>
                <a:latin typeface="Calibri" pitchFamily="34" charset="0"/>
                <a:ea typeface="Calibri" pitchFamily="34" charset="-122"/>
                <a:cs typeface="Calibri" pitchFamily="34" charset="-120"/>
              </a:rPr>
              <a:t> (BSON)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 </a:t>
            </a:r>
            <a:r>
              <a:rPr lang="en-US" sz="2000" b="1" dirty="0">
                <a:solidFill>
                  <a:srgbClr val="1C2B27"/>
                </a:solidFill>
                <a:latin typeface="Calibri" pitchFamily="34" charset="0"/>
                <a:ea typeface="Calibri" pitchFamily="34" charset="-122"/>
                <a:cs typeface="Calibri" pitchFamily="34" charset="-120"/>
              </a:rPr>
              <a:t>w: majority</a:t>
            </a:r>
            <a:r>
              <a:rPr lang="en-US" sz="2000" dirty="0">
                <a:solidFill>
                  <a:srgbClr val="1C2B27"/>
                </a:solidFill>
                <a:latin typeface="Calibri" pitchFamily="34" charset="0"/>
                <a:ea typeface="Calibri" pitchFamily="34" charset="-122"/>
                <a:cs typeface="Calibri" pitchFamily="34" charset="-120"/>
              </a:rPr>
              <a:t> una escritura confirmada </a:t>
            </a:r>
            <a:r>
              <a:rPr lang="en-US" sz="2000" b="1" dirty="0">
                <a:solidFill>
                  <a:srgbClr val="1C2B27"/>
                </a:solidFill>
                <a:latin typeface="Calibri" pitchFamily="34" charset="0"/>
                <a:ea typeface="Calibri" pitchFamily="34" charset="-122"/>
                <a:cs typeface="Calibri" pitchFamily="34" charset="-120"/>
              </a:rPr>
              <a:t>nunca</a:t>
            </a:r>
            <a:r>
              <a:rPr lang="en-US" sz="2000" dirty="0">
                <a:solidFill>
                  <a:srgbClr val="1C2B27"/>
                </a:solidFill>
                <a:latin typeface="Calibri" pitchFamily="34" charset="0"/>
                <a:ea typeface="Calibri" pitchFamily="34" charset="-122"/>
                <a:cs typeface="Calibri" pitchFamily="34" charset="-120"/>
              </a:rPr>
              <a:t> sufre rollback</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Qué hacer con un rollback</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Revisar el log (mensajes de ROLLBACK), recuperar los ficheros de rollback/ con bsondump o mongorestore y decidir con negocio qué hacer con esos datos. Si aparecen, la pregunta es por qué la aplicación escribe con w: 1.</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19 / 34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Read concern: ¿qué versión de los datos leo?</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60320"/>
                <a:gridCol w="4937760"/>
                <a:gridCol w="347472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Nivel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Devuelve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local</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Lo último que tiene el nodo, aunque no esté confirmado por mayoría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Por defecto en lecturas; máximo rendimiento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available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Como local; en sharding puede devolver documentos huérfanos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Casos muy concretos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majority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Solo datos confirmados por mayoría (nunca sufrirán rollback)</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Lecturas que no pueden ver datos que luego desaparezcan</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linearizable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El último valor confirmado por mayoría antes de empezar la lectura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Solo en el primario, un documento; caro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snapshot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Una foto coherente en un instante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Transacciones y lecturas en un punto en el tiempo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20 / 34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Read preference: ¿de qué nodo leo?</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4206240"/>
                <a:gridCol w="384048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Comportamiento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Cuándo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primary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Solo del primario (por defecto)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Consistencia: leer lo último escrito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primaryPreferred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Primario; si no hay, un secundario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Seguir leyendo durante un failover</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secondary</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Solo de secundarios</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Informes y cargas que no deben tocar al primario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secondaryPreferred</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Secundarios; si no hay, el primario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Lecturas tolerantes a retraso</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C2B27"/>
                          </a:solidFill>
                          <a:latin typeface="Calibri" pitchFamily="34" charset="0"/>
                          <a:ea typeface="Calibri" pitchFamily="34" charset="-122"/>
                          <a:cs typeface="Calibri" pitchFamily="34" charset="-120"/>
                        </a:rPr>
                        <a:t>nearest</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El de menor latencia, sea cual sea</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600" dirty="0">
                          <a:solidFill>
                            <a:srgbClr val="1C2B27"/>
                          </a:solidFill>
                          <a:latin typeface="Calibri" pitchFamily="34" charset="0"/>
                          <a:ea typeface="Calibri" pitchFamily="34" charset="-122"/>
                          <a:cs typeface="Calibri" pitchFamily="34" charset="-120"/>
                        </a:rPr>
                        <a:t>Aplicaciones repartidas geográficamente</a:t>
                      </a:r>
                      <a:endParaRPr lang="en-US" sz="16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Complementos: readPreferenceTags para elegir nodos por etiqueta y maxStalenessSeconds para descartar secundarios demasiado retrasados.</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21 / 34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Tags: etiquetar nodos y dirigir el tráfico</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 1. Etiquetar los miembros
cfg = rs.conf()
cfg.members[0].tags = { dc: "madrid",    uso: "oltp" }
cfg.members[1].tags = { dc: "madrid",    uso: "oltp" }
cfg.members[2].tags = { dc: "barcelona", uso: "informes" }
rs.reconfig(cfg)
// 2. Lecturas dirigidas por tag (con alternativa)
db.getMongo().setReadPref("secondary",
                          [ { uso: "informes" }, {} ])
// En la URI de la aplicación de informes:
// ...&amp;readPreference=secondary
//    &amp;readPreferenceTags=uso:informes&amp;readPreferenceTags=
// 3. Escrituras que exigen dos centros de datos
cfg.settings.getLastErrorModes = { dosCPD: { dc: 2 } }
rs.reconfig(cfg)
db.pedidos.insertOne(doc, { writeConcern: { w: "dosCPD" } })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Tags: pares clave-valor libres en cada miembro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Lecturas</a:t>
            </a:r>
            <a:r>
              <a:rPr lang="en-US" sz="1600" dirty="0">
                <a:solidFill>
                  <a:srgbClr val="1C2B27"/>
                </a:solidFill>
                <a:latin typeface="Calibri" pitchFamily="34" charset="0"/>
                <a:ea typeface="Calibri" pitchFamily="34" charset="-122"/>
                <a:cs typeface="Calibri" pitchFamily="34" charset="-120"/>
              </a:rPr>
              <a:t>: readPreferenceTags, en orden de preferencia</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El conjunto vacío </a:t>
            </a:r>
            <a:r>
              <a:rPr lang="en-US" sz="1600" b="1" dirty="0">
                <a:solidFill>
                  <a:srgbClr val="1C2B27"/>
                </a:solidFill>
                <a:latin typeface="Calibri" pitchFamily="34" charset="0"/>
                <a:ea typeface="Calibri" pitchFamily="34" charset="-122"/>
                <a:cs typeface="Calibri" pitchFamily="34" charset="-120"/>
              </a:rPr>
              <a:t>{}</a:t>
            </a:r>
            <a:r>
              <a:rPr lang="en-US" sz="1600" dirty="0">
                <a:solidFill>
                  <a:srgbClr val="1C2B27"/>
                </a:solidFill>
                <a:latin typeface="Calibri" pitchFamily="34" charset="0"/>
                <a:ea typeface="Calibri" pitchFamily="34" charset="-122"/>
                <a:cs typeface="Calibri" pitchFamily="34" charset="-120"/>
              </a:rPr>
              <a:t> significa «cualquier nodo»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Escrituras</a:t>
            </a:r>
            <a:r>
              <a:rPr lang="en-US" sz="1600" dirty="0">
                <a:solidFill>
                  <a:srgbClr val="1C2B27"/>
                </a:solidFill>
                <a:latin typeface="Calibri" pitchFamily="34" charset="0"/>
                <a:ea typeface="Calibri" pitchFamily="34" charset="-122"/>
                <a:cs typeface="Calibri" pitchFamily="34" charset="-120"/>
              </a:rPr>
              <a:t>: modos en getLastErrorModes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 dc: 2 }</a:t>
            </a:r>
            <a:r>
              <a:rPr lang="en-US" sz="1600" dirty="0">
                <a:solidFill>
                  <a:srgbClr val="1C2B27"/>
                </a:solidFill>
                <a:latin typeface="Calibri" pitchFamily="34" charset="0"/>
                <a:ea typeface="Calibri" pitchFamily="34" charset="-122"/>
                <a:cs typeface="Calibri" pitchFamily="34" charset="-120"/>
              </a:rPr>
              <a:t>: confirmación en 2 valores distintos del tag dc</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22 / 34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Prioridades: quién debe ser primario</a:t>
            </a:r>
            <a:endParaRPr lang="en-US" sz="3200" dirty="0"/>
          </a:p>
        </p:txBody>
      </p:sp>
      <p:sp>
        <p:nvSpPr>
          <p:cNvPr id="3" name="Shape 1"/>
          <p:cNvSpPr/>
          <p:nvPr/>
        </p:nvSpPr>
        <p:spPr>
          <a:xfrm>
            <a:off x="548640" y="1508760"/>
            <a:ext cx="6675120" cy="4617720"/>
          </a:xfrm>
          <a:prstGeom prst="roundRect">
            <a:avLst>
              <a:gd name="adj" fmla="val 2376"/>
            </a:avLst>
          </a:prstGeom>
          <a:solidFill>
            <a:srgbClr val="F4F9F6"/>
          </a:solidFill>
          <a:ln w="12700">
            <a:solidFill>
              <a:srgbClr val="D5DDD9"/>
            </a:solidFill>
            <a:prstDash val="solid"/>
          </a:ln>
        </p:spPr>
      </p:sp>
      <p:sp>
        <p:nvSpPr>
          <p:cNvPr id="4" name="Shape 2"/>
          <p:cNvSpPr/>
          <p:nvPr/>
        </p:nvSpPr>
        <p:spPr>
          <a:xfrm flipH="1">
            <a:off x="1965960" y="2514600"/>
            <a:ext cx="1920240" cy="1874520"/>
          </a:xfrm>
          <a:prstGeom prst="line">
            <a:avLst/>
          </a:prstGeom>
          <a:noFill/>
          <a:ln w="25400">
            <a:solidFill>
              <a:srgbClr val="2E9E66"/>
            </a:solidFill>
            <a:prstDash val="dash"/>
          </a:ln>
        </p:spPr>
      </p:sp>
      <p:sp>
        <p:nvSpPr>
          <p:cNvPr id="5" name="Shape 3"/>
          <p:cNvSpPr/>
          <p:nvPr/>
        </p:nvSpPr>
        <p:spPr>
          <a:xfrm>
            <a:off x="3886200" y="2514600"/>
            <a:ext cx="1920240" cy="1874520"/>
          </a:xfrm>
          <a:prstGeom prst="line">
            <a:avLst/>
          </a:prstGeom>
          <a:noFill/>
          <a:ln w="25400">
            <a:solidFill>
              <a:srgbClr val="2E9E66"/>
            </a:solidFill>
            <a:prstDash val="dash"/>
          </a:ln>
        </p:spPr>
      </p:sp>
      <p:sp>
        <p:nvSpPr>
          <p:cNvPr id="6" name="Shape 4"/>
          <p:cNvSpPr/>
          <p:nvPr/>
        </p:nvSpPr>
        <p:spPr>
          <a:xfrm>
            <a:off x="3291840" y="1920240"/>
            <a:ext cx="1188720" cy="1188720"/>
          </a:xfrm>
          <a:prstGeom prst="ellipse">
            <a:avLst/>
          </a:prstGeom>
          <a:solidFill>
            <a:srgbClr val="F2B33D"/>
          </a:solidFill>
          <a:ln w="12700">
            <a:solidFill>
              <a:srgbClr val="F2B33D"/>
            </a:solidFill>
            <a:prstDash val="solid"/>
          </a:ln>
        </p:spPr>
      </p:sp>
      <p:sp>
        <p:nvSpPr>
          <p:cNvPr id="7" name="Text 5"/>
          <p:cNvSpPr txBox="1"/>
          <p:nvPr/>
        </p:nvSpPr>
        <p:spPr>
          <a:xfrm>
            <a:off x="3291840" y="1920240"/>
            <a:ext cx="1188720" cy="1188720"/>
          </a:xfrm>
          <a:prstGeom prst="rect">
            <a:avLst/>
          </a:prstGeom>
          <a:noFill/>
          <a:ln/>
        </p:spPr>
        <p:txBody>
          <a:bodyPr wrap="square" lIns="0" tIns="0" rIns="0" bIns="0" rtlCol="0" anchor="ctr"/>
          <a:lstStyle/>
          <a:p>
            <a:pPr algn="ctr" indent="0" marL="0">
              <a:buNone/>
            </a:pPr>
            <a:r>
              <a:rPr lang="en-US" sz="1500" b="1" dirty="0">
                <a:solidFill>
                  <a:srgbClr val="0F2A25"/>
                </a:solidFill>
                <a:latin typeface="Calibri" pitchFamily="34" charset="0"/>
                <a:ea typeface="Calibri" pitchFamily="34" charset="-122"/>
                <a:cs typeface="Calibri" pitchFamily="34" charset="-120"/>
              </a:rPr>
              <a:t>mongo1</a:t>
            </a:r>
            <a:endParaRPr lang="en-US" sz="1500" dirty="0"/>
          </a:p>
        </p:txBody>
      </p:sp>
      <p:sp>
        <p:nvSpPr>
          <p:cNvPr id="8" name="Text 6"/>
          <p:cNvSpPr txBox="1"/>
          <p:nvPr/>
        </p:nvSpPr>
        <p:spPr>
          <a:xfrm>
            <a:off x="2743200" y="315468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PRIMARY · priority 2</a:t>
            </a:r>
            <a:endParaRPr lang="en-US" sz="1100" dirty="0"/>
          </a:p>
        </p:txBody>
      </p:sp>
      <p:sp>
        <p:nvSpPr>
          <p:cNvPr id="9" name="Text 7"/>
          <p:cNvSpPr txBox="1"/>
          <p:nvPr/>
        </p:nvSpPr>
        <p:spPr>
          <a:xfrm>
            <a:off x="2560320" y="341071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CPD principal, más hardware</a:t>
            </a:r>
            <a:endParaRPr lang="en-US" sz="1100" dirty="0"/>
          </a:p>
        </p:txBody>
      </p:sp>
      <p:sp>
        <p:nvSpPr>
          <p:cNvPr id="10" name="Shape 8"/>
          <p:cNvSpPr/>
          <p:nvPr/>
        </p:nvSpPr>
        <p:spPr>
          <a:xfrm>
            <a:off x="1371600" y="3794760"/>
            <a:ext cx="1188720" cy="1188720"/>
          </a:xfrm>
          <a:prstGeom prst="ellipse">
            <a:avLst/>
          </a:prstGeom>
          <a:solidFill>
            <a:srgbClr val="1F7A4D"/>
          </a:solidFill>
          <a:ln w="12700">
            <a:solidFill>
              <a:srgbClr val="1F7A4D"/>
            </a:solidFill>
            <a:prstDash val="solid"/>
          </a:ln>
        </p:spPr>
      </p:sp>
      <p:sp>
        <p:nvSpPr>
          <p:cNvPr id="11" name="Text 9"/>
          <p:cNvSpPr txBox="1"/>
          <p:nvPr/>
        </p:nvSpPr>
        <p:spPr>
          <a:xfrm>
            <a:off x="1371600" y="379476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mongo2</a:t>
            </a:r>
            <a:endParaRPr lang="en-US" sz="1500" dirty="0"/>
          </a:p>
        </p:txBody>
      </p:sp>
      <p:sp>
        <p:nvSpPr>
          <p:cNvPr id="12" name="Text 10"/>
          <p:cNvSpPr txBox="1"/>
          <p:nvPr/>
        </p:nvSpPr>
        <p:spPr>
          <a:xfrm>
            <a:off x="822960" y="50292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SECONDARY · priority 1</a:t>
            </a:r>
            <a:endParaRPr lang="en-US" sz="1100" dirty="0"/>
          </a:p>
        </p:txBody>
      </p:sp>
      <p:sp>
        <p:nvSpPr>
          <p:cNvPr id="13" name="Text 11"/>
          <p:cNvSpPr txBox="1"/>
          <p:nvPr/>
        </p:nvSpPr>
        <p:spPr>
          <a:xfrm>
            <a:off x="640080" y="528523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CPD principal</a:t>
            </a:r>
            <a:endParaRPr lang="en-US" sz="1100" dirty="0"/>
          </a:p>
        </p:txBody>
      </p:sp>
      <p:sp>
        <p:nvSpPr>
          <p:cNvPr id="14" name="Shape 12"/>
          <p:cNvSpPr/>
          <p:nvPr/>
        </p:nvSpPr>
        <p:spPr>
          <a:xfrm>
            <a:off x="5212080" y="3794760"/>
            <a:ext cx="1188720" cy="1188720"/>
          </a:xfrm>
          <a:prstGeom prst="ellipse">
            <a:avLst/>
          </a:prstGeom>
          <a:solidFill>
            <a:srgbClr val="1F7A4D"/>
          </a:solidFill>
          <a:ln w="12700">
            <a:solidFill>
              <a:srgbClr val="1F7A4D"/>
            </a:solidFill>
            <a:prstDash val="solid"/>
          </a:ln>
        </p:spPr>
      </p:sp>
      <p:sp>
        <p:nvSpPr>
          <p:cNvPr id="15" name="Text 13"/>
          <p:cNvSpPr txBox="1"/>
          <p:nvPr/>
        </p:nvSpPr>
        <p:spPr>
          <a:xfrm>
            <a:off x="5212080" y="379476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mongo3</a:t>
            </a:r>
            <a:endParaRPr lang="en-US" sz="1500" dirty="0"/>
          </a:p>
        </p:txBody>
      </p:sp>
      <p:sp>
        <p:nvSpPr>
          <p:cNvPr id="16" name="Text 14"/>
          <p:cNvSpPr txBox="1"/>
          <p:nvPr/>
        </p:nvSpPr>
        <p:spPr>
          <a:xfrm>
            <a:off x="4663440" y="50292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SECONDARY · priority 0</a:t>
            </a:r>
            <a:endParaRPr lang="en-US" sz="1100" dirty="0"/>
          </a:p>
        </p:txBody>
      </p:sp>
      <p:sp>
        <p:nvSpPr>
          <p:cNvPr id="17" name="Text 15"/>
          <p:cNvSpPr txBox="1"/>
          <p:nvPr/>
        </p:nvSpPr>
        <p:spPr>
          <a:xfrm>
            <a:off x="4480560" y="5285232"/>
            <a:ext cx="2651760" cy="457200"/>
          </a:xfrm>
          <a:prstGeom prst="rect">
            <a:avLst/>
          </a:prstGeom>
          <a:noFill/>
          <a:ln/>
        </p:spPr>
        <p:txBody>
          <a:bodyPr wrap="square" lIns="0" tIns="0" rIns="0" bIns="0" rtlCol="0" anchor="t"/>
          <a:lstStyle/>
          <a:p>
            <a:pPr algn="ctr" indent="0" marL="0">
              <a:buNone/>
            </a:pPr>
            <a:r>
              <a:rPr lang="en-US" sz="1100" dirty="0">
                <a:solidFill>
                  <a:srgbClr val="5B6B66"/>
                </a:solidFill>
                <a:latin typeface="Calibri" pitchFamily="34" charset="0"/>
                <a:ea typeface="Calibri" pitchFamily="34" charset="-122"/>
                <a:cs typeface="Calibri" pitchFamily="34" charset="-120"/>
              </a:rPr>
              <a:t>CPD de respaldo: nunca primario</a:t>
            </a:r>
            <a:endParaRPr lang="en-US" sz="1100" dirty="0"/>
          </a:p>
        </p:txBody>
      </p:sp>
      <p:sp>
        <p:nvSpPr>
          <p:cNvPr id="18" name="Text 16"/>
          <p:cNvSpPr txBox="1"/>
          <p:nvPr/>
        </p:nvSpPr>
        <p:spPr>
          <a:xfrm>
            <a:off x="7589520" y="1508760"/>
            <a:ext cx="4053535" cy="4617720"/>
          </a:xfrm>
          <a:prstGeom prst="rect">
            <a:avLst/>
          </a:prstGeom>
          <a:noFill/>
          <a:ln/>
        </p:spPr>
        <p:txBody>
          <a:bodyPr wrap="square" lIns="0" tIns="0" rIns="0" bIns="0" rtlCol="0" anchor="t"/>
          <a:lstStyle/>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Prioridad de </a:t>
            </a:r>
            <a:r>
              <a:rPr lang="en-US" sz="1600" b="1" dirty="0">
                <a:solidFill>
                  <a:srgbClr val="1C2B27"/>
                </a:solidFill>
                <a:latin typeface="Calibri" pitchFamily="34" charset="0"/>
                <a:ea typeface="Calibri" pitchFamily="34" charset="-122"/>
                <a:cs typeface="Calibri" pitchFamily="34" charset="-120"/>
              </a:rPr>
              <a:t>0 a 1000</a:t>
            </a:r>
            <a:r>
              <a:rPr lang="en-US" sz="1600" dirty="0">
                <a:solidFill>
                  <a:srgbClr val="1C2B27"/>
                </a:solidFill>
                <a:latin typeface="Calibri" pitchFamily="34" charset="0"/>
                <a:ea typeface="Calibri" pitchFamily="34" charset="-122"/>
                <a:cs typeface="Calibri" pitchFamily="34" charset="-120"/>
              </a:rPr>
              <a:t>; por defecto </a:t>
            </a:r>
            <a:r>
              <a:rPr lang="en-US" sz="1600" b="1" dirty="0">
                <a:solidFill>
                  <a:srgbClr val="1C2B27"/>
                </a:solidFill>
                <a:latin typeface="Calibri" pitchFamily="34" charset="0"/>
                <a:ea typeface="Calibri" pitchFamily="34" charset="-122"/>
                <a:cs typeface="Calibri" pitchFamily="34" charset="-120"/>
              </a:rPr>
              <a:t>1</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El nodo con más prioridad y al día </a:t>
            </a:r>
            <a:r>
              <a:rPr lang="en-US" sz="1600" b="1" dirty="0">
                <a:solidFill>
                  <a:srgbClr val="1C2B27"/>
                </a:solidFill>
                <a:latin typeface="Calibri" pitchFamily="34" charset="0"/>
                <a:ea typeface="Calibri" pitchFamily="34" charset="-122"/>
                <a:cs typeface="Calibri" pitchFamily="34" charset="-120"/>
              </a:rPr>
              <a:t>convoca una elección</a:t>
            </a:r>
            <a:r>
              <a:rPr lang="en-US" sz="1600" dirty="0">
                <a:solidFill>
                  <a:srgbClr val="1C2B27"/>
                </a:solidFill>
                <a:latin typeface="Calibri" pitchFamily="34" charset="0"/>
                <a:ea typeface="Calibri" pitchFamily="34" charset="-122"/>
                <a:cs typeface="Calibri" pitchFamily="34" charset="-120"/>
              </a:rPr>
              <a:t> para ser primario (priority takeover)</a:t>
            </a:r>
            <a:endParaRPr lang="en-US" sz="1600" dirty="0"/>
          </a:p>
          <a:p>
            <a:pPr marL="254000" indent="-254000">
              <a:spcAft>
                <a:spcPts val="1000"/>
              </a:spcAft>
              <a:buSzPct val="100000"/>
              <a:buChar char="●"/>
            </a:pPr>
            <a:r>
              <a:rPr lang="en-US" sz="1600" b="1" dirty="0">
                <a:solidFill>
                  <a:srgbClr val="1C2B27"/>
                </a:solidFill>
                <a:latin typeface="Calibri" pitchFamily="34" charset="0"/>
                <a:ea typeface="Calibri" pitchFamily="34" charset="-122"/>
                <a:cs typeface="Calibri" pitchFamily="34" charset="-120"/>
              </a:rPr>
              <a:t>priority: 0</a:t>
            </a:r>
            <a:r>
              <a:rPr lang="en-US" sz="1600" dirty="0">
                <a:solidFill>
                  <a:srgbClr val="1C2B27"/>
                </a:solidFill>
                <a:latin typeface="Calibri" pitchFamily="34" charset="0"/>
                <a:ea typeface="Calibri" pitchFamily="34" charset="-122"/>
                <a:cs typeface="Calibri" pitchFamily="34" charset="-120"/>
              </a:rPr>
              <a:t>: nunca primario, pero sí vota</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Con prioridades iguales, no hay elecciones innecesarias</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Cambiar prioridades es un </a:t>
            </a:r>
            <a:r>
              <a:rPr lang="en-US" sz="1600" b="1" dirty="0">
                <a:solidFill>
                  <a:srgbClr val="1C2B27"/>
                </a:solidFill>
                <a:latin typeface="Calibri" pitchFamily="34" charset="0"/>
                <a:ea typeface="Calibri" pitchFamily="34" charset="-122"/>
                <a:cs typeface="Calibri" pitchFamily="34" charset="-120"/>
              </a:rPr>
              <a:t>rs.reconfig()</a:t>
            </a:r>
            <a:r>
              <a:rPr lang="en-US" sz="1600" dirty="0">
                <a:solidFill>
                  <a:srgbClr val="1C2B27"/>
                </a:solidFill>
                <a:latin typeface="Calibri" pitchFamily="34" charset="0"/>
                <a:ea typeface="Calibri" pitchFamily="34" charset="-122"/>
                <a:cs typeface="Calibri" pitchFamily="34" charset="-120"/>
              </a:rPr>
              <a:t> en caliente</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23 / 34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3D35"/>
        </a:solidFill>
      </p:bgPr>
    </p:bg>
    <p:spTree>
      <p:nvGrpSpPr>
        <p:cNvPr id="1" name=""/>
        <p:cNvGrpSpPr/>
        <p:nvPr/>
      </p:nvGrpSpPr>
      <p:grpSpPr>
        <a:xfrm>
          <a:off x="0" y="0"/>
          <a:ext cx="0" cy="0"/>
          <a:chOff x="0" y="0"/>
          <a:chExt cx="0" cy="0"/>
        </a:xfrm>
      </p:grpSpPr>
      <p:sp>
        <p:nvSpPr>
          <p:cNvPr id="2" name="Shape 0"/>
          <p:cNvSpPr/>
          <p:nvPr/>
        </p:nvSpPr>
        <p:spPr>
          <a:xfrm>
            <a:off x="548640" y="1463040"/>
            <a:ext cx="822960" cy="822960"/>
          </a:xfrm>
          <a:prstGeom prst="ellipse">
            <a:avLst/>
          </a:prstGeom>
          <a:solidFill>
            <a:srgbClr val="F2B33D"/>
          </a:solidFill>
          <a:ln w="12700">
            <a:solidFill>
              <a:srgbClr val="F2B33D"/>
            </a:solidFill>
            <a:prstDash val="solid"/>
          </a:ln>
        </p:spPr>
      </p:sp>
      <p:sp>
        <p:nvSpPr>
          <p:cNvPr id="3" name="Text 1"/>
          <p:cNvSpPr txBox="1"/>
          <p:nvPr/>
        </p:nvSpPr>
        <p:spPr>
          <a:xfrm>
            <a:off x="548640" y="1463040"/>
            <a:ext cx="822960" cy="822960"/>
          </a:xfrm>
          <a:prstGeom prst="rect">
            <a:avLst/>
          </a:prstGeom>
          <a:noFill/>
          <a:ln/>
        </p:spPr>
        <p:txBody>
          <a:bodyPr wrap="square" lIns="0" tIns="0" rIns="0" bIns="0" rtlCol="0" anchor="ctr"/>
          <a:lstStyle/>
          <a:p>
            <a:pPr algn="ctr" indent="0" marL="0">
              <a:buNone/>
            </a:pPr>
            <a:r>
              <a:rPr lang="en-US" sz="2600" b="1" dirty="0">
                <a:solidFill>
                  <a:srgbClr val="0F2A25"/>
                </a:solidFill>
                <a:latin typeface="Cambria" pitchFamily="34" charset="0"/>
                <a:ea typeface="Cambria" pitchFamily="34" charset="-122"/>
                <a:cs typeface="Cambria" pitchFamily="34" charset="-120"/>
              </a:rPr>
              <a:t>✓</a:t>
            </a:r>
            <a:endParaRPr lang="en-US" sz="2600" dirty="0"/>
          </a:p>
        </p:txBody>
      </p:sp>
      <p:sp>
        <p:nvSpPr>
          <p:cNvPr id="4" name="Text 2"/>
          <p:cNvSpPr txBox="1"/>
          <p:nvPr/>
        </p:nvSpPr>
        <p:spPr>
          <a:xfrm>
            <a:off x="1645920" y="1645920"/>
            <a:ext cx="7315200" cy="41148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LA COMBINACIÓN SENSATA POR DEFECTO</a:t>
            </a:r>
            <a:endParaRPr lang="en-US" sz="1400" dirty="0"/>
          </a:p>
        </p:txBody>
      </p:sp>
      <p:sp>
        <p:nvSpPr>
          <p:cNvPr id="5" name="Text 3"/>
          <p:cNvSpPr txBox="1"/>
          <p:nvPr/>
        </p:nvSpPr>
        <p:spPr>
          <a:xfrm>
            <a:off x="548640" y="2560320"/>
            <a:ext cx="10637215" cy="21945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Escribir con w: "majority", leer del primario con read concern local, y reservar secundarios y tags para cargas que toleran retraso.</a:t>
            </a:r>
            <a:endParaRPr lang="en-US" sz="2800" dirty="0"/>
          </a:p>
        </p:txBody>
      </p:sp>
      <p:sp>
        <p:nvSpPr>
          <p:cNvPr id="6" name="Text 4"/>
          <p:cNvSpPr txBox="1"/>
          <p:nvPr/>
        </p:nvSpPr>
        <p:spPr>
          <a:xfrm>
            <a:off x="548640" y="4846320"/>
            <a:ext cx="10637215" cy="914400"/>
          </a:xfrm>
          <a:prstGeom prst="rect">
            <a:avLst/>
          </a:prstGeom>
          <a:noFill/>
          <a:ln/>
        </p:spPr>
        <p:txBody>
          <a:bodyPr wrap="square" lIns="0" tIns="0" rIns="0" bIns="0" rtlCol="0" anchor="t"/>
          <a:lstStyle/>
          <a:p>
            <a:pPr indent="0" marL="0">
              <a:buNone/>
            </a:pPr>
            <a:r>
              <a:rPr lang="en-US" sz="1700" dirty="0">
                <a:solidFill>
                  <a:srgbClr val="CFE3D8"/>
                </a:solidFill>
                <a:latin typeface="Calibri" pitchFamily="34" charset="0"/>
                <a:ea typeface="Calibri" pitchFamily="34" charset="-122"/>
                <a:cs typeface="Calibri" pitchFamily="34" charset="-120"/>
              </a:rPr>
              <a:t>Las excepciones deben ser decisiones explícitas y documentadas: w: 1 para datos que se pueden perder, majority o linearizable para lecturas críticas, nearest para aplicaciones geodistribuidas.</a:t>
            </a:r>
            <a:endParaRPr lang="en-US" sz="17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24 / 34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06</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Write concern, read concern, prioridades y tags</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Escribir con w: 1, majority y w: 3 con un nodo caído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Ver qué nodo atiende cada lectura según la read preference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Probar read concern local, majority y linearizable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Cambiar prioridades y provocar un priority takeover</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Etiquetar nodos, dirigir lecturas y configurar un secundario oculto y retrasado</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35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dia2/lab06-concerns-prioridades-tags/README.md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25 / 34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7</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Alta disponibilidad en la práctica</a:t>
            </a:r>
            <a:endParaRPr lang="en-US" sz="3600" dirty="0"/>
          </a:p>
        </p:txBody>
      </p:sp>
      <p:sp>
        <p:nvSpPr>
          <p:cNvPr id="6" name="Text 4"/>
          <p:cNvSpPr txBox="1"/>
          <p:nvPr/>
        </p:nvSpPr>
        <p:spPr>
          <a:xfrm>
            <a:off x="2377440" y="32004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Qué ve la aplicación y cómo se opera sin cortar el servicio</a:t>
            </a:r>
            <a:endParaRPr lang="en-US" sz="1800" dirty="0"/>
          </a:p>
        </p:txBody>
      </p:sp>
      <p:sp>
        <p:nvSpPr>
          <p:cNvPr id="7" name="Shape 5"/>
          <p:cNvSpPr/>
          <p:nvPr/>
        </p:nvSpPr>
        <p:spPr>
          <a:xfrm>
            <a:off x="2377440" y="406908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Failover automático</a:t>
            </a:r>
            <a:endParaRPr lang="en-US" sz="1600" dirty="0"/>
          </a:p>
        </p:txBody>
      </p:sp>
      <p:sp>
        <p:nvSpPr>
          <p:cNvPr id="9" name="Shape 7"/>
          <p:cNvSpPr/>
          <p:nvPr/>
        </p:nvSpPr>
        <p:spPr>
          <a:xfrm>
            <a:off x="5557418" y="406908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 que ve la aplicación</a:t>
            </a:r>
            <a:endParaRPr lang="en-US" sz="1600" dirty="0"/>
          </a:p>
        </p:txBody>
      </p:sp>
      <p:sp>
        <p:nvSpPr>
          <p:cNvPr id="11" name="Shape 9"/>
          <p:cNvSpPr/>
          <p:nvPr/>
        </p:nvSpPr>
        <p:spPr>
          <a:xfrm>
            <a:off x="8737397" y="406908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Descubrimiento de nodos</a:t>
            </a:r>
            <a:endParaRPr lang="en-US" sz="1600" dirty="0"/>
          </a:p>
        </p:txBody>
      </p:sp>
      <p:sp>
        <p:nvSpPr>
          <p:cNvPr id="13" name="Shape 11"/>
          <p:cNvSpPr/>
          <p:nvPr/>
        </p:nvSpPr>
        <p:spPr>
          <a:xfrm>
            <a:off x="2377440" y="498348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Lecturas en secundarios</a:t>
            </a:r>
            <a:endParaRPr lang="en-US" sz="1600" dirty="0"/>
          </a:p>
        </p:txBody>
      </p:sp>
      <p:sp>
        <p:nvSpPr>
          <p:cNvPr id="15" name="Shape 13"/>
          <p:cNvSpPr/>
          <p:nvPr/>
        </p:nvSpPr>
        <p:spPr>
          <a:xfrm>
            <a:off x="5557418" y="498348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Mantenimiento rolling</a:t>
            </a:r>
            <a:endParaRPr lang="en-US" sz="1600" dirty="0"/>
          </a:p>
        </p:txBody>
      </p:sp>
      <p:sp>
        <p:nvSpPr>
          <p:cNvPr id="17" name="Shape 15"/>
          <p:cNvSpPr/>
          <p:nvPr/>
        </p:nvSpPr>
        <p:spPr>
          <a:xfrm>
            <a:off x="8737397" y="498348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Geodistribución</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26 / 34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Anatomía de un failover</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 s</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Fallo</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primario deja de responder: caída del proceso, del servidor o de la red.</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Detección</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Los secundarios esperan electionTimeoutMillis sin heartbeats.</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+1-2</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Elección</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 candidato consigue la mayoría y pasa a PRIMARY.</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Descubrimiento</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Los drivers detectan el nuevo primario y redirigen el tráfico.</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Recuperación</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nodo caído vuelve como SECONDARY y se pone al día desde el oplog.</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Corte típico de escrituras: 10-15 segundos en un fallo no planificado; 1-2 segundos con rs.stepDown() planificado.</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27 / 34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Qué ve la aplicación durante un failover</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retryWrites=true</a:t>
            </a:r>
            <a:r>
              <a:rPr lang="en-US" sz="2000" dirty="0">
                <a:solidFill>
                  <a:srgbClr val="1C2B27"/>
                </a:solidFill>
                <a:latin typeface="Calibri" pitchFamily="34" charset="0"/>
                <a:ea typeface="Calibri" pitchFamily="34" charset="-122"/>
                <a:cs typeface="Calibri" pitchFamily="34" charset="-120"/>
              </a:rPr>
              <a:t> (por defecto): el driver reintenta </a:t>
            </a:r>
            <a:r>
              <a:rPr lang="en-US" sz="2000" b="1" dirty="0">
                <a:solidFill>
                  <a:srgbClr val="1C2B27"/>
                </a:solidFill>
                <a:latin typeface="Calibri" pitchFamily="34" charset="0"/>
                <a:ea typeface="Calibri" pitchFamily="34" charset="-122"/>
                <a:cs typeface="Calibri" pitchFamily="34" charset="-120"/>
              </a:rPr>
              <a:t>una vez</a:t>
            </a:r>
            <a:r>
              <a:rPr lang="en-US" sz="2000" dirty="0">
                <a:solidFill>
                  <a:srgbClr val="1C2B27"/>
                </a:solidFill>
                <a:latin typeface="Calibri" pitchFamily="34" charset="0"/>
                <a:ea typeface="Calibri" pitchFamily="34" charset="-122"/>
                <a:cs typeface="Calibri" pitchFamily="34" charset="-120"/>
              </a:rPr>
              <a:t> las escrituras que fallan por un cambio de primario</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retryReads=true</a:t>
            </a:r>
            <a:r>
              <a:rPr lang="en-US" sz="2000" dirty="0">
                <a:solidFill>
                  <a:srgbClr val="1C2B27"/>
                </a:solidFill>
                <a:latin typeface="Calibri" pitchFamily="34" charset="0"/>
                <a:ea typeface="Calibri" pitchFamily="34" charset="-122"/>
                <a:cs typeface="Calibri" pitchFamily="34" charset="-120"/>
              </a:rPr>
              <a:t> (por defecto): lo mismo para lecturas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serverSelectionTimeoutMS</a:t>
            </a:r>
            <a:r>
              <a:rPr lang="en-US" sz="2000" dirty="0">
                <a:solidFill>
                  <a:srgbClr val="1C2B27"/>
                </a:solidFill>
                <a:latin typeface="Calibri" pitchFamily="34" charset="0"/>
                <a:ea typeface="Calibri" pitchFamily="34" charset="-122"/>
                <a:cs typeface="Calibri" pitchFamily="34" charset="-120"/>
              </a:rPr>
              <a:t> (30 s): tiempo que el driver espera a encontrar un nodo adecuado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Resultado habitual: </a:t>
            </a:r>
            <a:r>
              <a:rPr lang="en-US" sz="2000" b="1" dirty="0">
                <a:solidFill>
                  <a:srgbClr val="1C2B27"/>
                </a:solidFill>
                <a:latin typeface="Calibri" pitchFamily="34" charset="0"/>
                <a:ea typeface="Calibri" pitchFamily="34" charset="-122"/>
                <a:cs typeface="Calibri" pitchFamily="34" charset="-120"/>
              </a:rPr>
              <a:t>escrituras lentas</a:t>
            </a:r>
            <a:r>
              <a:rPr lang="en-US" sz="2000" dirty="0">
                <a:solidFill>
                  <a:srgbClr val="1C2B27"/>
                </a:solidFill>
                <a:latin typeface="Calibri" pitchFamily="34" charset="0"/>
                <a:ea typeface="Calibri" pitchFamily="34" charset="-122"/>
                <a:cs typeface="Calibri" pitchFamily="34" charset="-120"/>
              </a:rPr>
              <a:t>, no errores, durante unos segundos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Operaciones no reintentables: algunas escrituras multidocumento con w: 0, operaciones sobre cursores ya abiertos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Las transacciones devuelven </a:t>
            </a:r>
            <a:r>
              <a:rPr lang="en-US" sz="2000" b="1" dirty="0">
                <a:solidFill>
                  <a:srgbClr val="1C2B27"/>
                </a:solidFill>
                <a:latin typeface="Calibri" pitchFamily="34" charset="0"/>
                <a:ea typeface="Calibri" pitchFamily="34" charset="-122"/>
                <a:cs typeface="Calibri" pitchFamily="34" charset="-120"/>
              </a:rPr>
              <a:t>TransientTransactionError</a:t>
            </a:r>
            <a:r>
              <a:rPr lang="en-US" sz="2000" dirty="0">
                <a:solidFill>
                  <a:srgbClr val="1C2B27"/>
                </a:solidFill>
                <a:latin typeface="Calibri" pitchFamily="34" charset="0"/>
                <a:ea typeface="Calibri" pitchFamily="34" charset="-122"/>
                <a:cs typeface="Calibri" pitchFamily="34" charset="-120"/>
              </a:rPr>
              <a:t>: la aplicación debe reintentarlas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Pedid a desarrollo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Drivers actualizados, una única URI con el replica set completo, retryWrites activado, manejo de TransientTransactionError en transacciones y timeouts coherentes con el tiempo de failover.</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28 / 34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Descubrimiento de nodos</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La URI lleva una </a:t>
            </a:r>
            <a:r>
              <a:rPr lang="en-US" sz="2000" b="1" dirty="0">
                <a:solidFill>
                  <a:srgbClr val="1C2B27"/>
                </a:solidFill>
                <a:latin typeface="Calibri" pitchFamily="34" charset="0"/>
                <a:ea typeface="Calibri" pitchFamily="34" charset="-122"/>
                <a:cs typeface="Calibri" pitchFamily="34" charset="-120"/>
              </a:rPr>
              <a:t>lista semilla</a:t>
            </a:r>
            <a:r>
              <a:rPr lang="en-US" sz="2000" dirty="0">
                <a:solidFill>
                  <a:srgbClr val="1C2B27"/>
                </a:solidFill>
                <a:latin typeface="Calibri" pitchFamily="34" charset="0"/>
                <a:ea typeface="Calibri" pitchFamily="34" charset="-122"/>
                <a:cs typeface="Calibri" pitchFamily="34" charset="-120"/>
              </a:rPr>
              <a:t> y el nombre del replica set</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driver pregunta con </a:t>
            </a:r>
            <a:r>
              <a:rPr lang="en-US" sz="2000" b="1" dirty="0">
                <a:solidFill>
                  <a:srgbClr val="1C2B27"/>
                </a:solidFill>
                <a:latin typeface="Calibri" pitchFamily="34" charset="0"/>
                <a:ea typeface="Calibri" pitchFamily="34" charset="-122"/>
                <a:cs typeface="Calibri" pitchFamily="34" charset="-120"/>
              </a:rPr>
              <a:t>hello</a:t>
            </a:r>
            <a:r>
              <a:rPr lang="en-US" sz="2000" dirty="0">
                <a:solidFill>
                  <a:srgbClr val="1C2B27"/>
                </a:solidFill>
                <a:latin typeface="Calibri" pitchFamily="34" charset="0"/>
                <a:ea typeface="Calibri" pitchFamily="34" charset="-122"/>
                <a:cs typeface="Calibri" pitchFamily="34" charset="-120"/>
              </a:rPr>
              <a:t> quiénes son los miembros y quién es el primario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Después abre conexiones a </a:t>
            </a:r>
            <a:r>
              <a:rPr lang="en-US" sz="2000" b="1" dirty="0">
                <a:solidFill>
                  <a:srgbClr val="1C2B27"/>
                </a:solidFill>
                <a:latin typeface="Calibri" pitchFamily="34" charset="0"/>
                <a:ea typeface="Calibri" pitchFamily="34" charset="-122"/>
                <a:cs typeface="Calibri" pitchFamily="34" charset="-120"/>
              </a:rPr>
              <a:t>todos</a:t>
            </a:r>
            <a:r>
              <a:rPr lang="en-US" sz="2000" dirty="0">
                <a:solidFill>
                  <a:srgbClr val="1C2B27"/>
                </a:solidFill>
                <a:latin typeface="Calibri" pitchFamily="34" charset="0"/>
                <a:ea typeface="Calibri" pitchFamily="34" charset="-122"/>
                <a:cs typeface="Calibri" pitchFamily="34" charset="-120"/>
              </a:rPr>
              <a:t> y los vigila periódicamente</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directConnection=true</a:t>
            </a:r>
            <a:r>
              <a:rPr lang="en-US" sz="2000" dirty="0">
                <a:solidFill>
                  <a:srgbClr val="1C2B27"/>
                </a:solidFill>
                <a:latin typeface="Calibri" pitchFamily="34" charset="0"/>
                <a:ea typeface="Calibri" pitchFamily="34" charset="-122"/>
                <a:cs typeface="Calibri" pitchFamily="34" charset="-120"/>
              </a:rPr>
              <a:t>: habla solo con ese nodo (tareas de administración)</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mongodb+srv://</a:t>
            </a:r>
            <a:r>
              <a:rPr lang="en-US" sz="2000" dirty="0">
                <a:solidFill>
                  <a:srgbClr val="1C2B27"/>
                </a:solidFill>
                <a:latin typeface="Calibri" pitchFamily="34" charset="0"/>
                <a:ea typeface="Calibri" pitchFamily="34" charset="-122"/>
                <a:cs typeface="Calibri" pitchFamily="34" charset="-120"/>
              </a:rPr>
              <a:t>: la lista de nodos se obtiene de un registro DNS SRV</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Los nombres de host de </a:t>
            </a:r>
            <a:r>
              <a:rPr lang="en-US" sz="2000" b="1" dirty="0">
                <a:solidFill>
                  <a:srgbClr val="1C2B27"/>
                </a:solidFill>
                <a:latin typeface="Calibri" pitchFamily="34" charset="0"/>
                <a:ea typeface="Calibri" pitchFamily="34" charset="-122"/>
                <a:cs typeface="Calibri" pitchFamily="34" charset="-120"/>
              </a:rPr>
              <a:t>rs.conf()</a:t>
            </a:r>
            <a:r>
              <a:rPr lang="en-US" sz="2000" dirty="0">
                <a:solidFill>
                  <a:srgbClr val="1C2B27"/>
                </a:solidFill>
                <a:latin typeface="Calibri" pitchFamily="34" charset="0"/>
                <a:ea typeface="Calibri" pitchFamily="34" charset="-122"/>
                <a:cs typeface="Calibri" pitchFamily="34" charset="-120"/>
              </a:rPr>
              <a:t> deben resolverse desde los clientes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URI</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Una buena cadena de conexión</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mongodb://app@mongo1:27017,mongo2:27017,mongo3:27017/tienda?replicaSet=rs0&amp;authSource=admin&amp;w=majority&amp;retryWrites=true</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29 / 34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Lecturas en secundarios: cuándo sí y cuándo no</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Buena idea</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Informes y analítica que toleran segundos de retraso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Cargas pesadas aisladas en un nodo con tag (o un nodo oculto)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Aplicaciones geodistribuidas con nearest</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Seguir leyendo durante un failover (primaryPreferred)</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Mala idea</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Como forma de </a:t>
            </a:r>
            <a:r>
              <a:rPr lang="en-US" sz="1800" b="1" dirty="0">
                <a:solidFill>
                  <a:srgbClr val="1C2B27"/>
                </a:solidFill>
                <a:latin typeface="Calibri" pitchFamily="34" charset="0"/>
                <a:ea typeface="Calibri" pitchFamily="34" charset="-122"/>
                <a:cs typeface="Calibri" pitchFamily="34" charset="-120"/>
              </a:rPr>
              <a:t>escalar</a:t>
            </a:r>
            <a:r>
              <a:rPr lang="en-US" sz="1800" dirty="0">
                <a:solidFill>
                  <a:srgbClr val="1C2B27"/>
                </a:solidFill>
                <a:latin typeface="Calibri" pitchFamily="34" charset="0"/>
                <a:ea typeface="Calibri" pitchFamily="34" charset="-122"/>
                <a:cs typeface="Calibri" pitchFamily="34" charset="-120"/>
              </a:rPr>
              <a:t>: cada secundario aplica </a:t>
            </a:r>
            <a:r>
              <a:rPr lang="en-US" sz="1800" b="1" dirty="0">
                <a:solidFill>
                  <a:srgbClr val="1C2B27"/>
                </a:solidFill>
                <a:latin typeface="Calibri" pitchFamily="34" charset="0"/>
                <a:ea typeface="Calibri" pitchFamily="34" charset="-122"/>
                <a:cs typeface="Calibri" pitchFamily="34" charset="-120"/>
              </a:rPr>
              <a:t>todas</a:t>
            </a:r>
            <a:r>
              <a:rPr lang="en-US" sz="1800" dirty="0">
                <a:solidFill>
                  <a:srgbClr val="1C2B27"/>
                </a:solidFill>
                <a:latin typeface="Calibri" pitchFamily="34" charset="0"/>
                <a:ea typeface="Calibri" pitchFamily="34" charset="-122"/>
                <a:cs typeface="Calibri" pitchFamily="34" charset="-120"/>
              </a:rPr>
              <a:t> las escrituras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Cuando la aplicación lee lo que acaba de escribir</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Si al caer un nodo los demás no aguantan la carga total</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Sin vigilar el </a:t>
            </a:r>
            <a:r>
              <a:rPr lang="en-US" sz="1800" b="1" dirty="0">
                <a:solidFill>
                  <a:srgbClr val="1C2B27"/>
                </a:solidFill>
                <a:latin typeface="Calibri" pitchFamily="34" charset="0"/>
                <a:ea typeface="Calibri" pitchFamily="34" charset="-122"/>
                <a:cs typeface="Calibri" pitchFamily="34" charset="-120"/>
              </a:rPr>
              <a:t>lag</a:t>
            </a:r>
            <a:r>
              <a:rPr lang="en-US" sz="1800" dirty="0">
                <a:solidFill>
                  <a:srgbClr val="1C2B27"/>
                </a:solidFill>
                <a:latin typeface="Calibri" pitchFamily="34" charset="0"/>
                <a:ea typeface="Calibri" pitchFamily="34" charset="-122"/>
                <a:cs typeface="Calibri" pitchFamily="34" charset="-120"/>
              </a:rPr>
              <a:t>: se sirven datos obsoletos sin saberlo</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30 / 34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Mantenimiento rolling</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Secundario 1</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Parar, mantener, arrancar. Esperar a SECONDARY y lag 0.</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Secundario 2</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Igual, de uno en uno. Nunca dos a la vez.</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stepDown</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rs.stepDown() en el primario: otro nodo toma el relevo en 1-2 s.</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Antiguo primario</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Ahora es secundario: parar, mantener, arrancar, esperar.</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Verificar</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rs.status(), lag, logs y, si procede, volver al primario preferido.</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Sirve para parches del SO, actualizaciones de MongoDB, cambios de configuración que exigen reinicio y cambios de hardware.</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31 / 34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Geodistribución: tres ubicaciones</a:t>
            </a:r>
            <a:endParaRPr lang="en-US" sz="3200" dirty="0"/>
          </a:p>
        </p:txBody>
      </p:sp>
      <p:sp>
        <p:nvSpPr>
          <p:cNvPr id="3" name="Shape 1"/>
          <p:cNvSpPr/>
          <p:nvPr/>
        </p:nvSpPr>
        <p:spPr>
          <a:xfrm>
            <a:off x="548640" y="1508760"/>
            <a:ext cx="6675120" cy="4617720"/>
          </a:xfrm>
          <a:prstGeom prst="roundRect">
            <a:avLst>
              <a:gd name="adj" fmla="val 2376"/>
            </a:avLst>
          </a:prstGeom>
          <a:solidFill>
            <a:srgbClr val="F4F9F6"/>
          </a:solidFill>
          <a:ln w="12700">
            <a:solidFill>
              <a:srgbClr val="D5DDD9"/>
            </a:solidFill>
            <a:prstDash val="solid"/>
          </a:ln>
        </p:spPr>
      </p:sp>
      <p:sp>
        <p:nvSpPr>
          <p:cNvPr id="4" name="Shape 2"/>
          <p:cNvSpPr/>
          <p:nvPr/>
        </p:nvSpPr>
        <p:spPr>
          <a:xfrm>
            <a:off x="1097280" y="1965960"/>
            <a:ext cx="1188720" cy="1188720"/>
          </a:xfrm>
          <a:prstGeom prst="ellipse">
            <a:avLst/>
          </a:prstGeom>
          <a:solidFill>
            <a:srgbClr val="F2B33D"/>
          </a:solidFill>
          <a:ln w="12700">
            <a:solidFill>
              <a:srgbClr val="F2B33D"/>
            </a:solidFill>
            <a:prstDash val="solid"/>
          </a:ln>
        </p:spPr>
      </p:sp>
      <p:sp>
        <p:nvSpPr>
          <p:cNvPr id="5" name="Text 3"/>
          <p:cNvSpPr txBox="1"/>
          <p:nvPr/>
        </p:nvSpPr>
        <p:spPr>
          <a:xfrm>
            <a:off x="1097280" y="1965960"/>
            <a:ext cx="1188720" cy="1188720"/>
          </a:xfrm>
          <a:prstGeom prst="rect">
            <a:avLst/>
          </a:prstGeom>
          <a:noFill/>
          <a:ln/>
        </p:spPr>
        <p:txBody>
          <a:bodyPr wrap="square" lIns="0" tIns="0" rIns="0" bIns="0" rtlCol="0" anchor="ctr"/>
          <a:lstStyle/>
          <a:p>
            <a:pPr algn="ctr" indent="0" marL="0">
              <a:buNone/>
            </a:pPr>
            <a:r>
              <a:rPr lang="en-US" sz="1500" b="1" dirty="0">
                <a:solidFill>
                  <a:srgbClr val="0F2A25"/>
                </a:solidFill>
                <a:latin typeface="Calibri" pitchFamily="34" charset="0"/>
                <a:ea typeface="Calibri" pitchFamily="34" charset="-122"/>
                <a:cs typeface="Calibri" pitchFamily="34" charset="-120"/>
              </a:rPr>
              <a:t>M1</a:t>
            </a:r>
            <a:endParaRPr lang="en-US" sz="1500" dirty="0"/>
          </a:p>
        </p:txBody>
      </p:sp>
      <p:sp>
        <p:nvSpPr>
          <p:cNvPr id="6" name="Text 4"/>
          <p:cNvSpPr txBox="1"/>
          <p:nvPr/>
        </p:nvSpPr>
        <p:spPr>
          <a:xfrm>
            <a:off x="548640" y="32004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Madrid · prio 2</a:t>
            </a:r>
            <a:endParaRPr lang="en-US" sz="1100" dirty="0"/>
          </a:p>
        </p:txBody>
      </p:sp>
      <p:sp>
        <p:nvSpPr>
          <p:cNvPr id="7" name="Shape 5"/>
          <p:cNvSpPr/>
          <p:nvPr/>
        </p:nvSpPr>
        <p:spPr>
          <a:xfrm>
            <a:off x="2743200" y="1965960"/>
            <a:ext cx="1188720" cy="1188720"/>
          </a:xfrm>
          <a:prstGeom prst="ellipse">
            <a:avLst/>
          </a:prstGeom>
          <a:solidFill>
            <a:srgbClr val="1F7A4D"/>
          </a:solidFill>
          <a:ln w="12700">
            <a:solidFill>
              <a:srgbClr val="1F7A4D"/>
            </a:solidFill>
            <a:prstDash val="solid"/>
          </a:ln>
        </p:spPr>
      </p:sp>
      <p:sp>
        <p:nvSpPr>
          <p:cNvPr id="8" name="Text 6"/>
          <p:cNvSpPr txBox="1"/>
          <p:nvPr/>
        </p:nvSpPr>
        <p:spPr>
          <a:xfrm>
            <a:off x="2743200" y="196596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9" name="Text 7"/>
          <p:cNvSpPr txBox="1"/>
          <p:nvPr/>
        </p:nvSpPr>
        <p:spPr>
          <a:xfrm>
            <a:off x="2194560" y="320040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Madrid · prio 2</a:t>
            </a:r>
            <a:endParaRPr lang="en-US" sz="1100" dirty="0"/>
          </a:p>
        </p:txBody>
      </p:sp>
      <p:sp>
        <p:nvSpPr>
          <p:cNvPr id="10" name="Shape 8"/>
          <p:cNvSpPr/>
          <p:nvPr/>
        </p:nvSpPr>
        <p:spPr>
          <a:xfrm>
            <a:off x="1097280" y="3886200"/>
            <a:ext cx="1188720" cy="1188720"/>
          </a:xfrm>
          <a:prstGeom prst="ellipse">
            <a:avLst/>
          </a:prstGeom>
          <a:solidFill>
            <a:srgbClr val="1F7A4D"/>
          </a:solidFill>
          <a:ln w="12700">
            <a:solidFill>
              <a:srgbClr val="1F7A4D"/>
            </a:solidFill>
            <a:prstDash val="solid"/>
          </a:ln>
        </p:spPr>
      </p:sp>
      <p:sp>
        <p:nvSpPr>
          <p:cNvPr id="11" name="Text 9"/>
          <p:cNvSpPr txBox="1"/>
          <p:nvPr/>
        </p:nvSpPr>
        <p:spPr>
          <a:xfrm>
            <a:off x="1097280" y="388620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B1</a:t>
            </a:r>
            <a:endParaRPr lang="en-US" sz="1500" dirty="0"/>
          </a:p>
        </p:txBody>
      </p:sp>
      <p:sp>
        <p:nvSpPr>
          <p:cNvPr id="12" name="Text 10"/>
          <p:cNvSpPr txBox="1"/>
          <p:nvPr/>
        </p:nvSpPr>
        <p:spPr>
          <a:xfrm>
            <a:off x="548640" y="512064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Barcelona · prio 1</a:t>
            </a:r>
            <a:endParaRPr lang="en-US" sz="1100" dirty="0"/>
          </a:p>
        </p:txBody>
      </p:sp>
      <p:sp>
        <p:nvSpPr>
          <p:cNvPr id="13" name="Shape 11"/>
          <p:cNvSpPr/>
          <p:nvPr/>
        </p:nvSpPr>
        <p:spPr>
          <a:xfrm>
            <a:off x="2743200" y="3886200"/>
            <a:ext cx="1188720" cy="1188720"/>
          </a:xfrm>
          <a:prstGeom prst="ellipse">
            <a:avLst/>
          </a:prstGeom>
          <a:solidFill>
            <a:srgbClr val="1F7A4D"/>
          </a:solidFill>
          <a:ln w="12700">
            <a:solidFill>
              <a:srgbClr val="1F7A4D"/>
            </a:solidFill>
            <a:prstDash val="solid"/>
          </a:ln>
        </p:spPr>
      </p:sp>
      <p:sp>
        <p:nvSpPr>
          <p:cNvPr id="14" name="Text 12"/>
          <p:cNvSpPr txBox="1"/>
          <p:nvPr/>
        </p:nvSpPr>
        <p:spPr>
          <a:xfrm>
            <a:off x="2743200" y="388620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B2</a:t>
            </a:r>
            <a:endParaRPr lang="en-US" sz="1500" dirty="0"/>
          </a:p>
        </p:txBody>
      </p:sp>
      <p:sp>
        <p:nvSpPr>
          <p:cNvPr id="15" name="Text 13"/>
          <p:cNvSpPr txBox="1"/>
          <p:nvPr/>
        </p:nvSpPr>
        <p:spPr>
          <a:xfrm>
            <a:off x="2194560" y="512064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Barcelona · prio 1</a:t>
            </a:r>
            <a:endParaRPr lang="en-US" sz="1100" dirty="0"/>
          </a:p>
        </p:txBody>
      </p:sp>
      <p:sp>
        <p:nvSpPr>
          <p:cNvPr id="16" name="Shape 14"/>
          <p:cNvSpPr/>
          <p:nvPr/>
        </p:nvSpPr>
        <p:spPr>
          <a:xfrm>
            <a:off x="5029200" y="2926080"/>
            <a:ext cx="1188720" cy="1188720"/>
          </a:xfrm>
          <a:prstGeom prst="ellipse">
            <a:avLst/>
          </a:prstGeom>
          <a:solidFill>
            <a:srgbClr val="1F7A4D"/>
          </a:solidFill>
          <a:ln w="12700">
            <a:solidFill>
              <a:srgbClr val="1F7A4D"/>
            </a:solidFill>
            <a:prstDash val="solid"/>
          </a:ln>
        </p:spPr>
      </p:sp>
      <p:sp>
        <p:nvSpPr>
          <p:cNvPr id="17" name="Text 15"/>
          <p:cNvSpPr txBox="1"/>
          <p:nvPr/>
        </p:nvSpPr>
        <p:spPr>
          <a:xfrm>
            <a:off x="5029200" y="2926080"/>
            <a:ext cx="118872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V1</a:t>
            </a:r>
            <a:endParaRPr lang="en-US" sz="1500" dirty="0"/>
          </a:p>
        </p:txBody>
      </p:sp>
      <p:sp>
        <p:nvSpPr>
          <p:cNvPr id="18" name="Text 16"/>
          <p:cNvSpPr txBox="1"/>
          <p:nvPr/>
        </p:nvSpPr>
        <p:spPr>
          <a:xfrm>
            <a:off x="4480560" y="4160520"/>
            <a:ext cx="2286000" cy="2743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Valencia · prio 0</a:t>
            </a:r>
            <a:endParaRPr lang="en-US" sz="1100" dirty="0"/>
          </a:p>
        </p:txBody>
      </p:sp>
      <p:sp>
        <p:nvSpPr>
          <p:cNvPr id="19" name="Text 17"/>
          <p:cNvSpPr txBox="1"/>
          <p:nvPr/>
        </p:nvSpPr>
        <p:spPr>
          <a:xfrm>
            <a:off x="731520" y="5715000"/>
            <a:ext cx="6309360" cy="320040"/>
          </a:xfrm>
          <a:prstGeom prst="rect">
            <a:avLst/>
          </a:prstGeom>
          <a:noFill/>
          <a:ln/>
        </p:spPr>
        <p:txBody>
          <a:bodyPr wrap="square" lIns="0" tIns="0" rIns="0" bIns="0" rtlCol="0" anchor="ctr"/>
          <a:lstStyle/>
          <a:p>
            <a:pPr algn="ctr" indent="0" marL="0">
              <a:buNone/>
            </a:pPr>
            <a:r>
              <a:rPr lang="en-US" sz="1200" i="1" dirty="0">
                <a:solidFill>
                  <a:srgbClr val="5B6B66"/>
                </a:solidFill>
                <a:latin typeface="Calibri" pitchFamily="34" charset="0"/>
                <a:ea typeface="Calibri" pitchFamily="34" charset="-122"/>
                <a:cs typeface="Calibri" pitchFamily="34" charset="-120"/>
              </a:rPr>
              <a:t>5 miembros con voto: cualquier CPD puede caer y quedan 3 votos (mayoría)</a:t>
            </a:r>
            <a:endParaRPr lang="en-US" sz="1200" dirty="0"/>
          </a:p>
        </p:txBody>
      </p:sp>
      <p:sp>
        <p:nvSpPr>
          <p:cNvPr id="20" name="Text 18"/>
          <p:cNvSpPr txBox="1"/>
          <p:nvPr/>
        </p:nvSpPr>
        <p:spPr>
          <a:xfrm>
            <a:off x="7589520" y="1508760"/>
            <a:ext cx="4053535" cy="4617720"/>
          </a:xfrm>
          <a:prstGeom prst="rect">
            <a:avLst/>
          </a:prstGeom>
          <a:noFill/>
          <a:ln/>
        </p:spPr>
        <p:txBody>
          <a:bodyPr wrap="square" lIns="0" tIns="0" rIns="0" bIns="0" rtlCol="0" anchor="t"/>
          <a:lstStyle/>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Con </a:t>
            </a:r>
            <a:r>
              <a:rPr lang="en-US" sz="1600" b="1" dirty="0">
                <a:solidFill>
                  <a:srgbClr val="1C2B27"/>
                </a:solidFill>
                <a:latin typeface="Calibri" pitchFamily="34" charset="0"/>
                <a:ea typeface="Calibri" pitchFamily="34" charset="-122"/>
                <a:cs typeface="Calibri" pitchFamily="34" charset="-120"/>
              </a:rPr>
              <a:t>dos</a:t>
            </a:r>
            <a:r>
              <a:rPr lang="en-US" sz="1600" dirty="0">
                <a:solidFill>
                  <a:srgbClr val="1C2B27"/>
                </a:solidFill>
                <a:latin typeface="Calibri" pitchFamily="34" charset="0"/>
                <a:ea typeface="Calibri" pitchFamily="34" charset="-122"/>
                <a:cs typeface="Calibri" pitchFamily="34" charset="-120"/>
              </a:rPr>
              <a:t> CPD, uno de ellos siempre tiene la mayoría: si cae ese, no hay primario</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Con </a:t>
            </a:r>
            <a:r>
              <a:rPr lang="en-US" sz="1600" b="1" dirty="0">
                <a:solidFill>
                  <a:srgbClr val="1C2B27"/>
                </a:solidFill>
                <a:latin typeface="Calibri" pitchFamily="34" charset="0"/>
                <a:ea typeface="Calibri" pitchFamily="34" charset="-122"/>
                <a:cs typeface="Calibri" pitchFamily="34" charset="-120"/>
              </a:rPr>
              <a:t>tres</a:t>
            </a:r>
            <a:r>
              <a:rPr lang="en-US" sz="1600" dirty="0">
                <a:solidFill>
                  <a:srgbClr val="1C2B27"/>
                </a:solidFill>
                <a:latin typeface="Calibri" pitchFamily="34" charset="0"/>
                <a:ea typeface="Calibri" pitchFamily="34" charset="-122"/>
                <a:cs typeface="Calibri" pitchFamily="34" charset="-120"/>
              </a:rPr>
              <a:t> ubicaciones (2 + 2 + 1), cualquier CPD puede caer</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El tercer sitio puede ser pequeño: un nodo con </a:t>
            </a:r>
            <a:r>
              <a:rPr lang="en-US" sz="1600" b="1" dirty="0">
                <a:solidFill>
                  <a:srgbClr val="1C2B27"/>
                </a:solidFill>
                <a:latin typeface="Calibri" pitchFamily="34" charset="0"/>
                <a:ea typeface="Calibri" pitchFamily="34" charset="-122"/>
                <a:cs typeface="Calibri" pitchFamily="34" charset="-120"/>
              </a:rPr>
              <a:t>priority 0</a:t>
            </a:r>
            <a:r>
              <a:rPr lang="en-US" sz="1600" dirty="0">
                <a:solidFill>
                  <a:srgbClr val="1C2B27"/>
                </a:solidFill>
                <a:latin typeface="Calibri" pitchFamily="34" charset="0"/>
                <a:ea typeface="Calibri" pitchFamily="34" charset="-122"/>
                <a:cs typeface="Calibri" pitchFamily="34" charset="-120"/>
              </a:rPr>
              <a:t> (o una región cloud)</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Escrituras críticas con un modo tipo </a:t>
            </a:r>
            <a:r>
              <a:rPr lang="en-US" sz="1600" b="1" dirty="0">
                <a:solidFill>
                  <a:srgbClr val="1C2B27"/>
                </a:solidFill>
                <a:latin typeface="Calibri" pitchFamily="34" charset="0"/>
                <a:ea typeface="Calibri" pitchFamily="34" charset="-122"/>
                <a:cs typeface="Calibri" pitchFamily="34" charset="-120"/>
              </a:rPr>
              <a:t>dosCPD</a:t>
            </a:r>
            <a:endParaRPr lang="en-US" sz="1600" dirty="0"/>
          </a:p>
          <a:p>
            <a:pPr marL="254000" indent="-254000">
              <a:spcAft>
                <a:spcPts val="1000"/>
              </a:spcAft>
              <a:buSzPct val="100000"/>
              <a:buChar char="●"/>
            </a:pPr>
            <a:r>
              <a:rPr lang="en-US" sz="1600" dirty="0">
                <a:solidFill>
                  <a:srgbClr val="1C2B27"/>
                </a:solidFill>
                <a:latin typeface="Calibri" pitchFamily="34" charset="0"/>
                <a:ea typeface="Calibri" pitchFamily="34" charset="-122"/>
                <a:cs typeface="Calibri" pitchFamily="34" charset="-120"/>
              </a:rPr>
              <a:t>Latencia entre sitios: afecta a w: majority y a las elecciones</a:t>
            </a:r>
            <a:endParaRPr lang="en-US" sz="1600" dirty="0"/>
          </a:p>
        </p:txBody>
      </p:sp>
      <p:sp>
        <p:nvSpPr>
          <p:cNvPr id="21" name="Text 1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22" name="Text 2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32 / 34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07</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Failover, mantenimiento rolling y geodistribución</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Medir el corte real de un failover no planificado con una aplicación simulada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Compararlo con un rs.stepDown() planificado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Hacer un reinicio rolling de los tres nodos sin cortar el servicio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Conectarse con semilla única y con conexión directa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Exigir confirmación en dos CPD y simular la caída de uno</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dia2/lab07-alta-disponibilidad/README.md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33 / 34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Resumen del día 2</a:t>
            </a:r>
            <a:endParaRPr lang="en-US" sz="3600" dirty="0"/>
          </a:p>
        </p:txBody>
      </p:sp>
      <p:sp>
        <p:nvSpPr>
          <p:cNvPr id="3" name="Shape 1"/>
          <p:cNvSpPr/>
          <p:nvPr/>
        </p:nvSpPr>
        <p:spPr>
          <a:xfrm>
            <a:off x="548640" y="1554480"/>
            <a:ext cx="5364328" cy="4389120"/>
          </a:xfrm>
          <a:prstGeom prst="roundRect">
            <a:avLst>
              <a:gd name="adj" fmla="val 2500"/>
            </a:avLst>
          </a:prstGeom>
          <a:solidFill>
            <a:srgbClr val="173D35"/>
          </a:solidFill>
          <a:ln w="12700">
            <a:solidFill>
              <a:srgbClr val="173D35"/>
            </a:solidFill>
            <a:prstDash val="solid"/>
          </a:ln>
        </p:spPr>
      </p:sp>
      <p:sp>
        <p:nvSpPr>
          <p:cNvPr id="4" name="Text 2"/>
          <p:cNvSpPr txBox="1"/>
          <p:nvPr/>
        </p:nvSpPr>
        <p:spPr>
          <a:xfrm>
            <a:off x="868680"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Hoy hemos visto</a:t>
            </a:r>
            <a:endParaRPr lang="en-US" sz="2000" dirty="0"/>
          </a:p>
        </p:txBody>
      </p:sp>
      <p:sp>
        <p:nvSpPr>
          <p:cNvPr id="5" name="Text 3"/>
          <p:cNvSpPr txBox="1"/>
          <p:nvPr/>
        </p:nvSpPr>
        <p:spPr>
          <a:xfrm>
            <a:off x="868680"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Oplog: idempotente, una entrada por documento, ventana &gt; 24 h</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Heartbeats cada 2 s y elecciones tras 10 s, basadas en mayorías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Número impar de votos; árbitros solo si no hay alternativa</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w: majority evita rollbacks; wtimeout no deshace</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Read concern, read preference, tags y prioridades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Failover de 10-15 s; stepDown de 1-2 s; rolling nodo a nodo</a:t>
            </a:r>
            <a:endParaRPr lang="en-US" sz="1600" dirty="0"/>
          </a:p>
        </p:txBody>
      </p:sp>
      <p:sp>
        <p:nvSpPr>
          <p:cNvPr id="6" name="Shape 4"/>
          <p:cNvSpPr/>
          <p:nvPr/>
        </p:nvSpPr>
        <p:spPr>
          <a:xfrm>
            <a:off x="6278728" y="1554480"/>
            <a:ext cx="5364328" cy="4389120"/>
          </a:xfrm>
          <a:prstGeom prst="roundRect">
            <a:avLst>
              <a:gd name="adj" fmla="val 2500"/>
            </a:avLst>
          </a:prstGeom>
          <a:solidFill>
            <a:srgbClr val="1F7A4D"/>
          </a:solidFill>
          <a:ln w="12700">
            <a:solidFill>
              <a:srgbClr val="1F7A4D"/>
            </a:solidFill>
            <a:prstDash val="solid"/>
          </a:ln>
        </p:spPr>
      </p:sp>
      <p:sp>
        <p:nvSpPr>
          <p:cNvPr id="7" name="Text 5"/>
          <p:cNvSpPr txBox="1"/>
          <p:nvPr/>
        </p:nvSpPr>
        <p:spPr>
          <a:xfrm>
            <a:off x="6598768"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Mañana: seguridad</a:t>
            </a:r>
            <a:endParaRPr lang="en-US" sz="2000" dirty="0"/>
          </a:p>
        </p:txBody>
      </p:sp>
      <p:sp>
        <p:nvSpPr>
          <p:cNvPr id="8" name="Text 6"/>
          <p:cNvSpPr txBox="1"/>
          <p:nvPr/>
        </p:nvSpPr>
        <p:spPr>
          <a:xfrm>
            <a:off x="6598768"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Mecanismos de autenticación: SCRAM, x.509, LDAP, Kerberos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Usuarios, roles personalizados y restricciones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Migración en caliente a TLS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Auditoría y cifrado en reposo con Percona Server</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Parad el entorno con docker compose stop, sin borrarlo</a:t>
            </a:r>
            <a:endParaRPr lang="en-US" sz="16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2 · Replicación y alta disponibilidad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34 / 34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MongoDB · Día 2</dc:title>
  <dc:subject>PptxGenJS Presentation</dc:subject>
  <dc:creator>Curso de Administración de MongoDB</dc:creator>
  <cp:lastModifiedBy>Curso de Administración de MongoDB</cp:lastModifiedBy>
  <cp:revision>1</cp:revision>
  <dcterms:created xsi:type="dcterms:W3CDTF">2026-09-25T09:44:27Z</dcterms:created>
  <dcterms:modified xsi:type="dcterms:W3CDTF">2026-09-25T09:44:27Z</dcterms:modified>
</cp:coreProperties>
</file>