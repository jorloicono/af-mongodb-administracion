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a todos y bienvenidos al curso de administración de MongoDB. Durante estas cuatro sesiones de cuatro horas vamos a trabajar sobre una idea muy concreta, que es la que da sentido a todo el temario: que cuando salgáis de aquí seáis capaces de operar MongoDB en el día a día, es decir, de poner en marcha instancias nuevas, de configurarlas bien desde el principio, de montar replicación y alta disponibilidad, de protegerlas, de hacer copias de seguridad y, sobre todo, de restaurarlas, y de monitorizarlas y resolver los problemas que inevitablemente van a aparecer.
Este no es un curso de desarrollo. No vamos a dedicar tiempo a modelar esquemas ni a escribir aplicaciones, aunque de vez en cuando hablaremos de consultas e índices, porque un administrador tiene que saber reconocer una consulta que está haciendo daño. El enfoque es operativo: qué hay que configurar, por qué, qué puede salir mal y cómo se detecta.
Trabajaremos sobre MongoDB 8.0, que es la versión mayor actual con soporte a largo plazo, y lo haremos todo con Docker en vuestro propio equipo, de forma que lo que montéis aquí lo podáis repetir en casa o en el trabajo con los mismos comandos. Hoy, en esta primera sesión, vamos a asentar los fundamentos: por qué existe MongoDB y cuándo tiene sentido, cómo se instala y cómo se actualiza, cómo usa la memoria y el disco, qué hay que ajustar en el sistema operativo y cómo se trabaja con la shell, terminando con la activación de la autenticación.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seis objetivos del curso y, si os fijáis, coinciden con las tareas que ocupan el día a día de cualquier persona que administra MongoDB en producción. El primero es poner en marcha instancias bien configuradas desde el primer día, porque la mayoría de los problemas que veo en los clientes no vienen de fallos exóticos, sino de decisiones que se tomaron mal al instalar: una caché mal dimensionada, un sistema de ficheros inadecuado o una instancia expuesta sin autenticación.
El segundo es la replicación y la alta disponibilidad, que es probablemente el corazón del curso y a lo que dedicaremos toda la segunda sesión. El tercero es la seguridad, que ocupará la tercera sesión completa. Y el cuarto día lo dedicaremos a tres cosas muy relacionadas entre sí: las copias de seguridad, la monitorización y la resolución de problemas.
Quiero insistir en una palabra del cuarto punto: restaurar. Un backup que nunca se ha probado a restaurar no es un backup, es una esperanza, y en el curso vamos a restaurar todo lo que copiemos.
En cuanto a la forma de trabajar, cada bloque tiene una parte de explicación, que es esta, y un laboratorio que haréis en vuestro equipo. Los laboratorios están en un repositorio de GitHub; cada uno tiene su enunciado en Markdown, con los objetivos, los pasos, las preguntas y las soluciones plegadas. Os pido que intentéis resolver cada paso antes de abrir la solución, porque es ahí donde de verdad se aprende.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completo de las cuatro sesiones, para que sepáis en todo momento dónde estamos y hacia dónde vamos.
Hoy, en el día uno, construimos los cimientos. Empezaremos por entender qué es MongoDB y por qué se diseñó así, porque muchas decisiones de administración se entienden mucho mejor cuando sabes qué problema intentaba resolver el producto. Después veremos la instalación y la actualización de versiones, cómo usa MongoDB la memoria, qué motores de almacenamiento hay, qué sistema de ficheros conviene, qué ajustes hay que hacer en el sistema operativo y cómo se trabaja con mongosh, terminando con la activación de la autenticación.
El día dos es el de la replicación y la alta disponibilidad: montaremos un replica set de tres nodos y lo romperemos de todas las formas posibles para ver cómo se recupera. El día tres es el de la seguridad, desde la gestión de usuarios hasta el cifrado del tráfico con TLS y el cifrado de los datos en disco. Y el día cuatro cerraremos con backups, monitorización y resolución de problemas.
Cada día se apoya en el anterior. En particular, el replica set que montemos mañana es el entorno sobre el que trabajaremos el tercer y el cuarto día, así que os pido que no borréis nada entre sesiones salvo que el laboratorio lo diga expresamente.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agenda de hoy. Las horas son relativas al inicio de la sesión, para que os sirvan independientemente de a qué hora empecemos.
Vamos a alternar teoría y práctica en bloques cortos, porque cuatro horas seguidas de explicación no las aguanta nadie y porque en administración de sistemas lo que no se toca con las manos no se aprende. Tendremos cuatro módulos y cuatro laboratorios, y a mitad de sesión haremos un descanso de un cuarto de hora.
Los tiempos de los laboratorios son orientativos. Si alguien termina antes, en cada enunciado hay preguntas de repaso y apartados para pensar que os ayudarán a profundizar. Y si alguien se atasca, levantad la mano en cuanto pase, porque en este tipo de laboratorios un error tonto al principio, como una tabulación en un fichero YAML, puede hacer que perdáis diez minutos sin necesidad.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materia, dos minutos sobre el entorno, porque es importante que todos tengáis clara la idea desde el principio.
En vuestro equipo solo necesitáis Docker y el repositorio del curso. Desde vuestro equipo únicamente vais a ejecutar comandos de docker compose: arrancar el entorno, pararlo, reiniciar un nodo concreto, ver sus logs o simular que un servidor se cae. Cada laboratorio os dice desde qué carpeta del repositorio tenéis que trabajar.
Todo lo demás pasa dentro de los contenedores. Los servidores de MongoDB usan la imagen oficial de MongoDB Community Server, que contiene exactamente los mismos binarios que instalaríais con los paquetes oficiales en un servidor Linux. Y además tenemos un contenedor que he llamado toolbox, que es un pequeño puesto de administración Linux con mongosh y con las MongoDB Database Tools, es decir, mongodump, mongorestore, mongostat, mongotop y compañía. La idea es que trabajéis dentro del toolbox como trabajaríais en un bastión de administración en una empresa, y la gran ventaja es que los comandos son idénticos uses Windows, Mac o Linux.
Los días tres y cuatro añadiremos más piezas, como Percona Server for MongoDB, Percona Backup for MongoDB y Percona Monitoring and Management, siempre en contenedores. Si alguien no ha podido completar la preparación previa, que me lo diga ahora y lo resolvemos mientras hacemos la parte teórica.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el primer módulo, que lleva por título una pregunta: ¿por qué MongoDB? Podría parecer un bloque de marketing, pero no lo es. Un administrador necesita entender qué problema resuelve la herramienta que administra, porque de ahí se derivan casi todas sus características operativas: por qué se replica de una determinada manera, por qué escala horizontalmente con sharding, por qué el documento es la unidad de atomicidad, o por qué el tamaño de la caché es tan importante.
En este módulo veremos cuatro cosas: el modelo documental y el formato BSON, en qué casos encaja MongoDB y en cuáles no, qué componentes forman un despliegue y qué topologías existen, y qué ediciones y distribuciones hay, que es algo que luego tendrá consecuencias prácticas en el día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comparar los dos modelos. En una base de datos relacional los datos se reparten en tablas normalizadas: un pedido está en una tabla, sus líneas en otra, el cliente en otra, y la dirección de envío quizá en una cuarta. El esquema es rígido y se define de antemano, y las relaciones se reconstruyen en el momento de la lectura con operaciones JOIN.
MongoDB parte de una idea distinta: lo que la aplicación usa junto, se guarda junto. Un pedido, con sus líneas y su dirección de envío, puede ser un único documento. Eso tiene consecuencias muy importantes. La primera es de rendimiento: leer un pedido completo es leer un documento, no combinar cuatro tablas. La segunda es de atomicidad: en MongoDB, cualquier escritura sobre un único documento es atómica, así que si el pedido y sus líneas están en el mismo documento, no necesitas una transacción para actualizarlos de forma coherente. Aun así, desde la versión 4.0 existen transacciones multidocumento, y desde la 4.2 también en clusters con sharding, para los casos que realmente las necesitan.
El esquema es flexible, lo que no quiere decir que no haya esquema: quiere decir que el esquema lo decide la aplicación y que puede evolucionar sin migraciones bloqueantes. Y si queréis imponer reglas, MongoDB permite validar los documentos con JSON Schema a nivel de colección.
Y por último, el escalado. Un modelo en el que cada documento es autocontenido se puede repartir entre muchos servidores con relativa facilidad, y eso es lo que hace el sharding. Desde el punto de vista del administrador, esto significa que MongoDB se diseñó desde el principio para escalar horizontalmente, a diferencia de la mayoría de las bases de datos relacionales clásicas.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es un documento real, en este caso un pedido de la colección que usaremos en los laboratorios. Parece JSON, y de hecho lo escribimos como JSON en la shell, pero internamente MongoDB lo guarda en BSON, que es una representación binaria de JSON con algunas ventajas importantes.
La primera ventaja es que BSON tiene tipos de datos que JSON no tiene: fechas de verdad, enteros de treinta y dos y de sesenta y cuatro bits, números decimales de alta precisión, que son los que hay que usar para importes, datos binarios y el ObjectId. La segunda es que BSON guarda la longitud de cada elemento, lo que permite recorrer un documento muy rápido sin tener que interpretarlo entero.
Fijaos en tres cosas del ejemplo. El campo _id es obligatorio y único en cada colección; si no lo proporcionáis, el driver genera un ObjectId, que incluye una marca de tiempo, lo cual es útil y a veces sorprendente. El campo envio es un subdocumento y el campo lineas es un array de subdocumentos; ambos se pueden consultar e indexar directamente, por ejemplo buscando todos los pedidos que contienen el producto diecisiete.
Y un límite que un administrador tiene que conocer: un documento no puede superar los dieciséis megas. Si veis documentos que crecen sin parar, por ejemplo un array de eventos al que la aplicación va añadiendo elementos indefinidamente, tenéis un problema de diseño que acabará siendo un problema de rendimiento y, al final, un error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no es la respuesta a todo, y un buen administrador tiene que saber decirlo cuando le preguntan. Veamos dónde encaja bien y dónde hay que pensarlo dos veces.
Encaja muy bien en catálogos de productos, donde cada tipo de producto tiene atributos distintos y en una base relacional acabaríais con tablas llenas de columnas vacías o con el famoso modelo entidad-atributo-valor. También en perfiles de usuario y personalización, en datos de dispositivos y series temporales, donde MongoDB tiene un tipo de colección específico desde la versión 5.0, y en general en datos operacionales de gran volumen que necesitan escalar y en aplicaciones que cambian a menudo.
En cambio, hay que pensarlo dos veces cuando el modelo es intrínsecamente muy relacional, con muchas entidades que se cruzan entre sí en todas direcciones, o en sistemas contables clásicos donde cada operación toca muchas entidades distintas con transacciones complejas. Se puede hacer, porque MongoDB tiene transacciones, pero no es su punto fuerte. Tampoco es la mejor herramienta para informes ad hoc con JOIN arbitrarios sobre todo el modelo, aunque el framework de agregación es muy potente.
Y el último punto de la derecha es el más frecuente en la vida real: el problema no suele ser MongoDB, sino un equipo que diseña en MongoDB como si fuera un modelo relacional, con una colección por tabla y lookups por todas partes. Cuando os llegue una incidencia de rendimiento, muchas veces la causa estará en el modelo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ahora las piezas que forman un despliegue de MongoDB, porque las vais a oír nombrar constantemente.
La pieza fundamental es mongod, el proceso servidor. Es el que guarda los datos en disco, ejecuta las consultas, mantiene los índices y gestiona la replicación. Prácticamente todo lo que haremos en el curso consiste en configurar, vigilar y cuidar procesos mongod.
Cuando los datos se reparten entre varios servidores con sharding aparecen dos piezas más. La primera es mongos, que es un enrutador: la aplicación se conecta a mongos como si fuera un servidor normal, y mongos decide a qué shard o shards tiene que enviar cada consulta. mongos no guarda datos, así que se puede escalar simplemente añadiendo más instancias. La segunda son los config servers, un replica set especial que guarda los metadatos del cluster, es decir, qué rangos de datos están en cada shard. Desde MongoDB 8.0, los config servers pueden además alojar datos de aplicación, lo que se llama config shard, y que ahorra máquinas en clusters pequeños.
Y al otro lado están los clientes: los drivers oficiales para cada lenguaje, mongosh, que es la shell, Compass, que es la herramienta gráfica, y las Database Tools. Todos hablan el mismo protocolo de red. En este curso no montaremos sharding, porque requiere muchos recursos para un portátil, pero sí mencionaremos mongos cuando hablemos de logs y de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piezas se construyen tres topologías.
La más sencilla es el standalone: un único proceso mongod. No tiene redundancia de ningún tipo, así que si ese servidor cae, la aplicación se queda sin base de datos, y si se rompe el disco, dependéis del último backup. Es perfectamente válido para desarrollo, para pruebas, o para tareas puntuales como verificar que un backup se puede restaurar, que es precisamente para lo que lo usaremos el cuarto día.
La topología estándar de producción es el replica set: varios procesos mongod, normalmente tres, que mantienen una copia de los mismos datos. Uno es el primario, que recibe las escrituras, y los demás son secundarios que replican sus cambios. Si el primario cae, los secundarios eligen automáticamente un nuevo primario en cuestión de segundos. Quiero que os quedéis con esta idea: en producción, el mínimo es un replica set. Incluso algunas funcionalidades, como las transacciones o los change streams, requieren un replica set.
Y cuando un único replica set ya no puede con el volumen de datos o con la carga de escritura, se pasa a un sharded cluster, que reparte los datos entre varios replica sets, a los que llamamos shards, con los config servers y los mongos que acabamos de ver. Es la topología más potente y también la más compleja de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importante porque tiene consecuencias prácticas que veremos el tercer día.
MongoDB Community es la edición gratuita, con licencia SSPL, y contiene el servidor completo: replicación, sharding, autenticación con SCRAM y con certificados x.509, cifrado del tráfico con TLS, el framework de agregación, las colecciones time series, todo. Es lo que usaremos la mayor parte del curso.
MongoDB Enterprise es la edición comercial, y añade funcionalidades que en muchas empresas son requisitos de cumplimiento normativo: autenticación contra LDAP y Kerberos, auditoría, cifrado de los datos en disco, un motor de almacenamiento en memoria y, por supuesto, soporte. Atlas es MongoDB como servicio en la nube, donde la operación la hace la propia MongoDB, y en ese caso buena parte de lo que vemos en este curso lo hace la plataforma por vosotros, aunque entenderlo sigue siendo imprescindible.
Y luego está Percona Server for MongoDB, que es una distribución gratuita, compatible con MongoDB Community a nivel de binario y de protocolo, que añade precisamente varias de las funcionalidades que en MongoDB son de Enterprise: auditoría, cifrado en reposo, LDAP, un comando de backup en caliente y un motor en memoria. Como el temario del curso incluye auditoría, cifrado y hot backup, y como MongoDB Community no los tiene, en esos laboratorios usaremos Percona Server. Y no es casualidad: las herramientas de backup y monitorización que veremos el último día, PBM y PMM, también son de Percona.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con el primer laboratorio. El objetivo es que os familiaricéis con el entorno y que veáis un mongod funcionando por dentro.
Vais a arrancar un servidor standalone a partir de un fichero de configuración, que es exactamente como se arranca en un servidor real, vais a leer su log de arranque, y os vais a conectar a él de dos formas: desde el propio contenedor del servidor, como si entrarais por SSH, y desde el toolbox, que será nuestra forma habitual de trabajar. Después consultaréis con qué configuración se está ejecutando realmente el proceso, que no siempre es la que uno cree, y comprobaréis que los datos sobreviven a un reinicio porque viven en un volumen y no en el contenedor.
Tenéis veinticinco minutos. El enunciado está en la carpeta dia1, subcarpeta lab01-entorno. Si alguien tiene problemas con Docker, que me avise ya.
[Al terminar] Repasemos las preguntas. La diferencia entre stop y kill es la diferencia entre un apagado limpio y un corte de corriente. Con stop, Docker envía la señal SIGTERM y mongod termina las operaciones, hace un checkpoint y cierra los ficheros ordenadamente. Con kill, el proceso muere en el acto y, al arrancar, WiredTiger tiene que recuperarse a partir del último checkpoint y del journal. Por eso hemos puesto en el compose un periodo de gracia de sesenta segundos en lugar de los diez que Docker da por defecto.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segundo módulo: instalación y actualización. Aquí veremos las distintas formas de instalar MongoDB, la anatomía del fichero de configuración, cómo se ejecuta como servicio del sistema, cómo funciona el versionado y, sobre todo, cómo se actualiza de una versión mayor a la siguiente sin sustos, que es una de las tareas con más riesgo que vais a hacer como administradores.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formas principales de instalar MongoDB, y cada una tiene su sitio.
La recomendada en servidores es usar los paquetes oficiales desde los repositorios de MongoDB, con apt en Ubuntu y Debian o con dnf y yum en la familia Red Hat. Os recomiendo los repositorios de MongoDB y no los paquetes que traiga la distribución, que suelen estar desactualizados o directamente no existen. Los paquetes oficiales crean un usuario del sistema dedicado, el servicio de systemd, el fichero de configuración en /etc/mongod.conf y los directorios de datos y de logs con los permisos correctos. Es decir, os dan hecho todo lo aburrido y propenso a errores.
La segunda opción es el tarball, un fichero comprimido con los binarios. Os da control total sobre rutas y versiones, y es útil cuando necesitáis varias versiones conviviendo, pero entonces el servicio, el usuario y los permisos los tenéis que preparar vosotros.
La tercera son los contenedores, que es lo que usamos en el curso. Los binarios son exactamente los mismos; lo que cambia es cómo se arranca y se para el proceso. La regla de oro con contenedores es que los datos tienen que ir siempre en un volumen persistente, nunca dentro del contenedor.
Y la cuarta, cada vez más habitual, es Kubernetes con un operador, ya sea el de MongoDB o el de Percona. El operador automatiza la creación de replica sets, el sharding, los backups y las actualizaciones. Es muy cómodo, pero no os libra de entender todo lo que vamos a ver: cuando algo falla, el operador no lo arregla por vosotros.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fichero mongod.conf bastante completo, como el que podríais tener en un nodo de producción. Es un fichero YAML, y os advierto ya del error número uno: en YAML la indentación se hace con espacios, nunca con tabuladores. Un tabulador hará que mongod se niegue a arrancar con un mensaje de error que no siempre es evidente.
Vamos por secciones. En storage indicamos el directorio de datos y, dentro de wiredTiger, el tamaño de la caché, del que hablaremos a fondo en el módulo tres. En systemLog decimos que el log vaya a un fichero, que se añada al final en lugar de sobrescribirlo al reiniciar, y con logRotate reopen le indicamos que, cuando reciba la orden de rotar, simplemente reabra el fichero, que es lo que necesitáis si usáis el logrotate del sistema operativo.
En net fijamos el puerto y, muy importante, bindIp, que son las interfaces en las que escucha. Desde la versión 3.6, MongoDB por defecto solo escucha en localhost, precisamente porque hubo una oleada de ataques a instancias expuestas a internet sin autenticación. Aquí escuchamos en localhost y en la IP privada del servidor, y en ninguna otra.
En security activamos la autorización y el keyfile para la autenticación interna del replica set, y en replication damos nombre al replica set y fijamos el tamaño del oplog. Todo esto lo veremos en detalle en los próximos días.
Cada opción del fichero tiene su equivalente en línea de comandos, y cuando dudéis de qué configuración está usando realmente un proceso, la forma fiable de saberlo es preguntárselo al propio proceso con db.serverCmdLineOpts(), como habéis hecho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servidor, mongod se ejecuta como un servicio de systemd, así que las operaciones básicas son las de cualquier servicio: systemctl start, stop, restart y status.
El proceso debe ejecutarse con un usuario dedicado y sin privilegios, que según la distribución se llama mongod o mongodb, y nunca como root. Los directorios de datos y de logs tienen que pertenecer a ese usuario. Y en la unidad de systemd se fijan los límites del proceso, en particular el número máximo de ficheros abiertos y de procesos, que veremos en el módulo tres.
Para parar el servicio, siempre de forma limpia: con systemctl stop, que envía SIGTERM, o desde la shell con db.shutdownServer(). Nunca con kill menos nueve salvo que el proceso esté completamente colgado, porque, aunque WiredTiger se recupera gracias al journal, estáis forzando una recuperación que puede tardar y que en ciertos escenarios puede dar problemas.
Y el error clásico que quiero que evitéis, porque lo he visto muchísimas veces: alguien arranca mongod a mano, como root, para hacer una prueba rápida. Los ficheros que crea ese proceso quedan a nombre de root, y a partir de ese momento el servicio, que arranca con el usuario mongod, no puede abrirlos y se niega a arrancar. El log os dirá algo como permission denied. La solución es devolver la propiedad de los directorios al usuario correcto con chown, pero mejor no llegar a necesitarla.
Para diagnosticar un arranque fallido, mirad dos sitios: el log propio de MongoDB y, si el proceso no llega ni a abrir su log, el journal de systemd con journalctl.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Hablemos de versiones, porque es un tema que genera bastante confusión.
MongoDB publica una versión mayor aproximadamente cada año: 6.0, 7.0, 8.0. Cada versión mayor tiene soporte durante unos treinta meses desde su lanzamiento, así que en la práctica siempre conviven dos o tres versiones soportadas. Dentro de cada versión mayor salen versiones de parche, como la 8.0.32, que corrigen errores y vulnerabilidades y que se aplican sin ningún cambio de formato de datos. Mantener al día los parches es una tarea rutinaria que deberíais hacer cada pocos meses.
Entre versiones mayores, MongoDB publica también versiones intermedias, como la 8.2 o la 8.3, con novedades que después se consolidan en la siguiente versión mayor. Su ciclo de soporte es más corto y la política ha ido cambiando con los años, así que antes de poner una en producción revisad siempre la página oficial de ciclo de vida. En el curso usamos la 8.0, que es la versión mayor de referencia.
Y la regla más importante de esta diapositiva: las versiones mayores se actualizan de una en una. Si tenéis un servidor en 6.0 y queréis llegar a 8.0, tenéis que pasar primero por 7.0, completar esa actualización, incluida la subida de la FCV que ahora explicaré, y después pasar a 8.0. No hay atajos. Esto significa que dejar una instalación sin actualizar durante años tiene un coste que se acumula, porque el día que haya que actualizar serán varios saltos.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procedimiento de actualización de una versión mayor, y quiero que lo veáis como una receta que se sigue siempre, en este orden.
Primero, preparar. Leer las notas de la versión y, en particular, la sección de cambios incompatibles, comprobar que los drivers que usan vuestras aplicaciones soportan la versión de destino, y probar la actualización en un entorno de preproducción con una copia realista de los datos.
Segundo, hacer un backup y verificar que se puede restaurar. Parece obvio, pero es el paso que más se salta.
Tercero, cambiar los binarios. En un replica set esto se hace nodo a nodo, lo que llamamos una actualización rolling: primero los secundarios de uno en uno, esperando a que cada uno vuelva a estar sano y al día, después se hace un stepDown del primario para que otro nodo tome el relevo, y por último se actualiza el antiguo primario. De esta forma la aplicación apenas nota nada.
Cuarto, verificar. En este punto tenéis los binarios nuevos, pero la base de datos sigue funcionando en modo compatible con la versión anterior. Si la aplicación falla, el rollback es sencillo: volvéis a poner los binarios antiguos.
Y quinto, cuando la aplicación lleve un tiempo razonable funcionando bien, subís la feature compatibility version. Ese es el paso que activa las funcionalidades nuevas que cambian el formato de los datos y, a partir de ahí, volver atrás ya no es trivial. Vamos a ver qué es exactamente eso de la FCV.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feature compatibility version, o FCV, es un parámetro que controla qué funcionalidades de la nueva versión están activas, en concreto aquellas que cambian el formato de los datos en disco o que son incompatibles con la versión anterior.
Cuando cambiáis los binarios de 7.0 a 8.0, el servidor arranca con la FCV todavía en 7.0. Eso significa que está ejecutando código de la 8.0, pero escribiendo los datos en un formato que un servidor 7.0 entiende perfectamente. Por eso, si algo va mal, podéis volver a los binarios de la 7.0 sin más.
La FCV se consulta con getParameter y se sube con setFeatureCompatibilityVersion. Desde la versión 7.0, ese comando exige el parámetro confirm a true, precisamente para que nadie lo ejecute sin ser consciente de lo que implica. En un replica set o en un cluster se ejecuta una sola vez, en el primario o a través de mongos, y se propaga a todos los miembros.
¿Y por qué este diseño en dos fases? Porque separa el riesgo. Cambiar los binarios es una operación reversible. Cambiar el formato de los datos no lo es tanto. Separándolas, tenéis un periodo de prueba en el que la vuelta atrás es barata. Para bajar de versión después de haber subido la FCV, primero hay que bajar la FCV, con las restricciones que indique la documentación de downgrade de cada versión, y en algunos casos simplemente no es posible sin restaurar un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poner en práctica lo que acabamos de ver. En este laboratorio vais a arrancar una instancia de MongoDB 7.0, a cargar en ella datos de ejemplo y a actualizarla a 8.0 siguiendo exactamente el procedimiento: comprobaciones previas, cambio de binarios, verificación del estado intermedio y subida de la FCV.
El cambio de binarios, en nuestro entorno, consiste en cambiar la etiqueta de la imagen de Docker en un fichero .env y volver a crear el contenedor, manteniendo el mismo volumen de datos. Es el equivalente exacto a cambiar el paquete en un servidor.
Prestad atención al estado intermedio, cuando tengáis la versión 8.0 pero la FCV en 7.0, y a lo que pasa si intentáis subir la FCV sin confirm.
[Al terminar] La pregunta clave era qué haríais si la aplicación fallara en el estado intermedio. La respuesta es: volver a poner la etiqueta 7.0 y reiniciar. Los datos siguen en formato compatible. Una vez subida la FCV, esa vuelta atrás sencilla desaparece. En un replica set el procedimiento es el mismo, pero nodo a nodo, y lo practicaremos mañana como mantenimiento rolling.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del descanso, la idea que quiero que os llevéis de este módulo: instalad con los paquetes oficiales siempre que podáis, porque os dan hechos el usuario, el servicio y los permisos; configurad a través de mongod.conf y comprobad la configuración real con serverCmdLineOpts; y actualizad siempre en dos fases, primero los binarios, nodo a nodo, y solo cuando todo funciona, la FCV.
Nos tomamos quince minutos de descanso. A la vuelta entramos en uno de los temas más importantes para el rendimiento: cómo usa MongoDB la memoria y el disco, y qué hay que ajustar en el sistema operativo.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de nuevo. Entramos en el módulo tres, que trata de memoria, almacenamiento y sistema operativo. Si tuviera que elegir un módulo del día de hoy que tuviera más impacto en el rendimiento de vuestras instancias en producción, sería este.
Veremos cómo funciona WiredTiger por dentro, cómo usa MongoDB la memoria y cómo se dimensiona la caché, qué motores de almacenamiento existen, cómo funciona la compresión, qué sistema de ficheros y qué discos conviene usar y, por último, la lista de ajustes del sistema operativo que deberíais revisar en cualquier servidor de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WiredTiger es el motor de almacenamiento por defecto de MongoDB desde la versión 3.2, y el único disponible en Community desde que el antiguo MMAPv1 se eliminó en la 4.2. Vamos a ver sus seis piezas principales.
La primera es la caché interna, donde WiredTiger mantiene los datos y los índices que se están usando, descomprimidos. Todas las lecturas y escrituras trabajan contra la caché: si el dato no está, primero se lee de disco a la caché. Por eso el tamaño de la caché y lo que cabe en ella es tan determinante para el rendimiento.
La segunda es la concurrencia a nivel de documento. WiredTiger usa control de concurrencia optimista con versiones múltiples, lo que significa que dos operaciones solo entran en conflicto si modifican el mismo documento, y en ese caso una de ellas se reintenta automáticamente.
La tercera y la cuarta van juntas: los checkpoints y el journal. Cada sesenta segundos, WiredTiger escribe en disco una imagen coherente de todos los datos, un checkpoint. Entre checkpoint y checkpoint, cada cambio se anota en el journal, que es un registro de escritura anticipada. Si el servidor se cae, al arrancar WiredTiger parte del último checkpoint y reaplica el journal. Por eso MongoDB es duradero ante un corte, siempre que el journal esté en un disco fiable.
La quinta es la compresión, de la que hablaremos en un momento. Y la sexta son los tickets, que limitan cuántas operaciones de lectura y de escritura pueden estar a la vez dentro del motor. Antes era un valor fijo de ciento veintiocho; desde la 7.0 MongoDB lo ajusta dinámicamente según la carga. Cuando veáis en la monitorización que los tickets disponibles caen a cero, sabréis que el motor está saturado.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¿Cuánta memoria usa la caché de WiredTiger? Por defecto, el cincuenta por ciento de la memoria RAM menos un giga, con un mínimo de doscientos cincuenta y seis megas. En un servidor de sesenta y cuatro gigas, la caché será de treinta y un gigas y medio.
Mucha gente, al ver esto, piensa que se está desperdiciando la otra mitad de la memoria y sube la caché al noventa por ciento. Es un error. La memoria que no usa la caché de WiredTiger la necesitan dos consumidores muy importantes. El primero es el propio proceso mongod, que usa memoria para cada conexión, para las ordenaciones y agregaciones, para construir índices y para sus estructuras internas. El segundo es la caché de ficheros del sistema operativo, donde se quedan los bloques de disco comprimidos. Como los datos en disco están comprimidos, la caché del sistema operativo puede contener muchos más datos que su tamaño aparente, y leer de ella es mucho más rápido que ir al disco.
En contenedores, MongoDB detecta el límite de memoria del contenedor a través de los cgroups y calcula la caché a partir de ese límite, no de la memoria total de la máquina. Aun así, y sobre todo cuando hay varias instancias en la misma máquina, lo recomendable es fijar el tamaño de la caché explícitamente, como hemos hecho en nuestros ficheros de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 la caché de WiredTiger, hay otros consumidores de memoria que conviene conocer, porque son los culpables habituales cuando un servidor se queda sin memoria.
El primero son las conexiones. Cada conexión consume en torno a un mega de memoria, así que una aplicación mal configurada que abre miles de conexiones puede comerse varios gigas sin hacer nada útil. Es un problema muy frecuente con aplicaciones que despliegan muchas instancias, cada una con su propio pool de conexiones.
El segundo son las ordenaciones y las agregaciones que se resuelven en memoria. Cada etapa de una agregación tiene un límite de cien megas y, si lo supera, o bien falla o bien, desde las versiones recientes, se apoya en disco. El tercero es la construcción de índices, que por defecto puede usar hasta doscientos megas. El cuarto es la fragmentación del asignador de memoria, y el quinto, como ya hemos dicho, la caché de ficheros del sistema operativo.
En la práctica, lo que vigilaréis es mem.resident, en serverStatus, que es la memoria física total del proceso, y lo compararéis con el tamaño de la caché de WiredTiger. Si la diferencia crece mucho, hay que buscar la causa en conexiones, agregaciones o fragmentación. Y, sobre todo, vigilad el swap: un mongod que hace swap es un mongod lento, y por eso uno de los ajustes del sistema operativo que veremos va precisamente de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motores de almacenamiento, hoy la respuesta práctica es corta: WiredTiger. Es el motor por defecto y el único disponible en MongoDB Community.
Existe también un motor en memoria, que guarda los datos solo en RAM. Ofrece latencias mínimas y muy predecibles, a cambio de no persistir nada en disco: si el proceso se reinicia, los datos desaparecen. Se usa, por ejemplo, en un miembro de un replica set dedicado a lecturas de muy baja latencia, mientras otros miembros con WiredTiger garantizan la persistencia. Está disponible en MongoDB Enterprise y también en Percona Server for MongoDB.
Y os menciono MMAPv1, el motor original de MongoDB, solo porque todavía podéis encontrarlo en alguna migración de un sistema muy antiguo. Se eliminó en la versión 4.2.
El motor se elige al crear la instancia con el parámetro storage.engine. Cambiar de motor en una instancia existente no es inmediato: hay que volcar y recargar los datos o, en un replica set, ir resincronizando los nodos uno a uno con el motor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WiredTiger comprime los datos antes de escribirlos en disco, y puede hacerlo con varios algoritmos.
El algoritmo por defecto para las colecciones es snappy, que tiene una ratio de compresión razonable con un consumo de CPU muy bajo. Es un buen equilibrio para la mayoría de los casos. Si el disco o la entrada-salida son vuestro cuello de botella, zstd suele dar ratios bastante mejores a cambio de algo más de CPU, y en colecciones grandes de logs o de históricos la diferencia en espacio puede ser muy significativa. zlib comprime bien pero consume más CPU, y hoy en día suele preferirse zstd.
Para los índices se usa compresión de prefijos, que aprovecha que las claves consecutivas de un índice suelen compartir el principio y guarda solo la parte que cambia. Está activada por defecto.
La compresión se puede configurar para toda la instancia, con blockCompressor, o colección a colección en el momento de crearla, que es lo que vais a hacer en el laboratorio para comparar snappy y zstd con los mismos datos. Tened en cuenta que cambiar la configuración global solo afecta a las colecciones que se creen a partir de ese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disco. El sistema de ficheros recomendado para WiredTiger en Linux es XFS. MongoDB lo recomienda expresamente porque con ext4 se han observado problemas de rendimiento en ciertos patrones de escritura de WiredTiger. Además, conviene montar el sistema de ficheros con la opción noatime, que evita que cada lectura de un fichero provoque una escritura para actualizar la fecha de último acceso.
En cuanto al hardware, discos SSD o NVMe, y en la nube, volúmenes con IOPS garantizadas, porque los volúmenes con rendimiento en ráfagas funcionan muy bien hasta que se agotan los créditos, y entonces el rendimiento cae en picado justo cuando más carga hay. Los datos deben ir en un disco dedicado, y opcionalmente podéis separar el journal y los logs en otro. Si usáis RAID, que sea RAID diez; el RAID cinco o seis penaliza mucho las escrituras.
Otro ajuste a nivel de dispositivo es el readahead, que es cuánto lee el sistema operativo por anticipado cada vez que accede al disco. Para WiredTiger, cuyo patrón de acceso es bastante aleatorio, se recomienda un valor bajo, entre ocho y treinta y dos sectores. Un readahead alto hace que el sistema operativo llene la caché de páginas que nadie va a leer.
Y una advertencia sobre los snapshots de disco como método de backup, que veremos el cuarto día: para que un snapshot sea coherente sin más precauciones, el journal tiene que estar en el mismo volumen que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lista de ajustes del sistema operativo que deberíais revisar en cualquier servidor Linux con MongoDB. No hace falta memorizarla, pero sí saber que existe y dónde consultarla, que es en las production notes de la documentación oficial.
El primero son los límites del proceso: ficheros abiertos y número de procesos. MongoDB usa un descriptor por cada conexión y por cada fichero de datos, y cada colección y cada índice son un fichero, así que con los límites por defecto de muchas distribuciones os quedaréis cortos. La recomendación es sesenta y cuatro mil o más.
El segundo es vm.swappiness, que controla la tendencia del kernel a mandar memoria a swap. Con un valor de uno, el kernel solo recurre al swap en caso de necesidad extrema.
El tercero, Transparent Huge Pages, merece diapositiva propia porque ha cambiado de criterio en la versión 8.0, así que ahora vuelvo sobre él.
En servidores con varios procesadores físicos, la arquitectura NUMA puede hacer que un nodo de memoria se agote mientras en otro sobra, y hay que configurar interleave o desactivar la recuperación por zona. vm.max_map_count limita el número de mapeos de memoria del proceso, y con muchas colecciones e índices hay que subirlo. La sincronización horaria es imprescindible, porque la replicación, los logs y la validez de los certificados dependen de la hora. Y el firewall debe permitir el puerto veintisiete mil diecisiete solo desde los orígenes autorizados.
Cuando MongoDB detecta al arrancar alguno de estos ajustes mal configurado, lo avisa en los startup warnings, que es lo primero que revisaréis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 detengo en Transparent Huge Pages porque es un ejemplo perfecto de por qué hay que revisar la documentación en cada versión y no fiarse de los apuntes antiguos, incluidos los míos.
Durante muchos años, la recomendación oficial fue deshabilitar Transparent Huge Pages en los servidores de MongoDB, porque el patrón de acceso a memoria de la base de datos no se llevaba bien con las páginas grandes y provocaba latencias. Esa recomendación está en miles de blogs, de playbooks de Ansible y de plantillas de servidor.
En MongoDB 8.0 la recomendación cambia. La nueva versión incluye una versión actualizada del asignador de memoria TCMalloc, con cachés por CPU, que sí aprovecha las páginas grandes, y ahora se recomienda habilitarlas. En versiones 7.0 y anteriores, la recomendación sigue siendo deshabilitarlas.
Consecuencia práctica: cuando actualicéis de 7.0 a 8.0, además de los binarios y la FCV, tenéis que revisar este ajuste del sistema operativo. Y si vuestra organización tiene una plantilla de servidor que deshabilita THP para todos los MongoDB, hay que adaptarla por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al tercer laboratorio. Vais a cargar doscientos mil pedidos en el servidor standalone y a observar cómo se comporta la caché de WiredTiger: cuánto ocupa, cuánto hay sucio pendiente de escribir, cuántas páginas se han leído de disco. Compararéis la memoria residente del proceso con el tamaño de la caché, y después haréis un experimento de compresión: la misma colección con snappy y con zstd, para ver la diferencia de espacio en disco.
Por último, revisaréis los avisos de arranque y los ajustes del sistema operativo que ve el contenedor. Tened en cuenta que en Docker Desktop el kernel que veis es el de la máquina virtual de Docker, no el de vuestro equipo, así que los valores no son los de un servidor de producción; el objetivo es que sepáis dónde mirar y qué valor recomendaríais.
[Al terminar] Repasemos la pregunta para pensar: en un servidor de sesenta y cuatro gigas con tres instancias sin configurar, cada una intentaría quedarse con treinta y un gigas y medio de caché, en total más de noventa gigas en una máquina de sesenta y cuatro. El resultado sería swap o que el OOM killer del kernel mate alguno de los procesos. Por eso, cuando hay varias instancias por máquina, el tamaño de la caché se fija siempre explícitamente.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último módulo del día, que tiene dos partes. La primera es mongosh, la shell de MongoDB, que es vuestra herramienta de trabajo diaria. La segunda es la autenticación: cómo se activa el control de acceso en una instancia y cómo se crea el primer usuario, que es la primera línea de defensa de cualquier despliegue. Mañana y pasado profundizaremos mucho más en seguridad, pero una instancia sin autenticación no debería existir ni un día, así que la activamos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mongosh es la shell actual de MongoDB. Sustituyó a la antigua shell llamada mongo, que se eliminó en la versión 6.0, así que si encontráis scripts antiguos que llaman al comando mongo, habrá que revisarlos, porque aunque la mayoría de la sintaxis es compatible, hay diferencias.
mongosh está construida sobre Node.js, lo que significa que dentro de ella tenéis JavaScript moderno, con funciones flecha, const, let y todo lo demás, e incluso podéis cargar paquetes de npm.
Fijaos en la parte de arriba del ejemplo. La conexión se hace con una URI que indica el usuario, los miembros del replica set, el nombre del replica set y la base de datos en la que está definido el usuario, el authSource. Y lo más útil para un administrador: mongosh se puede usar de forma no interactiva, con eval o pasando un fichero de script. Esa es la base de cualquier automatización, desde una comprobación de salud lanzada desde cron hasta un paso de un playbook de Ansible. La opción json relaxed hace que la salida sea JSON válido, que podéis procesar con otras herramientas.
Dentro de la shell, los comandos que más usaréis como administradores son hello, que os dice el rol del nodo y quién es el primario, serverStatus, que es la gran fuente de métricas, currentOp, para ver qué se está ejecutando, y stats, para ver tamaños.
Y un truco que os recomiendo: el fichero .mongoshrc.js en vuestro directorio personal se carga automáticamente al abrir la shell. Ahí podéis definir vuestro prompt y vuestras funciones de utilidad. En el repositorio os dejo uno de ejemplo que usaréis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conceptos que se confunden a menudo: autenticación y autorización.
La autenticación responde a la pregunta de quién eres. El cliente demuestra su identidad con un mecanismo: por defecto SCRAM, que es usuario y contraseña con un protocolo de desafío y respuesta, pero también certificados x.509, LDAP o Kerberos, que veremos el tercer día. Cada usuario está definido en una base de datos concreta, que es la que se indica en el authSource de la conexión.
La autorización responde a la pregunta de qué puedes hacer. En MongoDB se basa en roles: cada usuario tiene uno o varios roles, y cada rol concede privilegios, que son acciones sobre recursos, por ejemplo la acción find sobre la colección pedidos de la base de datos tienda. Cada comando que el usuario ejecuta se comprueba contra esos privilegios.
Ambas cosas se activan con un único parámetro: security.authorization a enabled. Y quiero que os quede muy claro lo que pasa si no lo activáis, que es el comportamiento por defecto: cualquiera que pueda llegar al puerto de MongoDB puede leer, modificar y borrar todos los datos. Hace unos años hubo campañas masivas de ataques que borraban bases de datos expuestas y dejaban una nota pidiendo un rescate. Todas tenían en común lo mismo: autenticación desactivada y el puerto accesible.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activamos la autorización en una instancia que todavía no tiene usuarios, tenemos un problema del huevo y la gallina: para crear un usuario hay que estar autenticado, y para autenticarse hay que tener un usuario. MongoDB lo resuelve con la llamada localhost exception.
Cuando la autorización está activa y no existe ningún usuario, MongoDB permite conectarse desde la propia máquina, desde localhost, y esa conexión puede crear el primer usuario. También permite algunas operaciones de puesta en marcha, como iniciar un replica set. En cuanto existe un usuario, la excepción se cierra automáticamente y ya solo se puede trabajar autenticado.
En un replica set, el primer usuario se crea en el primario, conectándose desde su propia máquina, y se replica al resto de nodos como cualquier otro dato. Mañana lo haréis exactamente así.
El orden recomendado es el del recuadro: primero se activa la autorización en la configuración, luego se arranca, luego se crea el administrador desde localhost y, a partir de ese momento, se trabaja siempre autenticado. Lo que no hay que hacer es arrancar sin autorización, crear usuarios con calma y dejar la activación para más adelante, porque ese más adelante a veces no llega nunca.
El primer usuario suele tener un rol amplio, como userAdminAnyDatabase o root, y con él se crean después los usuarios nominales de cada persona y de cada aplicación, con el mínimo privilegio necesario. Profundizaremos en roles el tercer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laboratorio del día. En la primera parte vais a usar mongosh como herramienta de administración: ejecución no interactiva, salida en JSON y personalización con el fichero .mongoshrc.js que os he dejado en el repositorio.
En la segunda parte, la más importante, vais a activar la autenticación en el servidor standalone. Primero comprobaréis que ahora mismo cualquiera puede leerlo todo. Después editaréis el mongod.conf, reiniciaréis, y veréis que desde el toolbox ya no podéis hacer nada. Crearéis el administrador aprovechando la localhost exception, desde dentro del propio contenedor del servidor, comprobaréis que la excepción se cierra en cuanto existe un usuario, y terminaréis creando un usuario de aplicación con permisos solo sobre la base de datos tienda.
[Al terminar] Fijaos en un detalle de la solución: el parámetro authSource indica en qué base de datos está definido el usuario, que no tiene por qué ser la base de datos con la que trabajáis. El administrador está definido en admin y el usuario de la aplicación en tienda. Mañana, como buena práctica, definiremos todos los usuarios en admin, para tener un único lugar donde auditarlos.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Terminamos el primer día. Hagamos un repaso rápido de lo que hemos visto.
Empezamos entendiendo el modelo documental, el formato BSON y las tres topologías posibles, con la idea clave de que en producción el mínimo es un replica set. Vimos cómo se instala MongoDB, la anatomía del mongod.conf y cómo se ejecuta como servicio del sistema. Aprendimos que las actualizaciones de versión mayor se hacen de una en una y en dos fases, primero los binarios y después la FCV. Vimos cómo funciona WiredTiger por dentro, cómo se dimensiona la caché y por qué no hay que darle toda la memoria, y repasamos los ajustes de disco y del sistema operativo, con la advertencia de que Transparent Huge Pages cambia de criterio en la 8.0. Y terminamos con mongosh y con la activación de la autenticación.
Mañana entramos en el corazón del curso: la replicación y la alta disponibilidad. Montaremos un replica set de tres nodos con autenticación interna, veremos cómo funcionan el oplog, los heartbeats y las elecciones, jugaremos con los niveles de confirmación de escrituras y de lecturas, con los tags y las prioridades, y romperemos el replica set de todas las formas posibles para ver cómo se recupera.
Os pido una cosa para mañana: si tenéis un momento, comprobad que el entorno de la carpeta entorno arranca en vuestro equipo, tal como explica la guía de preparación. Muchas gracias por vuestra atención y nos vemos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9326880" y="1737360"/>
            <a:ext cx="1828800" cy="1188720"/>
          </a:xfrm>
          <a:prstGeom prst="line">
            <a:avLst/>
          </a:prstGeom>
          <a:noFill/>
          <a:ln w="25400">
            <a:solidFill>
              <a:srgbClr val="2E9E66"/>
            </a:solidFill>
            <a:prstDash val="solid"/>
          </a:ln>
        </p:spPr>
      </p:sp>
      <p:sp>
        <p:nvSpPr>
          <p:cNvPr id="3" name="Shape 1"/>
          <p:cNvSpPr/>
          <p:nvPr/>
        </p:nvSpPr>
        <p:spPr>
          <a:xfrm flipV="1">
            <a:off x="9601200" y="2926080"/>
            <a:ext cx="1554480" cy="1554480"/>
          </a:xfrm>
          <a:prstGeom prst="line">
            <a:avLst/>
          </a:prstGeom>
          <a:noFill/>
          <a:ln w="25400">
            <a:solidFill>
              <a:srgbClr val="2E9E66"/>
            </a:solidFill>
            <a:prstDash val="solid"/>
          </a:ln>
        </p:spPr>
      </p:sp>
      <p:sp>
        <p:nvSpPr>
          <p:cNvPr id="4" name="Shape 2"/>
          <p:cNvSpPr/>
          <p:nvPr/>
        </p:nvSpPr>
        <p:spPr>
          <a:xfrm>
            <a:off x="9326880" y="1737360"/>
            <a:ext cx="274320" cy="2743200"/>
          </a:xfrm>
          <a:prstGeom prst="line">
            <a:avLst/>
          </a:prstGeom>
          <a:noFill/>
          <a:ln w="25400">
            <a:solidFill>
              <a:srgbClr val="2E9E66"/>
            </a:solidFill>
            <a:prstDash val="solid"/>
          </a:ln>
        </p:spPr>
      </p:sp>
      <p:sp>
        <p:nvSpPr>
          <p:cNvPr id="5" name="Shape 3"/>
          <p:cNvSpPr/>
          <p:nvPr/>
        </p:nvSpPr>
        <p:spPr>
          <a:xfrm>
            <a:off x="8778240" y="1188720"/>
            <a:ext cx="1097280" cy="1097280"/>
          </a:xfrm>
          <a:prstGeom prst="ellipse">
            <a:avLst/>
          </a:prstGeom>
          <a:solidFill>
            <a:srgbClr val="F2B33D"/>
          </a:solidFill>
          <a:ln w="12700">
            <a:solidFill>
              <a:srgbClr val="F2B33D"/>
            </a:solidFill>
            <a:prstDash val="solid"/>
          </a:ln>
        </p:spPr>
      </p:sp>
      <p:sp>
        <p:nvSpPr>
          <p:cNvPr id="6" name="Text 4"/>
          <p:cNvSpPr txBox="1"/>
          <p:nvPr/>
        </p:nvSpPr>
        <p:spPr>
          <a:xfrm>
            <a:off x="8778240" y="1188720"/>
            <a:ext cx="1097280" cy="1097280"/>
          </a:xfrm>
          <a:prstGeom prst="rect">
            <a:avLst/>
          </a:prstGeom>
          <a:noFill/>
          <a:ln/>
        </p:spPr>
        <p:txBody>
          <a:bodyPr wrap="square" lIns="0" tIns="0" rIns="0" bIns="0" rtlCol="0" anchor="ctr"/>
          <a:lstStyle/>
          <a:p>
            <a:pPr algn="ctr" indent="0" marL="0">
              <a:buNone/>
            </a:pPr>
            <a:r>
              <a:rPr lang="en-US" sz="3000" b="1" dirty="0">
                <a:solidFill>
                  <a:srgbClr val="0F2A25"/>
                </a:solidFill>
                <a:latin typeface="Cambria" pitchFamily="34" charset="0"/>
                <a:ea typeface="Cambria" pitchFamily="34" charset="-122"/>
                <a:cs typeface="Cambria" pitchFamily="34" charset="-120"/>
              </a:rPr>
              <a:t>P</a:t>
            </a:r>
            <a:endParaRPr lang="en-US" sz="3000" dirty="0"/>
          </a:p>
        </p:txBody>
      </p:sp>
      <p:sp>
        <p:nvSpPr>
          <p:cNvPr id="7" name="Shape 5"/>
          <p:cNvSpPr/>
          <p:nvPr/>
        </p:nvSpPr>
        <p:spPr>
          <a:xfrm>
            <a:off x="10607040" y="2377440"/>
            <a:ext cx="1097280" cy="1097280"/>
          </a:xfrm>
          <a:prstGeom prst="ellipse">
            <a:avLst/>
          </a:prstGeom>
          <a:solidFill>
            <a:srgbClr val="1F7A4D"/>
          </a:solidFill>
          <a:ln w="12700">
            <a:solidFill>
              <a:srgbClr val="1F7A4D"/>
            </a:solidFill>
            <a:prstDash val="solid"/>
          </a:ln>
        </p:spPr>
      </p:sp>
      <p:sp>
        <p:nvSpPr>
          <p:cNvPr id="8" name="Text 6"/>
          <p:cNvSpPr txBox="1"/>
          <p:nvPr/>
        </p:nvSpPr>
        <p:spPr>
          <a:xfrm>
            <a:off x="10607040" y="237744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9" name="Shape 7"/>
          <p:cNvSpPr/>
          <p:nvPr/>
        </p:nvSpPr>
        <p:spPr>
          <a:xfrm>
            <a:off x="9052560" y="3931920"/>
            <a:ext cx="1097280" cy="1097280"/>
          </a:xfrm>
          <a:prstGeom prst="ellipse">
            <a:avLst/>
          </a:prstGeom>
          <a:solidFill>
            <a:srgbClr val="1F7A4D"/>
          </a:solidFill>
          <a:ln w="12700">
            <a:solidFill>
              <a:srgbClr val="1F7A4D"/>
            </a:solidFill>
            <a:prstDash val="solid"/>
          </a:ln>
        </p:spPr>
      </p:sp>
      <p:sp>
        <p:nvSpPr>
          <p:cNvPr id="10" name="Text 8"/>
          <p:cNvSpPr txBox="1"/>
          <p:nvPr/>
        </p:nvSpPr>
        <p:spPr>
          <a:xfrm>
            <a:off x="9052560" y="393192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11" name="Text 9"/>
          <p:cNvSpPr txBox="1"/>
          <p:nvPr/>
        </p:nvSpPr>
        <p:spPr>
          <a:xfrm>
            <a:off x="548640" y="1097280"/>
            <a:ext cx="7589520" cy="365760"/>
          </a:xfrm>
          <a:prstGeom prst="rect">
            <a:avLst/>
          </a:prstGeom>
          <a:noFill/>
          <a:ln/>
        </p:spPr>
        <p:txBody>
          <a:bodyPr wrap="square" lIns="0" tIns="0" rIns="0" bIns="0" rtlCol="0" anchor="ctr"/>
          <a:lstStyle/>
          <a:p>
            <a:pPr indent="0" marL="0">
              <a:buNone/>
            </a:pPr>
            <a:r>
              <a:rPr lang="en-US" sz="1600" b="1" spc="400" kern="0" dirty="0">
                <a:solidFill>
                  <a:srgbClr val="F2B33D"/>
                </a:solidFill>
                <a:latin typeface="Calibri" pitchFamily="34" charset="0"/>
                <a:ea typeface="Calibri" pitchFamily="34" charset="-122"/>
                <a:cs typeface="Calibri" pitchFamily="34" charset="-120"/>
              </a:rPr>
              <a:t>CURSO DE ADMINISTRACIÓN DE MONGODB · DÍA 1 DE 4</a:t>
            </a:r>
            <a:endParaRPr lang="en-US" sz="1600" dirty="0"/>
          </a:p>
        </p:txBody>
      </p:sp>
      <p:sp>
        <p:nvSpPr>
          <p:cNvPr id="12" name="Text 10"/>
          <p:cNvSpPr txBox="1"/>
          <p:nvPr/>
        </p:nvSpPr>
        <p:spPr>
          <a:xfrm>
            <a:off x="548640" y="1554480"/>
            <a:ext cx="7589520" cy="2011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Fundamentos y administración básica</a:t>
            </a:r>
            <a:endParaRPr lang="en-US" sz="4400" dirty="0"/>
          </a:p>
        </p:txBody>
      </p:sp>
      <p:sp>
        <p:nvSpPr>
          <p:cNvPr id="13" name="Text 11"/>
          <p:cNvSpPr txBox="1"/>
          <p:nvPr/>
        </p:nvSpPr>
        <p:spPr>
          <a:xfrm>
            <a:off x="548640" y="3657600"/>
            <a:ext cx="7589520" cy="914400"/>
          </a:xfrm>
          <a:prstGeom prst="rect">
            <a:avLst/>
          </a:prstGeom>
          <a:noFill/>
          <a:ln/>
        </p:spPr>
        <p:txBody>
          <a:bodyPr wrap="square" lIns="0" tIns="0" rIns="0" bIns="0" rtlCol="0" anchor="t"/>
          <a:lstStyle/>
          <a:p>
            <a:pPr indent="0" marL="0">
              <a:buNone/>
            </a:pPr>
            <a:r>
              <a:rPr lang="en-US" sz="2000" dirty="0">
                <a:solidFill>
                  <a:srgbClr val="CFE3D8"/>
                </a:solidFill>
                <a:latin typeface="Calibri" pitchFamily="34" charset="0"/>
                <a:ea typeface="Calibri" pitchFamily="34" charset="-122"/>
                <a:cs typeface="Calibri" pitchFamily="34" charset="-120"/>
              </a:rPr>
              <a:t>Por qué MongoDB, instalación, actualización, memoria, almacenamiento, sistema operativo y mongosh</a:t>
            </a:r>
            <a:endParaRPr lang="en-US" sz="2000" dirty="0"/>
          </a:p>
        </p:txBody>
      </p:sp>
      <p:sp>
        <p:nvSpPr>
          <p:cNvPr id="14" name="Text 12"/>
          <p:cNvSpPr txBox="1"/>
          <p:nvPr/>
        </p:nvSpPr>
        <p:spPr>
          <a:xfrm>
            <a:off x="548640" y="5394960"/>
            <a:ext cx="7589520" cy="365760"/>
          </a:xfrm>
          <a:prstGeom prst="rect">
            <a:avLst/>
          </a:prstGeom>
          <a:noFill/>
          <a:ln/>
        </p:spPr>
        <p:txBody>
          <a:bodyPr wrap="square" lIns="0" tIns="0" rIns="0" bIns="0" rtlCol="0" anchor="ctr"/>
          <a:lstStyle/>
          <a:p>
            <a:pPr indent="0" marL="0">
              <a:buNone/>
            </a:pPr>
            <a:r>
              <a:rPr lang="en-US" sz="1400" dirty="0">
                <a:solidFill>
                  <a:srgbClr val="9DB8AE"/>
                </a:solidFill>
                <a:latin typeface="Calibri" pitchFamily="34" charset="0"/>
                <a:ea typeface="Calibri" pitchFamily="34" charset="-122"/>
                <a:cs typeface="Calibri" pitchFamily="34" charset="-120"/>
              </a:rPr>
              <a:t>16 horas · 4 sesiones de 4 horas · MongoDB 8.0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Qué vamos a conseguir en este curso</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Poner en marcha</a:t>
            </a:r>
            <a:r>
              <a:rPr lang="en-US" sz="2000" dirty="0">
                <a:solidFill>
                  <a:srgbClr val="1C2B27"/>
                </a:solidFill>
                <a:latin typeface="Calibri" pitchFamily="34" charset="0"/>
                <a:ea typeface="Calibri" pitchFamily="34" charset="-122"/>
                <a:cs typeface="Calibri" pitchFamily="34" charset="-120"/>
              </a:rPr>
              <a:t> instancias de MongoDB bien configuradas desde el primer día</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Replicar</a:t>
            </a:r>
            <a:r>
              <a:rPr lang="en-US" sz="2000" dirty="0">
                <a:solidFill>
                  <a:srgbClr val="1C2B27"/>
                </a:solidFill>
                <a:latin typeface="Calibri" pitchFamily="34" charset="0"/>
                <a:ea typeface="Calibri" pitchFamily="34" charset="-122"/>
                <a:cs typeface="Calibri" pitchFamily="34" charset="-120"/>
              </a:rPr>
              <a:t> los datos y diseñar la </a:t>
            </a:r>
            <a:r>
              <a:rPr lang="en-US" sz="2000" b="1" dirty="0">
                <a:solidFill>
                  <a:srgbClr val="1C2B27"/>
                </a:solidFill>
                <a:latin typeface="Calibri" pitchFamily="34" charset="0"/>
                <a:ea typeface="Calibri" pitchFamily="34" charset="-122"/>
                <a:cs typeface="Calibri" pitchFamily="34" charset="-120"/>
              </a:rPr>
              <a:t>alta disponibilidad</a:t>
            </a:r>
            <a:r>
              <a:rPr lang="en-US" sz="2000" dirty="0">
                <a:solidFill>
                  <a:srgbClr val="1C2B27"/>
                </a:solidFill>
                <a:latin typeface="Calibri" pitchFamily="34" charset="0"/>
                <a:ea typeface="Calibri" pitchFamily="34" charset="-122"/>
                <a:cs typeface="Calibri" pitchFamily="34" charset="-120"/>
              </a:rPr>
              <a:t> con replica sets</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Proteger</a:t>
            </a:r>
            <a:r>
              <a:rPr lang="en-US" sz="2000" dirty="0">
                <a:solidFill>
                  <a:srgbClr val="1C2B27"/>
                </a:solidFill>
                <a:latin typeface="Calibri" pitchFamily="34" charset="0"/>
                <a:ea typeface="Calibri" pitchFamily="34" charset="-122"/>
                <a:cs typeface="Calibri" pitchFamily="34" charset="-120"/>
              </a:rPr>
              <a:t> el acceso: autenticación, roles, TLS, auditoría y cifrado</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Hacer backups</a:t>
            </a:r>
            <a:r>
              <a:rPr lang="en-US" sz="2000" dirty="0">
                <a:solidFill>
                  <a:srgbClr val="1C2B27"/>
                </a:solidFill>
                <a:latin typeface="Calibri" pitchFamily="34" charset="0"/>
                <a:ea typeface="Calibri" pitchFamily="34" charset="-122"/>
                <a:cs typeface="Calibri" pitchFamily="34" charset="-120"/>
              </a:rPr>
              <a:t> y, sobre todo, </a:t>
            </a:r>
            <a:r>
              <a:rPr lang="en-US" sz="2000" b="1" dirty="0">
                <a:solidFill>
                  <a:srgbClr val="1C2B27"/>
                </a:solidFill>
                <a:latin typeface="Calibri" pitchFamily="34" charset="0"/>
                <a:ea typeface="Calibri" pitchFamily="34" charset="-122"/>
                <a:cs typeface="Calibri" pitchFamily="34" charset="-120"/>
              </a:rPr>
              <a:t>restaurarlos</a:t>
            </a:r>
            <a:r>
              <a:rPr lang="en-US" sz="2000" dirty="0">
                <a:solidFill>
                  <a:srgbClr val="1C2B27"/>
                </a:solidFill>
                <a:latin typeface="Calibri" pitchFamily="34" charset="0"/>
                <a:ea typeface="Calibri" pitchFamily="34" charset="-122"/>
                <a:cs typeface="Calibri" pitchFamily="34" charset="-120"/>
              </a:rPr>
              <a:t>, incluida la recuperación a un instante</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Monitorizar</a:t>
            </a:r>
            <a:r>
              <a:rPr lang="en-US" sz="2000" dirty="0">
                <a:solidFill>
                  <a:srgbClr val="1C2B27"/>
                </a:solidFill>
                <a:latin typeface="Calibri" pitchFamily="34" charset="0"/>
                <a:ea typeface="Calibri" pitchFamily="34" charset="-122"/>
                <a:cs typeface="Calibri" pitchFamily="34" charset="-120"/>
              </a:rPr>
              <a:t> con métricas, paneles y alertas</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Diagnosticar y resolver</a:t>
            </a:r>
            <a:r>
              <a:rPr lang="en-US" sz="2000" dirty="0">
                <a:solidFill>
                  <a:srgbClr val="1C2B27"/>
                </a:solidFill>
                <a:latin typeface="Calibri" pitchFamily="34" charset="0"/>
                <a:ea typeface="Calibri" pitchFamily="34" charset="-122"/>
                <a:cs typeface="Calibri" pitchFamily="34" charset="-120"/>
              </a:rPr>
              <a:t> incidencias con las herramientas del propio MongoDB</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Cómo trabajaremos</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Cada bloque combina una parte de explicación con un laboratorio práctico en vuestro equipo. Los laboratorios están en un repositorio de GitHub, con los enunciados en Markdown y las soluciones plegadas para que intentéis resolver cada paso antes de mirarlas.</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 / 38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Las cuatro sesiones</a:t>
            </a:r>
            <a:endParaRPr lang="en-US" sz="3200" dirty="0"/>
          </a:p>
        </p:txBody>
      </p:sp>
      <p:sp>
        <p:nvSpPr>
          <p:cNvPr id="3" name="Shape 1"/>
          <p:cNvSpPr/>
          <p:nvPr/>
        </p:nvSpPr>
        <p:spPr>
          <a:xfrm>
            <a:off x="548640" y="1508760"/>
            <a:ext cx="2567864" cy="4663440"/>
          </a:xfrm>
          <a:prstGeom prst="roundRect">
            <a:avLst>
              <a:gd name="adj" fmla="val 4273"/>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1F7A4D"/>
          </a:solidFill>
          <a:ln w="12700">
            <a:solidFill>
              <a:srgbClr val="1F7A4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17320" y="1709928"/>
            <a:ext cx="1516304"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Día 1</a:t>
            </a:r>
            <a:endParaRPr lang="en-US" sz="1800" dirty="0"/>
          </a:p>
        </p:txBody>
      </p:sp>
      <p:sp>
        <p:nvSpPr>
          <p:cNvPr id="7" name="Text 5"/>
          <p:cNvSpPr txBox="1"/>
          <p:nvPr/>
        </p:nvSpPr>
        <p:spPr>
          <a:xfrm>
            <a:off x="777240" y="2377440"/>
            <a:ext cx="2110664" cy="365760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Fundamentos y administración básica: por qué MongoDB, instalación, actualización, memoria, motores de almacenamiento, sistema de ficheros, ajustes del SO, mongosh y autenticación.</a:t>
            </a:r>
            <a:endParaRPr lang="en-US" sz="1500" dirty="0"/>
          </a:p>
        </p:txBody>
      </p:sp>
      <p:sp>
        <p:nvSpPr>
          <p:cNvPr id="8" name="Shape 6"/>
          <p:cNvSpPr/>
          <p:nvPr/>
        </p:nvSpPr>
        <p:spPr>
          <a:xfrm>
            <a:off x="3390824" y="1508760"/>
            <a:ext cx="2567864" cy="4663440"/>
          </a:xfrm>
          <a:prstGeom prst="roundRect">
            <a:avLst>
              <a:gd name="adj" fmla="val 4273"/>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3619424"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3619424"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4259504" y="1709928"/>
            <a:ext cx="1516304"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Día 2</a:t>
            </a:r>
            <a:endParaRPr lang="en-US" sz="1800" dirty="0"/>
          </a:p>
        </p:txBody>
      </p:sp>
      <p:sp>
        <p:nvSpPr>
          <p:cNvPr id="12" name="Text 10"/>
          <p:cNvSpPr txBox="1"/>
          <p:nvPr/>
        </p:nvSpPr>
        <p:spPr>
          <a:xfrm>
            <a:off x="3619424" y="2377440"/>
            <a:ext cx="2110664" cy="365760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Replicación y alta disponibilidad: oplog, heartbeats, elecciones, configuración, read y write concern, tags, prioridades, failover, mantenimiento rolling y geodistribución.</a:t>
            </a:r>
            <a:endParaRPr lang="en-US" sz="1500" dirty="0"/>
          </a:p>
        </p:txBody>
      </p:sp>
      <p:sp>
        <p:nvSpPr>
          <p:cNvPr id="13" name="Shape 11"/>
          <p:cNvSpPr/>
          <p:nvPr/>
        </p:nvSpPr>
        <p:spPr>
          <a:xfrm>
            <a:off x="6233008" y="1508760"/>
            <a:ext cx="2567864" cy="4663440"/>
          </a:xfrm>
          <a:prstGeom prst="roundRect">
            <a:avLst>
              <a:gd name="adj" fmla="val 4273"/>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6461608" y="1737360"/>
            <a:ext cx="502920" cy="502920"/>
          </a:xfrm>
          <a:prstGeom prst="ellipse">
            <a:avLst/>
          </a:prstGeom>
          <a:solidFill>
            <a:srgbClr val="1F7A4D"/>
          </a:solidFill>
          <a:ln w="12700">
            <a:solidFill>
              <a:srgbClr val="1F7A4D"/>
            </a:solidFill>
            <a:prstDash val="solid"/>
          </a:ln>
        </p:spPr>
      </p:sp>
      <p:sp>
        <p:nvSpPr>
          <p:cNvPr id="15" name="Text 13"/>
          <p:cNvSpPr txBox="1"/>
          <p:nvPr/>
        </p:nvSpPr>
        <p:spPr>
          <a:xfrm>
            <a:off x="646160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7101688" y="1709928"/>
            <a:ext cx="1516304"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Día 3</a:t>
            </a:r>
            <a:endParaRPr lang="en-US" sz="1800" dirty="0"/>
          </a:p>
        </p:txBody>
      </p:sp>
      <p:sp>
        <p:nvSpPr>
          <p:cNvPr id="17" name="Text 15"/>
          <p:cNvSpPr txBox="1"/>
          <p:nvPr/>
        </p:nvSpPr>
        <p:spPr>
          <a:xfrm>
            <a:off x="6461608" y="2377440"/>
            <a:ext cx="2110664" cy="365760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Seguridad: mecanismos de autenticación, usuarios y roles, membresía interna, LDAP, límites de recursos, TLS, auditoría y cifrado en reposo.</a:t>
            </a:r>
            <a:endParaRPr lang="en-US" sz="1500" dirty="0"/>
          </a:p>
        </p:txBody>
      </p:sp>
      <p:sp>
        <p:nvSpPr>
          <p:cNvPr id="18" name="Shape 16"/>
          <p:cNvSpPr/>
          <p:nvPr/>
        </p:nvSpPr>
        <p:spPr>
          <a:xfrm>
            <a:off x="9075191" y="1508760"/>
            <a:ext cx="2567864" cy="4663440"/>
          </a:xfrm>
          <a:prstGeom prst="roundRect">
            <a:avLst>
              <a:gd name="adj" fmla="val 4273"/>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9303791" y="173736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9303791"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943871" y="1709928"/>
            <a:ext cx="1516304"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Día 4</a:t>
            </a:r>
            <a:endParaRPr lang="en-US" sz="1800" dirty="0"/>
          </a:p>
        </p:txBody>
      </p:sp>
      <p:sp>
        <p:nvSpPr>
          <p:cNvPr id="22" name="Text 20"/>
          <p:cNvSpPr txBox="1"/>
          <p:nvPr/>
        </p:nvSpPr>
        <p:spPr>
          <a:xfrm>
            <a:off x="9303791" y="2377440"/>
            <a:ext cx="2110664" cy="365760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Backups y recuperación, Percona Backup for MongoDB, monitorización con PMM, alertas y troubleshooting con logs, mongostat, mongotop y profiler.</a:t>
            </a:r>
            <a:endParaRPr lang="en-US" sz="1500" dirty="0"/>
          </a:p>
        </p:txBody>
      </p:sp>
      <p:sp>
        <p:nvSpPr>
          <p:cNvPr id="23" name="Text 2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24" name="Text 2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 / 38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Agenda de hoy</a:t>
            </a:r>
            <a:endParaRPr lang="en-US" sz="3200" dirty="0"/>
          </a:p>
        </p:txBody>
      </p:sp>
      <p:sp>
        <p:nvSpPr>
          <p:cNvPr id="3" name="Shape 1"/>
          <p:cNvSpPr/>
          <p:nvPr/>
        </p:nvSpPr>
        <p:spPr>
          <a:xfrm>
            <a:off x="548640" y="1600200"/>
            <a:ext cx="5364328" cy="457200"/>
          </a:xfrm>
          <a:prstGeom prst="roundRect">
            <a:avLst>
              <a:gd name="adj" fmla="val 12000"/>
            </a:avLst>
          </a:prstGeom>
          <a:solidFill>
            <a:srgbClr val="F4F9F6"/>
          </a:solidFill>
          <a:ln w="12700">
            <a:solidFill>
              <a:srgbClr val="D5DDD9"/>
            </a:solidFill>
            <a:prstDash val="solid"/>
          </a:ln>
        </p:spPr>
      </p:sp>
      <p:sp>
        <p:nvSpPr>
          <p:cNvPr id="4" name="Text 2"/>
          <p:cNvSpPr txBox="1"/>
          <p:nvPr/>
        </p:nvSpPr>
        <p:spPr>
          <a:xfrm>
            <a:off x="685800"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0:00</a:t>
            </a:r>
            <a:endParaRPr lang="en-US" sz="1300" dirty="0"/>
          </a:p>
        </p:txBody>
      </p:sp>
      <p:sp>
        <p:nvSpPr>
          <p:cNvPr id="5" name="Shape 3"/>
          <p:cNvSpPr/>
          <p:nvPr/>
        </p:nvSpPr>
        <p:spPr>
          <a:xfrm>
            <a:off x="1463040" y="1691640"/>
            <a:ext cx="868680" cy="274320"/>
          </a:xfrm>
          <a:prstGeom prst="roundRect">
            <a:avLst>
              <a:gd name="adj" fmla="val 50000"/>
            </a:avLst>
          </a:prstGeom>
          <a:solidFill>
            <a:srgbClr val="173D35"/>
          </a:solidFill>
          <a:ln w="12700">
            <a:solidFill>
              <a:srgbClr val="173D35"/>
            </a:solidFill>
            <a:prstDash val="solid"/>
          </a:ln>
        </p:spPr>
      </p:sp>
      <p:sp>
        <p:nvSpPr>
          <p:cNvPr id="6" name="Text 4"/>
          <p:cNvSpPr txBox="1"/>
          <p:nvPr/>
        </p:nvSpPr>
        <p:spPr>
          <a:xfrm>
            <a:off x="1463040" y="1691640"/>
            <a:ext cx="868680" cy="274320"/>
          </a:xfrm>
          <a:prstGeom prst="rect">
            <a:avLst/>
          </a:prstGeom>
          <a:noFill/>
          <a:ln/>
        </p:spPr>
        <p:txBody>
          <a:bodyPr wrap="square" lIns="0" tIns="0" rIns="0" bIns="0" rtlCol="0" anchor="ctr"/>
          <a:lstStyle/>
          <a:p>
            <a:pPr algn="ctr" indent="0" marL="0">
              <a:buNone/>
            </a:pPr>
            <a:endParaRPr lang="en-US" sz="1000" dirty="0"/>
          </a:p>
        </p:txBody>
      </p:sp>
      <p:sp>
        <p:nvSpPr>
          <p:cNvPr id="7" name="Text 5"/>
          <p:cNvSpPr txBox="1"/>
          <p:nvPr/>
        </p:nvSpPr>
        <p:spPr>
          <a:xfrm>
            <a:off x="2468880" y="160020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Bienvenida, objetivos y entorno de trabajo</a:t>
            </a:r>
            <a:endParaRPr lang="en-US" sz="1400" dirty="0"/>
          </a:p>
        </p:txBody>
      </p:sp>
      <p:sp>
        <p:nvSpPr>
          <p:cNvPr id="8" name="Shape 6"/>
          <p:cNvSpPr/>
          <p:nvPr/>
        </p:nvSpPr>
        <p:spPr>
          <a:xfrm>
            <a:off x="548640" y="2148840"/>
            <a:ext cx="5364328" cy="457200"/>
          </a:xfrm>
          <a:prstGeom prst="roundRect">
            <a:avLst>
              <a:gd name="adj" fmla="val 12000"/>
            </a:avLst>
          </a:prstGeom>
          <a:solidFill>
            <a:srgbClr val="FFFFFF"/>
          </a:solidFill>
          <a:ln w="12700">
            <a:solidFill>
              <a:srgbClr val="D5DDD9"/>
            </a:solidFill>
            <a:prstDash val="solid"/>
          </a:ln>
        </p:spPr>
      </p:sp>
      <p:sp>
        <p:nvSpPr>
          <p:cNvPr id="9" name="Text 7"/>
          <p:cNvSpPr txBox="1"/>
          <p:nvPr/>
        </p:nvSpPr>
        <p:spPr>
          <a:xfrm>
            <a:off x="685800"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0:15</a:t>
            </a:r>
            <a:endParaRPr lang="en-US" sz="1300" dirty="0"/>
          </a:p>
        </p:txBody>
      </p:sp>
      <p:sp>
        <p:nvSpPr>
          <p:cNvPr id="10" name="Shape 8"/>
          <p:cNvSpPr/>
          <p:nvPr/>
        </p:nvSpPr>
        <p:spPr>
          <a:xfrm>
            <a:off x="1463040" y="2240280"/>
            <a:ext cx="868680" cy="274320"/>
          </a:xfrm>
          <a:prstGeom prst="roundRect">
            <a:avLst>
              <a:gd name="adj" fmla="val 50000"/>
            </a:avLst>
          </a:prstGeom>
          <a:solidFill>
            <a:srgbClr val="1F7A4D"/>
          </a:solidFill>
          <a:ln w="12700">
            <a:solidFill>
              <a:srgbClr val="1F7A4D"/>
            </a:solidFill>
            <a:prstDash val="solid"/>
          </a:ln>
        </p:spPr>
      </p:sp>
      <p:sp>
        <p:nvSpPr>
          <p:cNvPr id="11" name="Text 9"/>
          <p:cNvSpPr txBox="1"/>
          <p:nvPr/>
        </p:nvSpPr>
        <p:spPr>
          <a:xfrm>
            <a:off x="1463040" y="224028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12" name="Text 10"/>
          <p:cNvSpPr txBox="1"/>
          <p:nvPr/>
        </p:nvSpPr>
        <p:spPr>
          <a:xfrm>
            <a:off x="2468880" y="214884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1 · ¿Por qué MongoDB?</a:t>
            </a:r>
            <a:endParaRPr lang="en-US" sz="1400" dirty="0"/>
          </a:p>
        </p:txBody>
      </p:sp>
      <p:sp>
        <p:nvSpPr>
          <p:cNvPr id="13" name="Shape 11"/>
          <p:cNvSpPr/>
          <p:nvPr/>
        </p:nvSpPr>
        <p:spPr>
          <a:xfrm>
            <a:off x="548640" y="2697480"/>
            <a:ext cx="5364328" cy="457200"/>
          </a:xfrm>
          <a:prstGeom prst="roundRect">
            <a:avLst>
              <a:gd name="adj" fmla="val 12000"/>
            </a:avLst>
          </a:prstGeom>
          <a:solidFill>
            <a:srgbClr val="F4F9F6"/>
          </a:solidFill>
          <a:ln w="12700">
            <a:solidFill>
              <a:srgbClr val="D5DDD9"/>
            </a:solidFill>
            <a:prstDash val="solid"/>
          </a:ln>
        </p:spPr>
      </p:sp>
      <p:sp>
        <p:nvSpPr>
          <p:cNvPr id="14" name="Text 12"/>
          <p:cNvSpPr txBox="1"/>
          <p:nvPr/>
        </p:nvSpPr>
        <p:spPr>
          <a:xfrm>
            <a:off x="685800"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0:45</a:t>
            </a:r>
            <a:endParaRPr lang="en-US" sz="1300" dirty="0"/>
          </a:p>
        </p:txBody>
      </p:sp>
      <p:sp>
        <p:nvSpPr>
          <p:cNvPr id="15" name="Shape 13"/>
          <p:cNvSpPr/>
          <p:nvPr/>
        </p:nvSpPr>
        <p:spPr>
          <a:xfrm>
            <a:off x="1463040" y="2788920"/>
            <a:ext cx="868680" cy="274320"/>
          </a:xfrm>
          <a:prstGeom prst="roundRect">
            <a:avLst>
              <a:gd name="adj" fmla="val 50000"/>
            </a:avLst>
          </a:prstGeom>
          <a:solidFill>
            <a:srgbClr val="F2B33D"/>
          </a:solidFill>
          <a:ln w="12700">
            <a:solidFill>
              <a:srgbClr val="F2B33D"/>
            </a:solidFill>
            <a:prstDash val="solid"/>
          </a:ln>
        </p:spPr>
      </p:sp>
      <p:sp>
        <p:nvSpPr>
          <p:cNvPr id="16" name="Text 14"/>
          <p:cNvSpPr txBox="1"/>
          <p:nvPr/>
        </p:nvSpPr>
        <p:spPr>
          <a:xfrm>
            <a:off x="1463040" y="278892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17" name="Text 15"/>
          <p:cNvSpPr txBox="1"/>
          <p:nvPr/>
        </p:nvSpPr>
        <p:spPr>
          <a:xfrm>
            <a:off x="2468880" y="269748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01 · Entorno Docker y primer mongod</a:t>
            </a:r>
            <a:endParaRPr lang="en-US" sz="1400" dirty="0"/>
          </a:p>
        </p:txBody>
      </p:sp>
      <p:sp>
        <p:nvSpPr>
          <p:cNvPr id="18" name="Shape 16"/>
          <p:cNvSpPr/>
          <p:nvPr/>
        </p:nvSpPr>
        <p:spPr>
          <a:xfrm>
            <a:off x="548640" y="3246120"/>
            <a:ext cx="5364328" cy="457200"/>
          </a:xfrm>
          <a:prstGeom prst="roundRect">
            <a:avLst>
              <a:gd name="adj" fmla="val 12000"/>
            </a:avLst>
          </a:prstGeom>
          <a:solidFill>
            <a:srgbClr val="FFFFFF"/>
          </a:solidFill>
          <a:ln w="12700">
            <a:solidFill>
              <a:srgbClr val="D5DDD9"/>
            </a:solidFill>
            <a:prstDash val="solid"/>
          </a:ln>
        </p:spPr>
      </p:sp>
      <p:sp>
        <p:nvSpPr>
          <p:cNvPr id="19" name="Text 17"/>
          <p:cNvSpPr txBox="1"/>
          <p:nvPr/>
        </p:nvSpPr>
        <p:spPr>
          <a:xfrm>
            <a:off x="685800"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1:10</a:t>
            </a:r>
            <a:endParaRPr lang="en-US" sz="1300" dirty="0"/>
          </a:p>
        </p:txBody>
      </p:sp>
      <p:sp>
        <p:nvSpPr>
          <p:cNvPr id="20" name="Shape 18"/>
          <p:cNvSpPr/>
          <p:nvPr/>
        </p:nvSpPr>
        <p:spPr>
          <a:xfrm>
            <a:off x="1463040" y="3337560"/>
            <a:ext cx="868680" cy="274320"/>
          </a:xfrm>
          <a:prstGeom prst="roundRect">
            <a:avLst>
              <a:gd name="adj" fmla="val 50000"/>
            </a:avLst>
          </a:prstGeom>
          <a:solidFill>
            <a:srgbClr val="1F7A4D"/>
          </a:solidFill>
          <a:ln w="12700">
            <a:solidFill>
              <a:srgbClr val="1F7A4D"/>
            </a:solidFill>
            <a:prstDash val="solid"/>
          </a:ln>
        </p:spPr>
      </p:sp>
      <p:sp>
        <p:nvSpPr>
          <p:cNvPr id="21" name="Text 19"/>
          <p:cNvSpPr txBox="1"/>
          <p:nvPr/>
        </p:nvSpPr>
        <p:spPr>
          <a:xfrm>
            <a:off x="1463040" y="333756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22" name="Text 20"/>
          <p:cNvSpPr txBox="1"/>
          <p:nvPr/>
        </p:nvSpPr>
        <p:spPr>
          <a:xfrm>
            <a:off x="2468880" y="324612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2 · Instalación y actualización</a:t>
            </a:r>
            <a:endParaRPr lang="en-US" sz="1400" dirty="0"/>
          </a:p>
        </p:txBody>
      </p:sp>
      <p:sp>
        <p:nvSpPr>
          <p:cNvPr id="23" name="Shape 21"/>
          <p:cNvSpPr/>
          <p:nvPr/>
        </p:nvSpPr>
        <p:spPr>
          <a:xfrm>
            <a:off x="548640" y="3794760"/>
            <a:ext cx="5364328" cy="457200"/>
          </a:xfrm>
          <a:prstGeom prst="roundRect">
            <a:avLst>
              <a:gd name="adj" fmla="val 12000"/>
            </a:avLst>
          </a:prstGeom>
          <a:solidFill>
            <a:srgbClr val="F4F9F6"/>
          </a:solidFill>
          <a:ln w="12700">
            <a:solidFill>
              <a:srgbClr val="D5DDD9"/>
            </a:solidFill>
            <a:prstDash val="solid"/>
          </a:ln>
        </p:spPr>
      </p:sp>
      <p:sp>
        <p:nvSpPr>
          <p:cNvPr id="24" name="Text 22"/>
          <p:cNvSpPr txBox="1"/>
          <p:nvPr/>
        </p:nvSpPr>
        <p:spPr>
          <a:xfrm>
            <a:off x="685800" y="379476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1:35</a:t>
            </a:r>
            <a:endParaRPr lang="en-US" sz="1300" dirty="0"/>
          </a:p>
        </p:txBody>
      </p:sp>
      <p:sp>
        <p:nvSpPr>
          <p:cNvPr id="25" name="Shape 23"/>
          <p:cNvSpPr/>
          <p:nvPr/>
        </p:nvSpPr>
        <p:spPr>
          <a:xfrm>
            <a:off x="1463040" y="3886200"/>
            <a:ext cx="868680" cy="274320"/>
          </a:xfrm>
          <a:prstGeom prst="roundRect">
            <a:avLst>
              <a:gd name="adj" fmla="val 50000"/>
            </a:avLst>
          </a:prstGeom>
          <a:solidFill>
            <a:srgbClr val="F2B33D"/>
          </a:solidFill>
          <a:ln w="12700">
            <a:solidFill>
              <a:srgbClr val="F2B33D"/>
            </a:solidFill>
            <a:prstDash val="solid"/>
          </a:ln>
        </p:spPr>
      </p:sp>
      <p:sp>
        <p:nvSpPr>
          <p:cNvPr id="26" name="Text 24"/>
          <p:cNvSpPr txBox="1"/>
          <p:nvPr/>
        </p:nvSpPr>
        <p:spPr>
          <a:xfrm>
            <a:off x="1463040" y="388620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27" name="Text 25"/>
          <p:cNvSpPr txBox="1"/>
          <p:nvPr/>
        </p:nvSpPr>
        <p:spPr>
          <a:xfrm>
            <a:off x="2468880" y="379476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02 · Actualización de 7.0 a 8.0</a:t>
            </a:r>
            <a:endParaRPr lang="en-US" sz="1400" dirty="0"/>
          </a:p>
        </p:txBody>
      </p:sp>
      <p:sp>
        <p:nvSpPr>
          <p:cNvPr id="28" name="Shape 26"/>
          <p:cNvSpPr/>
          <p:nvPr/>
        </p:nvSpPr>
        <p:spPr>
          <a:xfrm>
            <a:off x="6278728" y="1600200"/>
            <a:ext cx="5364328" cy="457200"/>
          </a:xfrm>
          <a:prstGeom prst="roundRect">
            <a:avLst>
              <a:gd name="adj" fmla="val 12000"/>
            </a:avLst>
          </a:prstGeom>
          <a:solidFill>
            <a:srgbClr val="F4F9F6"/>
          </a:solidFill>
          <a:ln w="12700">
            <a:solidFill>
              <a:srgbClr val="D5DDD9"/>
            </a:solidFill>
            <a:prstDash val="solid"/>
          </a:ln>
        </p:spPr>
      </p:sp>
      <p:sp>
        <p:nvSpPr>
          <p:cNvPr id="29" name="Text 27"/>
          <p:cNvSpPr txBox="1"/>
          <p:nvPr/>
        </p:nvSpPr>
        <p:spPr>
          <a:xfrm>
            <a:off x="6415888"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2:00</a:t>
            </a:r>
            <a:endParaRPr lang="en-US" sz="1300" dirty="0"/>
          </a:p>
        </p:txBody>
      </p:sp>
      <p:sp>
        <p:nvSpPr>
          <p:cNvPr id="30" name="Shape 28"/>
          <p:cNvSpPr/>
          <p:nvPr/>
        </p:nvSpPr>
        <p:spPr>
          <a:xfrm>
            <a:off x="7193128" y="1691640"/>
            <a:ext cx="868680" cy="274320"/>
          </a:xfrm>
          <a:prstGeom prst="roundRect">
            <a:avLst>
              <a:gd name="adj" fmla="val 50000"/>
            </a:avLst>
          </a:prstGeom>
          <a:solidFill>
            <a:srgbClr val="D5DDD9"/>
          </a:solidFill>
          <a:ln w="12700">
            <a:solidFill>
              <a:srgbClr val="D5DDD9"/>
            </a:solidFill>
            <a:prstDash val="solid"/>
          </a:ln>
        </p:spPr>
      </p:sp>
      <p:sp>
        <p:nvSpPr>
          <p:cNvPr id="31" name="Text 29"/>
          <p:cNvSpPr txBox="1"/>
          <p:nvPr/>
        </p:nvSpPr>
        <p:spPr>
          <a:xfrm>
            <a:off x="7193128" y="169164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PAUSA</a:t>
            </a:r>
            <a:endParaRPr lang="en-US" sz="1000" dirty="0"/>
          </a:p>
        </p:txBody>
      </p:sp>
      <p:sp>
        <p:nvSpPr>
          <p:cNvPr id="32" name="Text 30"/>
          <p:cNvSpPr txBox="1"/>
          <p:nvPr/>
        </p:nvSpPr>
        <p:spPr>
          <a:xfrm>
            <a:off x="8198968" y="160020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Descanso</a:t>
            </a:r>
            <a:endParaRPr lang="en-US" sz="1400" dirty="0"/>
          </a:p>
        </p:txBody>
      </p:sp>
      <p:sp>
        <p:nvSpPr>
          <p:cNvPr id="33" name="Shape 31"/>
          <p:cNvSpPr/>
          <p:nvPr/>
        </p:nvSpPr>
        <p:spPr>
          <a:xfrm>
            <a:off x="6278728" y="2148840"/>
            <a:ext cx="5364328" cy="457200"/>
          </a:xfrm>
          <a:prstGeom prst="roundRect">
            <a:avLst>
              <a:gd name="adj" fmla="val 12000"/>
            </a:avLst>
          </a:prstGeom>
          <a:solidFill>
            <a:srgbClr val="FFFFFF"/>
          </a:solidFill>
          <a:ln w="12700">
            <a:solidFill>
              <a:srgbClr val="D5DDD9"/>
            </a:solidFill>
            <a:prstDash val="solid"/>
          </a:ln>
        </p:spPr>
      </p:sp>
      <p:sp>
        <p:nvSpPr>
          <p:cNvPr id="34" name="Text 32"/>
          <p:cNvSpPr txBox="1"/>
          <p:nvPr/>
        </p:nvSpPr>
        <p:spPr>
          <a:xfrm>
            <a:off x="6415888"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2:15</a:t>
            </a:r>
            <a:endParaRPr lang="en-US" sz="1300" dirty="0"/>
          </a:p>
        </p:txBody>
      </p:sp>
      <p:sp>
        <p:nvSpPr>
          <p:cNvPr id="35" name="Shape 33"/>
          <p:cNvSpPr/>
          <p:nvPr/>
        </p:nvSpPr>
        <p:spPr>
          <a:xfrm>
            <a:off x="7193128" y="2240280"/>
            <a:ext cx="868680" cy="274320"/>
          </a:xfrm>
          <a:prstGeom prst="roundRect">
            <a:avLst>
              <a:gd name="adj" fmla="val 50000"/>
            </a:avLst>
          </a:prstGeom>
          <a:solidFill>
            <a:srgbClr val="1F7A4D"/>
          </a:solidFill>
          <a:ln w="12700">
            <a:solidFill>
              <a:srgbClr val="1F7A4D"/>
            </a:solidFill>
            <a:prstDash val="solid"/>
          </a:ln>
        </p:spPr>
      </p:sp>
      <p:sp>
        <p:nvSpPr>
          <p:cNvPr id="36" name="Text 34"/>
          <p:cNvSpPr txBox="1"/>
          <p:nvPr/>
        </p:nvSpPr>
        <p:spPr>
          <a:xfrm>
            <a:off x="7193128" y="224028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37" name="Text 35"/>
          <p:cNvSpPr txBox="1"/>
          <p:nvPr/>
        </p:nvSpPr>
        <p:spPr>
          <a:xfrm>
            <a:off x="8198968" y="214884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3 · Memoria, almacenamiento y sistema operativo</a:t>
            </a:r>
            <a:endParaRPr lang="en-US" sz="1400" dirty="0"/>
          </a:p>
        </p:txBody>
      </p:sp>
      <p:sp>
        <p:nvSpPr>
          <p:cNvPr id="38" name="Shape 36"/>
          <p:cNvSpPr/>
          <p:nvPr/>
        </p:nvSpPr>
        <p:spPr>
          <a:xfrm>
            <a:off x="6278728" y="2697480"/>
            <a:ext cx="5364328" cy="457200"/>
          </a:xfrm>
          <a:prstGeom prst="roundRect">
            <a:avLst>
              <a:gd name="adj" fmla="val 12000"/>
            </a:avLst>
          </a:prstGeom>
          <a:solidFill>
            <a:srgbClr val="F4F9F6"/>
          </a:solidFill>
          <a:ln w="12700">
            <a:solidFill>
              <a:srgbClr val="D5DDD9"/>
            </a:solidFill>
            <a:prstDash val="solid"/>
          </a:ln>
        </p:spPr>
      </p:sp>
      <p:sp>
        <p:nvSpPr>
          <p:cNvPr id="39" name="Text 37"/>
          <p:cNvSpPr txBox="1"/>
          <p:nvPr/>
        </p:nvSpPr>
        <p:spPr>
          <a:xfrm>
            <a:off x="6415888"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2:55</a:t>
            </a:r>
            <a:endParaRPr lang="en-US" sz="1300" dirty="0"/>
          </a:p>
        </p:txBody>
      </p:sp>
      <p:sp>
        <p:nvSpPr>
          <p:cNvPr id="40" name="Shape 38"/>
          <p:cNvSpPr/>
          <p:nvPr/>
        </p:nvSpPr>
        <p:spPr>
          <a:xfrm>
            <a:off x="7193128" y="2788920"/>
            <a:ext cx="868680" cy="274320"/>
          </a:xfrm>
          <a:prstGeom prst="roundRect">
            <a:avLst>
              <a:gd name="adj" fmla="val 50000"/>
            </a:avLst>
          </a:prstGeom>
          <a:solidFill>
            <a:srgbClr val="F2B33D"/>
          </a:solidFill>
          <a:ln w="12700">
            <a:solidFill>
              <a:srgbClr val="F2B33D"/>
            </a:solidFill>
            <a:prstDash val="solid"/>
          </a:ln>
        </p:spPr>
      </p:sp>
      <p:sp>
        <p:nvSpPr>
          <p:cNvPr id="41" name="Text 39"/>
          <p:cNvSpPr txBox="1"/>
          <p:nvPr/>
        </p:nvSpPr>
        <p:spPr>
          <a:xfrm>
            <a:off x="7193128" y="278892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42" name="Text 40"/>
          <p:cNvSpPr txBox="1"/>
          <p:nvPr/>
        </p:nvSpPr>
        <p:spPr>
          <a:xfrm>
            <a:off x="8198968" y="269748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03 · Memoria, WiredTiger y SO</a:t>
            </a:r>
            <a:endParaRPr lang="en-US" sz="1400" dirty="0"/>
          </a:p>
        </p:txBody>
      </p:sp>
      <p:sp>
        <p:nvSpPr>
          <p:cNvPr id="43" name="Shape 41"/>
          <p:cNvSpPr/>
          <p:nvPr/>
        </p:nvSpPr>
        <p:spPr>
          <a:xfrm>
            <a:off x="6278728" y="3246120"/>
            <a:ext cx="5364328" cy="457200"/>
          </a:xfrm>
          <a:prstGeom prst="roundRect">
            <a:avLst>
              <a:gd name="adj" fmla="val 12000"/>
            </a:avLst>
          </a:prstGeom>
          <a:solidFill>
            <a:srgbClr val="FFFFFF"/>
          </a:solidFill>
          <a:ln w="12700">
            <a:solidFill>
              <a:srgbClr val="D5DDD9"/>
            </a:solidFill>
            <a:prstDash val="solid"/>
          </a:ln>
        </p:spPr>
      </p:sp>
      <p:sp>
        <p:nvSpPr>
          <p:cNvPr id="44" name="Text 42"/>
          <p:cNvSpPr txBox="1"/>
          <p:nvPr/>
        </p:nvSpPr>
        <p:spPr>
          <a:xfrm>
            <a:off x="6415888"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3:15</a:t>
            </a:r>
            <a:endParaRPr lang="en-US" sz="1300" dirty="0"/>
          </a:p>
        </p:txBody>
      </p:sp>
      <p:sp>
        <p:nvSpPr>
          <p:cNvPr id="45" name="Shape 43"/>
          <p:cNvSpPr/>
          <p:nvPr/>
        </p:nvSpPr>
        <p:spPr>
          <a:xfrm>
            <a:off x="7193128" y="3337560"/>
            <a:ext cx="868680" cy="274320"/>
          </a:xfrm>
          <a:prstGeom prst="roundRect">
            <a:avLst>
              <a:gd name="adj" fmla="val 50000"/>
            </a:avLst>
          </a:prstGeom>
          <a:solidFill>
            <a:srgbClr val="1F7A4D"/>
          </a:solidFill>
          <a:ln w="12700">
            <a:solidFill>
              <a:srgbClr val="1F7A4D"/>
            </a:solidFill>
            <a:prstDash val="solid"/>
          </a:ln>
        </p:spPr>
      </p:sp>
      <p:sp>
        <p:nvSpPr>
          <p:cNvPr id="46" name="Text 44"/>
          <p:cNvSpPr txBox="1"/>
          <p:nvPr/>
        </p:nvSpPr>
        <p:spPr>
          <a:xfrm>
            <a:off x="7193128" y="333756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47" name="Text 45"/>
          <p:cNvSpPr txBox="1"/>
          <p:nvPr/>
        </p:nvSpPr>
        <p:spPr>
          <a:xfrm>
            <a:off x="8198968" y="324612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4 · mongosh y autenticación</a:t>
            </a:r>
            <a:endParaRPr lang="en-US" sz="1400" dirty="0"/>
          </a:p>
        </p:txBody>
      </p:sp>
      <p:sp>
        <p:nvSpPr>
          <p:cNvPr id="48" name="Shape 46"/>
          <p:cNvSpPr/>
          <p:nvPr/>
        </p:nvSpPr>
        <p:spPr>
          <a:xfrm>
            <a:off x="6278728" y="3794760"/>
            <a:ext cx="5364328" cy="457200"/>
          </a:xfrm>
          <a:prstGeom prst="roundRect">
            <a:avLst>
              <a:gd name="adj" fmla="val 12000"/>
            </a:avLst>
          </a:prstGeom>
          <a:solidFill>
            <a:srgbClr val="F4F9F6"/>
          </a:solidFill>
          <a:ln w="12700">
            <a:solidFill>
              <a:srgbClr val="D5DDD9"/>
            </a:solidFill>
            <a:prstDash val="solid"/>
          </a:ln>
        </p:spPr>
      </p:sp>
      <p:sp>
        <p:nvSpPr>
          <p:cNvPr id="49" name="Text 47"/>
          <p:cNvSpPr txBox="1"/>
          <p:nvPr/>
        </p:nvSpPr>
        <p:spPr>
          <a:xfrm>
            <a:off x="6415888" y="379476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3:35</a:t>
            </a:r>
            <a:endParaRPr lang="en-US" sz="1300" dirty="0"/>
          </a:p>
        </p:txBody>
      </p:sp>
      <p:sp>
        <p:nvSpPr>
          <p:cNvPr id="50" name="Shape 48"/>
          <p:cNvSpPr/>
          <p:nvPr/>
        </p:nvSpPr>
        <p:spPr>
          <a:xfrm>
            <a:off x="7193128" y="3886200"/>
            <a:ext cx="868680" cy="274320"/>
          </a:xfrm>
          <a:prstGeom prst="roundRect">
            <a:avLst>
              <a:gd name="adj" fmla="val 50000"/>
            </a:avLst>
          </a:prstGeom>
          <a:solidFill>
            <a:srgbClr val="F2B33D"/>
          </a:solidFill>
          <a:ln w="12700">
            <a:solidFill>
              <a:srgbClr val="F2B33D"/>
            </a:solidFill>
            <a:prstDash val="solid"/>
          </a:ln>
        </p:spPr>
      </p:sp>
      <p:sp>
        <p:nvSpPr>
          <p:cNvPr id="51" name="Text 49"/>
          <p:cNvSpPr txBox="1"/>
          <p:nvPr/>
        </p:nvSpPr>
        <p:spPr>
          <a:xfrm>
            <a:off x="7193128" y="388620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52" name="Text 50"/>
          <p:cNvSpPr txBox="1"/>
          <p:nvPr/>
        </p:nvSpPr>
        <p:spPr>
          <a:xfrm>
            <a:off x="8198968" y="379476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04 · mongosh y activación de la autenticación</a:t>
            </a:r>
            <a:endParaRPr lang="en-US" sz="1400" dirty="0"/>
          </a:p>
        </p:txBody>
      </p:sp>
      <p:sp>
        <p:nvSpPr>
          <p:cNvPr id="53"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54" name="Text 5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4 / 38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El entorno de laboratorio</a:t>
            </a:r>
            <a:endParaRPr lang="en-US" sz="3200" dirty="0"/>
          </a:p>
        </p:txBody>
      </p:sp>
      <p:sp>
        <p:nvSpPr>
          <p:cNvPr id="3" name="Text 1"/>
          <p:cNvSpPr txBox="1"/>
          <p:nvPr/>
        </p:nvSpPr>
        <p:spPr>
          <a:xfrm>
            <a:off x="548640" y="1078992"/>
            <a:ext cx="11094415" cy="365760"/>
          </a:xfrm>
          <a:prstGeom prst="rect">
            <a:avLst/>
          </a:prstGeom>
          <a:noFill/>
          <a:ln/>
        </p:spPr>
        <p:txBody>
          <a:bodyPr wrap="square" lIns="0" tIns="0" rIns="0" bIns="0" rtlCol="0" anchor="ctr"/>
          <a:lstStyle/>
          <a:p>
            <a:pPr indent="0" marL="0">
              <a:buNone/>
            </a:pPr>
            <a:r>
              <a:rPr lang="en-US" sz="1600" i="1" dirty="0">
                <a:solidFill>
                  <a:srgbClr val="1F7A4D"/>
                </a:solidFill>
                <a:latin typeface="Calibri" pitchFamily="34" charset="0"/>
                <a:ea typeface="Calibri" pitchFamily="34" charset="-122"/>
                <a:cs typeface="Calibri" pitchFamily="34" charset="-120"/>
              </a:rPr>
              <a:t>Todo corre en Docker: los mismos comandos en Windows, macOS y Linux</a:t>
            </a:r>
            <a:endParaRPr lang="en-US" sz="1600" dirty="0"/>
          </a:p>
        </p:txBody>
      </p:sp>
      <p:sp>
        <p:nvSpPr>
          <p:cNvPr id="4" name="Shape 2"/>
          <p:cNvSpPr/>
          <p:nvPr/>
        </p:nvSpPr>
        <p:spPr>
          <a:xfrm>
            <a:off x="548640" y="1691640"/>
            <a:ext cx="5364328" cy="4434840"/>
          </a:xfrm>
          <a:prstGeom prst="roundRect">
            <a:avLst>
              <a:gd name="adj" fmla="val 2474"/>
            </a:avLst>
          </a:prstGeom>
          <a:solidFill>
            <a:srgbClr val="E8F3EC"/>
          </a:solidFill>
          <a:ln w="12700">
            <a:solidFill>
              <a:srgbClr val="E8F3EC"/>
            </a:solidFill>
            <a:prstDash val="solid"/>
          </a:ln>
        </p:spPr>
      </p:sp>
      <p:sp>
        <p:nvSpPr>
          <p:cNvPr id="5" name="Shape 3"/>
          <p:cNvSpPr/>
          <p:nvPr/>
        </p:nvSpPr>
        <p:spPr>
          <a:xfrm>
            <a:off x="822960" y="1965960"/>
            <a:ext cx="4815688" cy="502920"/>
          </a:xfrm>
          <a:prstGeom prst="roundRect">
            <a:avLst>
              <a:gd name="adj" fmla="val 14545"/>
            </a:avLst>
          </a:prstGeom>
          <a:solidFill>
            <a:srgbClr val="1F7A4D"/>
          </a:solidFill>
          <a:ln w="12700">
            <a:solidFill>
              <a:srgbClr val="1F7A4D"/>
            </a:solidFill>
            <a:prstDash val="solid"/>
          </a:ln>
        </p:spPr>
      </p:sp>
      <p:sp>
        <p:nvSpPr>
          <p:cNvPr id="6" name="Text 4"/>
          <p:cNvSpPr txBox="1"/>
          <p:nvPr/>
        </p:nvSpPr>
        <p:spPr>
          <a:xfrm>
            <a:off x="960120" y="196596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En tu equipo</a:t>
            </a:r>
            <a:endParaRPr lang="en-US" sz="1800" dirty="0"/>
          </a:p>
        </p:txBody>
      </p:sp>
      <p:sp>
        <p:nvSpPr>
          <p:cNvPr id="7" name="Text 5"/>
          <p:cNvSpPr txBox="1"/>
          <p:nvPr/>
        </p:nvSpPr>
        <p:spPr>
          <a:xfrm>
            <a:off x="822960" y="2651760"/>
            <a:ext cx="4815688" cy="329184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Docker Desktop (Windows/macOS) o Docker Engine (Linux)</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El repositorio del curso clonado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Solo ejecutas comandos </a:t>
            </a:r>
            <a:r>
              <a:rPr lang="en-US" sz="1800" b="1" dirty="0">
                <a:solidFill>
                  <a:srgbClr val="1C2B27"/>
                </a:solidFill>
                <a:latin typeface="Calibri" pitchFamily="34" charset="0"/>
                <a:ea typeface="Calibri" pitchFamily="34" charset="-122"/>
                <a:cs typeface="Calibri" pitchFamily="34" charset="-120"/>
              </a:rPr>
              <a:t>docker compose</a:t>
            </a:r>
            <a:r>
              <a:rPr lang="en-US" sz="1800" dirty="0">
                <a:solidFill>
                  <a:srgbClr val="1C2B27"/>
                </a:solidFill>
                <a:latin typeface="Calibri" pitchFamily="34" charset="0"/>
                <a:ea typeface="Calibri" pitchFamily="34" charset="-122"/>
                <a:cs typeface="Calibri" pitchFamily="34" charset="-120"/>
              </a:rPr>
              <a:t>: arrancar, parar, reiniciar nodos, ver logs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Cada laboratorio indica la carpeta desde la que trabajar</a:t>
            </a:r>
            <a:endParaRPr lang="en-US" sz="1800" dirty="0"/>
          </a:p>
        </p:txBody>
      </p:sp>
      <p:sp>
        <p:nvSpPr>
          <p:cNvPr id="8" name="Shape 6"/>
          <p:cNvSpPr/>
          <p:nvPr/>
        </p:nvSpPr>
        <p:spPr>
          <a:xfrm>
            <a:off x="6278728" y="1691640"/>
            <a:ext cx="5364328" cy="4434840"/>
          </a:xfrm>
          <a:prstGeom prst="roundRect">
            <a:avLst>
              <a:gd name="adj" fmla="val 2474"/>
            </a:avLst>
          </a:prstGeom>
          <a:solidFill>
            <a:srgbClr val="F4F9F6"/>
          </a:solidFill>
          <a:ln w="12700">
            <a:solidFill>
              <a:srgbClr val="D5DDD9"/>
            </a:solidFill>
            <a:prstDash val="solid"/>
          </a:ln>
        </p:spPr>
      </p:sp>
      <p:sp>
        <p:nvSpPr>
          <p:cNvPr id="9" name="Shape 7"/>
          <p:cNvSpPr/>
          <p:nvPr/>
        </p:nvSpPr>
        <p:spPr>
          <a:xfrm>
            <a:off x="6553048" y="1965960"/>
            <a:ext cx="4815688" cy="502920"/>
          </a:xfrm>
          <a:prstGeom prst="roundRect">
            <a:avLst>
              <a:gd name="adj" fmla="val 14545"/>
            </a:avLst>
          </a:prstGeom>
          <a:solidFill>
            <a:srgbClr val="0F2A25"/>
          </a:solidFill>
          <a:ln w="12700">
            <a:solidFill>
              <a:srgbClr val="0F2A25"/>
            </a:solidFill>
            <a:prstDash val="solid"/>
          </a:ln>
        </p:spPr>
      </p:sp>
      <p:sp>
        <p:nvSpPr>
          <p:cNvPr id="10" name="Text 8"/>
          <p:cNvSpPr txBox="1"/>
          <p:nvPr/>
        </p:nvSpPr>
        <p:spPr>
          <a:xfrm>
            <a:off x="6690208" y="196596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Dentro de los contenedores</a:t>
            </a:r>
            <a:endParaRPr lang="en-US" sz="1800" dirty="0"/>
          </a:p>
        </p:txBody>
      </p:sp>
      <p:sp>
        <p:nvSpPr>
          <p:cNvPr id="11" name="Text 9"/>
          <p:cNvSpPr txBox="1"/>
          <p:nvPr/>
        </p:nvSpPr>
        <p:spPr>
          <a:xfrm>
            <a:off x="6553048" y="2651760"/>
            <a:ext cx="4815688" cy="329184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Servidores: imagen oficial </a:t>
            </a:r>
            <a:r>
              <a:rPr lang="en-US" sz="1800" b="1" dirty="0">
                <a:solidFill>
                  <a:srgbClr val="1C2B27"/>
                </a:solidFill>
                <a:latin typeface="Calibri" pitchFamily="34" charset="0"/>
                <a:ea typeface="Calibri" pitchFamily="34" charset="-122"/>
                <a:cs typeface="Calibri" pitchFamily="34" charset="-120"/>
              </a:rPr>
              <a:t>mongodb/mongodb-community-server</a:t>
            </a:r>
            <a:endParaRPr lang="en-US" sz="1800" dirty="0"/>
          </a:p>
          <a:p>
            <a:pPr marL="254000" indent="-254000">
              <a:spcAft>
                <a:spcPts val="800"/>
              </a:spcAft>
              <a:buSzPct val="100000"/>
              <a:buChar char="●"/>
            </a:pPr>
            <a:r>
              <a:rPr lang="en-US" sz="1800" b="1" dirty="0">
                <a:solidFill>
                  <a:srgbClr val="1C2B27"/>
                </a:solidFill>
                <a:latin typeface="Calibri" pitchFamily="34" charset="0"/>
                <a:ea typeface="Calibri" pitchFamily="34" charset="-122"/>
                <a:cs typeface="Calibri" pitchFamily="34" charset="-120"/>
              </a:rPr>
              <a:t>toolbox</a:t>
            </a:r>
            <a:r>
              <a:rPr lang="en-US" sz="1800" dirty="0">
                <a:solidFill>
                  <a:srgbClr val="1C2B27"/>
                </a:solidFill>
                <a:latin typeface="Calibri" pitchFamily="34" charset="0"/>
                <a:ea typeface="Calibri" pitchFamily="34" charset="-122"/>
                <a:cs typeface="Calibri" pitchFamily="34" charset="-120"/>
              </a:rPr>
              <a:t>: puesto de administración Linux con mongosh y las Database Tools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Trabajamos dentro del toolbox como si fuera un bastión de administración</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Día 3 y 4: Percona Server, PBM y PMM, también en contenedores</a:t>
            </a:r>
            <a:endParaRPr lang="en-US" sz="1800" dirty="0"/>
          </a:p>
        </p:txBody>
      </p:sp>
      <p:sp>
        <p:nvSpPr>
          <p:cNvPr id="12" name="Text 10"/>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3" name="Text 11"/>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5 / 38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¿Por qué MongoDB?</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El modelo de documentos y la arquitectura que hay detrás</a:t>
            </a:r>
            <a:endParaRPr lang="en-US" sz="1800" dirty="0"/>
          </a:p>
        </p:txBody>
      </p:sp>
      <p:sp>
        <p:nvSpPr>
          <p:cNvPr id="7" name="Shape 5"/>
          <p:cNvSpPr/>
          <p:nvPr/>
        </p:nvSpPr>
        <p:spPr>
          <a:xfrm>
            <a:off x="2377440" y="3749040"/>
            <a:ext cx="2110664"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Modelo documental y BSON</a:t>
            </a:r>
            <a:endParaRPr lang="en-US" sz="1600" dirty="0"/>
          </a:p>
        </p:txBody>
      </p:sp>
      <p:sp>
        <p:nvSpPr>
          <p:cNvPr id="9" name="Shape 7"/>
          <p:cNvSpPr/>
          <p:nvPr/>
        </p:nvSpPr>
        <p:spPr>
          <a:xfrm>
            <a:off x="4762424" y="3749040"/>
            <a:ext cx="2110664"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4945304"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Casos de uso y límites</a:t>
            </a:r>
            <a:endParaRPr lang="en-US" sz="1600" dirty="0"/>
          </a:p>
        </p:txBody>
      </p:sp>
      <p:sp>
        <p:nvSpPr>
          <p:cNvPr id="11" name="Shape 9"/>
          <p:cNvSpPr/>
          <p:nvPr/>
        </p:nvSpPr>
        <p:spPr>
          <a:xfrm>
            <a:off x="7147408" y="3749040"/>
            <a:ext cx="2110664"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7330288"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Componentes y topologías</a:t>
            </a:r>
            <a:endParaRPr lang="en-US" sz="1600" dirty="0"/>
          </a:p>
        </p:txBody>
      </p:sp>
      <p:sp>
        <p:nvSpPr>
          <p:cNvPr id="13" name="Shape 11"/>
          <p:cNvSpPr/>
          <p:nvPr/>
        </p:nvSpPr>
        <p:spPr>
          <a:xfrm>
            <a:off x="9532391" y="3749040"/>
            <a:ext cx="2110664"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9715271"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Ediciones y distribuciones</a:t>
            </a:r>
            <a:endParaRPr lang="en-US" sz="1600" dirty="0"/>
          </a:p>
        </p:txBody>
      </p:sp>
      <p:sp>
        <p:nvSpPr>
          <p:cNvPr id="15" name="Text 1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6" name="Text 14"/>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6 / 38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Del modelo relacional al modelo de documentos</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Relacional</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Datos repartidos en tablas normalizadas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Esquema rígido definido de antemano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Las relaciones se resuelven en lectura con JOIN</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Escalado principalmente vertical</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Transacciones multi-tabla como mecanismo habitual</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Documental (MongoDB)</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Lo que se usa junto se guarda junto, en un documento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Esquema flexible, validable con </a:t>
            </a:r>
            <a:r>
              <a:rPr lang="en-US" sz="1800" b="1" dirty="0">
                <a:solidFill>
                  <a:srgbClr val="1C2B27"/>
                </a:solidFill>
                <a:latin typeface="Calibri" pitchFamily="34" charset="0"/>
                <a:ea typeface="Calibri" pitchFamily="34" charset="-122"/>
                <a:cs typeface="Calibri" pitchFamily="34" charset="-120"/>
              </a:rPr>
              <a:t>JSON Schema</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Menos JOIN: datos embebidos o referencias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Escalado horizontal nativo con </a:t>
            </a:r>
            <a:r>
              <a:rPr lang="en-US" sz="1800" b="1" dirty="0">
                <a:solidFill>
                  <a:srgbClr val="1C2B27"/>
                </a:solidFill>
                <a:latin typeface="Calibri" pitchFamily="34" charset="0"/>
                <a:ea typeface="Calibri" pitchFamily="34" charset="-122"/>
                <a:cs typeface="Calibri" pitchFamily="34" charset="-120"/>
              </a:rPr>
              <a:t>sharding</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El documento es la unidad atómica; transacciones multidocumento desde 4.0</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7 / 38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El documento y el formato BSON</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Documento de la colección tienda.pedidos</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400" dirty="0">
                <a:solidFill>
                  <a:srgbClr val="D8F3E3"/>
                </a:solidFill>
                <a:latin typeface="Courier New" pitchFamily="34" charset="0"/>
                <a:ea typeface="Courier New" pitchFamily="34" charset="-122"/>
                <a:cs typeface="Courier New" pitchFamily="34" charset="-120"/>
              </a:rPr>
              <a:t>{
  _id: ObjectId("66f2a1c3e4b0a1b2c3d4e5f6"),
  cliente_id: 1234,
  fecha: ISODate("2026-09-24T09:15:00Z"),
  estado: "enviado",
  total: Decimal128("149.90"),
  envio: { ciudad: "Madrid", cp: "28001" },
  lineas: [
    { producto_id: 17, cantidad: 2, precio: 49.95 },
    { producto_id: 88, cantidad: 1, precio: 50.00 }
  ]
}
</a:t>
            </a:r>
            <a:endParaRPr lang="en-US" sz="14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BSON</a:t>
            </a:r>
            <a:r>
              <a:rPr lang="en-US" sz="1600" dirty="0">
                <a:solidFill>
                  <a:srgbClr val="1C2B27"/>
                </a:solidFill>
                <a:latin typeface="Calibri" pitchFamily="34" charset="0"/>
                <a:ea typeface="Calibri" pitchFamily="34" charset="-122"/>
                <a:cs typeface="Calibri" pitchFamily="34" charset="-120"/>
              </a:rPr>
              <a:t>: JSON binario, con tipos ricos (fechas, enteros de 32 y 64 bits, Decimal128, binarios)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Tamaño máximo de documento: </a:t>
            </a:r>
            <a:r>
              <a:rPr lang="en-US" sz="1600" b="1" dirty="0">
                <a:solidFill>
                  <a:srgbClr val="1C2B27"/>
                </a:solidFill>
                <a:latin typeface="Calibri" pitchFamily="34" charset="0"/>
                <a:ea typeface="Calibri" pitchFamily="34" charset="-122"/>
                <a:cs typeface="Calibri" pitchFamily="34" charset="-120"/>
              </a:rPr>
              <a:t>16 MB</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_id</a:t>
            </a:r>
            <a:r>
              <a:rPr lang="en-US" sz="1600" dirty="0">
                <a:solidFill>
                  <a:srgbClr val="1C2B27"/>
                </a:solidFill>
                <a:latin typeface="Calibri" pitchFamily="34" charset="0"/>
                <a:ea typeface="Calibri" pitchFamily="34" charset="-122"/>
                <a:cs typeface="Calibri" pitchFamily="34" charset="-120"/>
              </a:rPr>
              <a:t> obligatorio y único; por defecto un ObjectId</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Subdocumentos y arrays: se consultan e indexan directamente</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El documento es la </a:t>
            </a:r>
            <a:r>
              <a:rPr lang="en-US" sz="1600" b="1" dirty="0">
                <a:solidFill>
                  <a:srgbClr val="1C2B27"/>
                </a:solidFill>
                <a:latin typeface="Calibri" pitchFamily="34" charset="0"/>
                <a:ea typeface="Calibri" pitchFamily="34" charset="-122"/>
                <a:cs typeface="Calibri" pitchFamily="34" charset="-120"/>
              </a:rPr>
              <a:t>unidad de atomicidad</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8 / 38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Cuándo encaja MongoDB y cuándo no</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Encaja bien</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Catálogos de productos y contenidos con atributos variables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Perfiles de usuario, sesiones y personalización</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Internet de las cosas y series temporales (colecciones time series)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Datos operacionales de alto volumen que hay que escalar</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Aplicaciones que evolucionan rápido</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Hay que pensarlo dos veces</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Modelos muy relacionales con muchas entidades cruzadas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Contabilidad clásica con transacciones complejas multi-entidad</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Informes ad hoc con JOIN arbitrarios sobre todo el modelo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Equipos que diseñan en MongoDB como si fuera un modelo relacional</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9 / 38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Componentes de un despliegue</a:t>
            </a:r>
            <a:endParaRPr lang="en-US" sz="3200" dirty="0"/>
          </a:p>
        </p:txBody>
      </p:sp>
      <p:sp>
        <p:nvSpPr>
          <p:cNvPr id="3" name="Shape 1"/>
          <p:cNvSpPr/>
          <p:nvPr/>
        </p:nvSpPr>
        <p:spPr>
          <a:xfrm>
            <a:off x="548640" y="150876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1F7A4D"/>
          </a:solidFill>
          <a:ln w="12700">
            <a:solidFill>
              <a:srgbClr val="1F7A4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6" name="Text 4"/>
          <p:cNvSpPr txBox="1"/>
          <p:nvPr/>
        </p:nvSpPr>
        <p:spPr>
          <a:xfrm>
            <a:off x="1417320" y="170992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mongod</a:t>
            </a:r>
            <a:endParaRPr lang="en-US" sz="1800" dirty="0"/>
          </a:p>
        </p:txBody>
      </p:sp>
      <p:sp>
        <p:nvSpPr>
          <p:cNvPr id="7" name="Text 5"/>
          <p:cNvSpPr txBox="1"/>
          <p:nvPr/>
        </p:nvSpPr>
        <p:spPr>
          <a:xfrm>
            <a:off x="777240" y="237744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El proceso servidor: almacena los datos, ejecuta las consultas, gestiona la replicación. Es lo que administraremos casi todo el curso.</a:t>
            </a:r>
            <a:endParaRPr lang="en-US" sz="1600" dirty="0"/>
          </a:p>
        </p:txBody>
      </p:sp>
      <p:sp>
        <p:nvSpPr>
          <p:cNvPr id="8" name="Shape 6"/>
          <p:cNvSpPr/>
          <p:nvPr/>
        </p:nvSpPr>
        <p:spPr>
          <a:xfrm>
            <a:off x="6233008" y="150876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461608"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646160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11" name="Text 9"/>
          <p:cNvSpPr txBox="1"/>
          <p:nvPr/>
        </p:nvSpPr>
        <p:spPr>
          <a:xfrm>
            <a:off x="7101688" y="170992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mongos</a:t>
            </a:r>
            <a:endParaRPr lang="en-US" sz="1800" dirty="0"/>
          </a:p>
        </p:txBody>
      </p:sp>
      <p:sp>
        <p:nvSpPr>
          <p:cNvPr id="12" name="Text 10"/>
          <p:cNvSpPr txBox="1"/>
          <p:nvPr/>
        </p:nvSpPr>
        <p:spPr>
          <a:xfrm>
            <a:off x="6461608" y="237744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El enrutador de un cluster con sharding: recibe las consultas de la aplicación y las dirige a los shards que contienen los datos. No guarda datos.</a:t>
            </a:r>
            <a:endParaRPr lang="en-US" sz="1600" dirty="0"/>
          </a:p>
        </p:txBody>
      </p:sp>
      <p:sp>
        <p:nvSpPr>
          <p:cNvPr id="13" name="Shape 11"/>
          <p:cNvSpPr/>
          <p:nvPr/>
        </p:nvSpPr>
        <p:spPr>
          <a:xfrm>
            <a:off x="548640" y="397764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77240" y="4206240"/>
            <a:ext cx="502920" cy="502920"/>
          </a:xfrm>
          <a:prstGeom prst="ellipse">
            <a:avLst/>
          </a:prstGeom>
          <a:solidFill>
            <a:srgbClr val="1F7A4D"/>
          </a:solidFill>
          <a:ln w="12700">
            <a:solidFill>
              <a:srgbClr val="1F7A4D"/>
            </a:solidFill>
            <a:prstDash val="solid"/>
          </a:ln>
        </p:spPr>
      </p:sp>
      <p:sp>
        <p:nvSpPr>
          <p:cNvPr id="15" name="Text 13"/>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6" name="Text 14"/>
          <p:cNvSpPr txBox="1"/>
          <p:nvPr/>
        </p:nvSpPr>
        <p:spPr>
          <a:xfrm>
            <a:off x="1417320" y="417880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Config servers</a:t>
            </a:r>
            <a:endParaRPr lang="en-US" sz="1800" dirty="0"/>
          </a:p>
        </p:txBody>
      </p:sp>
      <p:sp>
        <p:nvSpPr>
          <p:cNvPr id="17" name="Text 15"/>
          <p:cNvSpPr txBox="1"/>
          <p:nvPr/>
        </p:nvSpPr>
        <p:spPr>
          <a:xfrm>
            <a:off x="777240" y="484632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Replica set que guarda los metadatos de un cluster con sharding: qué rangos de datos hay en cada shard. Desde 8.0 pueden alojar también datos (config shard).</a:t>
            </a:r>
            <a:endParaRPr lang="en-US" sz="1600" dirty="0"/>
          </a:p>
        </p:txBody>
      </p:sp>
      <p:sp>
        <p:nvSpPr>
          <p:cNvPr id="18" name="Shape 16"/>
          <p:cNvSpPr/>
          <p:nvPr/>
        </p:nvSpPr>
        <p:spPr>
          <a:xfrm>
            <a:off x="6233008" y="397764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6461608" y="420624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646160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21" name="Text 19"/>
          <p:cNvSpPr txBox="1"/>
          <p:nvPr/>
        </p:nvSpPr>
        <p:spPr>
          <a:xfrm>
            <a:off x="7101688" y="417880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Clientes</a:t>
            </a:r>
            <a:endParaRPr lang="en-US" sz="1800" dirty="0"/>
          </a:p>
        </p:txBody>
      </p:sp>
      <p:sp>
        <p:nvSpPr>
          <p:cNvPr id="22" name="Text 20"/>
          <p:cNvSpPr txBox="1"/>
          <p:nvPr/>
        </p:nvSpPr>
        <p:spPr>
          <a:xfrm>
            <a:off x="6461608" y="484632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Drivers oficiales (Java, Python, Node.js, C#...), mongosh, Compass y las Database Tools. Todos hablan el mismo protocolo de red.</a:t>
            </a:r>
            <a:endParaRPr lang="en-US" sz="1600" dirty="0"/>
          </a:p>
        </p:txBody>
      </p:sp>
      <p:sp>
        <p:nvSpPr>
          <p:cNvPr id="23" name="Text 2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24" name="Text 2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10 / 38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Topologías</a:t>
            </a:r>
            <a:endParaRPr lang="en-US" sz="3200" dirty="0"/>
          </a:p>
        </p:txBody>
      </p:sp>
      <p:sp>
        <p:nvSpPr>
          <p:cNvPr id="3" name="Shape 1"/>
          <p:cNvSpPr/>
          <p:nvPr/>
        </p:nvSpPr>
        <p:spPr>
          <a:xfrm>
            <a:off x="548640" y="1508760"/>
            <a:ext cx="3515258" cy="4663440"/>
          </a:xfrm>
          <a:prstGeom prst="roundRect">
            <a:avLst>
              <a:gd name="adj" fmla="val 3121"/>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1F7A4D"/>
          </a:solidFill>
          <a:ln w="12700">
            <a:solidFill>
              <a:srgbClr val="1F7A4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17320"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Standalone</a:t>
            </a:r>
            <a:endParaRPr lang="en-US" sz="1800" dirty="0"/>
          </a:p>
        </p:txBody>
      </p:sp>
      <p:sp>
        <p:nvSpPr>
          <p:cNvPr id="7" name="Text 5"/>
          <p:cNvSpPr txBox="1"/>
          <p:nvPr/>
        </p:nvSpPr>
        <p:spPr>
          <a:xfrm>
            <a:off x="777240" y="2377440"/>
            <a:ext cx="3058058" cy="365760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Un único mongod. Sin redundancia ni failover. Solo para desarrollo, pruebas o tareas puntuales como verificar un backup.</a:t>
            </a:r>
            <a:endParaRPr lang="en-US" sz="1600" dirty="0"/>
          </a:p>
        </p:txBody>
      </p:sp>
      <p:sp>
        <p:nvSpPr>
          <p:cNvPr id="8" name="Shape 6"/>
          <p:cNvSpPr/>
          <p:nvPr/>
        </p:nvSpPr>
        <p:spPr>
          <a:xfrm>
            <a:off x="4338218" y="1508760"/>
            <a:ext cx="3515258" cy="4663440"/>
          </a:xfrm>
          <a:prstGeom prst="roundRect">
            <a:avLst>
              <a:gd name="adj" fmla="val 3121"/>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66818" y="1737360"/>
            <a:ext cx="502920" cy="502920"/>
          </a:xfrm>
          <a:prstGeom prst="ellipse">
            <a:avLst/>
          </a:prstGeom>
          <a:solidFill>
            <a:srgbClr val="F2B33D"/>
          </a:solidFill>
          <a:ln w="12700">
            <a:solidFill>
              <a:srgbClr val="F2B33D"/>
            </a:solidFill>
            <a:prstDash val="solid"/>
          </a:ln>
        </p:spPr>
      </p:sp>
      <p:sp>
        <p:nvSpPr>
          <p:cNvPr id="10" name="Text 8"/>
          <p:cNvSpPr txBox="1"/>
          <p:nvPr/>
        </p:nvSpPr>
        <p:spPr>
          <a:xfrm>
            <a:off x="4566818"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3</a:t>
            </a:r>
            <a:endParaRPr lang="en-US" sz="1500" dirty="0"/>
          </a:p>
        </p:txBody>
      </p:sp>
      <p:sp>
        <p:nvSpPr>
          <p:cNvPr id="11" name="Text 9"/>
          <p:cNvSpPr txBox="1"/>
          <p:nvPr/>
        </p:nvSpPr>
        <p:spPr>
          <a:xfrm>
            <a:off x="5206898"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Replica set</a:t>
            </a:r>
            <a:endParaRPr lang="en-US" sz="1800" dirty="0"/>
          </a:p>
        </p:txBody>
      </p:sp>
      <p:sp>
        <p:nvSpPr>
          <p:cNvPr id="12" name="Text 10"/>
          <p:cNvSpPr txBox="1"/>
          <p:nvPr/>
        </p:nvSpPr>
        <p:spPr>
          <a:xfrm>
            <a:off x="4566818" y="2377440"/>
            <a:ext cx="3058058" cy="365760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Varios mongod con los mismos datos: un primario y secundarios. Alta disponibilidad con failover automático. El mínimo para producción.</a:t>
            </a:r>
            <a:endParaRPr lang="en-US" sz="1600" dirty="0"/>
          </a:p>
        </p:txBody>
      </p:sp>
      <p:sp>
        <p:nvSpPr>
          <p:cNvPr id="13" name="Shape 11"/>
          <p:cNvSpPr/>
          <p:nvPr/>
        </p:nvSpPr>
        <p:spPr>
          <a:xfrm>
            <a:off x="8127797" y="1508760"/>
            <a:ext cx="3515258" cy="4663440"/>
          </a:xfrm>
          <a:prstGeom prst="roundRect">
            <a:avLst>
              <a:gd name="adj" fmla="val 3121"/>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356397" y="1737360"/>
            <a:ext cx="502920" cy="502920"/>
          </a:xfrm>
          <a:prstGeom prst="ellipse">
            <a:avLst/>
          </a:prstGeom>
          <a:solidFill>
            <a:srgbClr val="1F7A4D"/>
          </a:solidFill>
          <a:ln w="12700">
            <a:solidFill>
              <a:srgbClr val="1F7A4D"/>
            </a:solidFill>
            <a:prstDash val="solid"/>
          </a:ln>
        </p:spPr>
      </p:sp>
      <p:sp>
        <p:nvSpPr>
          <p:cNvPr id="15" name="Text 13"/>
          <p:cNvSpPr txBox="1"/>
          <p:nvPr/>
        </p:nvSpPr>
        <p:spPr>
          <a:xfrm>
            <a:off x="8356397"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N</a:t>
            </a:r>
            <a:endParaRPr lang="en-US" sz="1500" dirty="0"/>
          </a:p>
        </p:txBody>
      </p:sp>
      <p:sp>
        <p:nvSpPr>
          <p:cNvPr id="16" name="Text 14"/>
          <p:cNvSpPr txBox="1"/>
          <p:nvPr/>
        </p:nvSpPr>
        <p:spPr>
          <a:xfrm>
            <a:off x="8996477"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Sharded cluster</a:t>
            </a:r>
            <a:endParaRPr lang="en-US" sz="1800" dirty="0"/>
          </a:p>
        </p:txBody>
      </p:sp>
      <p:sp>
        <p:nvSpPr>
          <p:cNvPr id="17" name="Text 15"/>
          <p:cNvSpPr txBox="1"/>
          <p:nvPr/>
        </p:nvSpPr>
        <p:spPr>
          <a:xfrm>
            <a:off x="8356397" y="2377440"/>
            <a:ext cx="3058058" cy="365760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Varios replica sets (shards) + config servers + mongos. Reparte datos y carga cuando un replica set ya no es suficiente.</a:t>
            </a:r>
            <a:endParaRPr lang="en-US" sz="1600" dirty="0"/>
          </a:p>
        </p:txBody>
      </p:sp>
      <p:sp>
        <p:nvSpPr>
          <p:cNvPr id="18" name="Text 16"/>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9" name="Text 17"/>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11 / 38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Ediciones y distribuciones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468880"/>
                <a:gridCol w="3108960"/>
                <a:gridCol w="539496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Distribución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Licencia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Qué la distingue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MongoDB Community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SSPL, gratuita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El servidor completo: replicación, sharding, SCRAM, x.509, TLS, agregación, time series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MongoDB Enterprise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Comercial</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Añade LDAP y Kerberos, auditoría, cifrado en reposo, motor in-memory, soporte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MongoDB Atlas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Servicio gestionado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MongoDB como servicio en AWS, Azure y GCP; la operación la hace MongoDB Inc.</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Percona Server for MongoDB</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SSPL, gratuita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Compatible con Community y añade auditoría, cifrado en reposo, LDAP, hot backup y motor in-memory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En el curso: Community para casi todo; Percona Server para los laboratorios de auditoría, cifrado y hot backup.</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12 / 38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01</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Entorno Docker y primer mongod</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Arrancar un mongod standalone a partir de un fichero de configuración</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Leer el log estructurado de arranque</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Conectarse con mongosh desde el propio servidor y desde el toolbox</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Consultar la configuración efectiva con serverCmdLineOpts y hostInfo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Comprobar que los datos sobreviven a un reinicio</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dia1/lab01-entorno/README.md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13 / 38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Instalación y actualización</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Cómo se pone en marcha un mongod y cómo se cambia de versión sin sustos</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Métodos de instalación</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El fichero mongod.conf</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Servicio y usuario del sistema</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Versiones y ciclo de vida</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Proceso de actualización y FCV</a:t>
            </a:r>
            <a:endParaRPr lang="en-US" sz="16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14 / 38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Formas de instalar MongoDB</a:t>
            </a:r>
            <a:endParaRPr lang="en-US" sz="3200" dirty="0"/>
          </a:p>
        </p:txBody>
      </p:sp>
      <p:sp>
        <p:nvSpPr>
          <p:cNvPr id="3" name="Shape 1"/>
          <p:cNvSpPr/>
          <p:nvPr/>
        </p:nvSpPr>
        <p:spPr>
          <a:xfrm>
            <a:off x="548640" y="150876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F2B33D"/>
          </a:solidFill>
          <a:ln w="12700">
            <a:solidFill>
              <a:srgbClr val="F2B33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17320" y="170992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Paquetes oficiales</a:t>
            </a:r>
            <a:endParaRPr lang="en-US" sz="1800" dirty="0"/>
          </a:p>
        </p:txBody>
      </p:sp>
      <p:sp>
        <p:nvSpPr>
          <p:cNvPr id="7" name="Text 5"/>
          <p:cNvSpPr txBox="1"/>
          <p:nvPr/>
        </p:nvSpPr>
        <p:spPr>
          <a:xfrm>
            <a:off x="777240" y="237744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Repositorios de MongoDB para apt (Ubuntu, Debian) y dnf/yum (RHEL, Rocky, Amazon Linux). Crean el usuario mongod, el servicio de systemd y /etc/mongod.conf. La opción recomendada en servidores.</a:t>
            </a:r>
            <a:endParaRPr lang="en-US" sz="1600" dirty="0"/>
          </a:p>
        </p:txBody>
      </p:sp>
      <p:sp>
        <p:nvSpPr>
          <p:cNvPr id="8" name="Shape 6"/>
          <p:cNvSpPr/>
          <p:nvPr/>
        </p:nvSpPr>
        <p:spPr>
          <a:xfrm>
            <a:off x="6233008" y="150876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461608"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646160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7101688" y="170992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Tarball</a:t>
            </a:r>
            <a:endParaRPr lang="en-US" sz="1800" dirty="0"/>
          </a:p>
        </p:txBody>
      </p:sp>
      <p:sp>
        <p:nvSpPr>
          <p:cNvPr id="12" name="Text 10"/>
          <p:cNvSpPr txBox="1"/>
          <p:nvPr/>
        </p:nvSpPr>
        <p:spPr>
          <a:xfrm>
            <a:off x="6461608" y="237744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Binarios comprimidos para cualquier Linux, macOS o Windows. Control total de rutas, pero el servicio, el usuario y los permisos los preparas tú.</a:t>
            </a:r>
            <a:endParaRPr lang="en-US" sz="1600" dirty="0"/>
          </a:p>
        </p:txBody>
      </p:sp>
      <p:sp>
        <p:nvSpPr>
          <p:cNvPr id="13" name="Shape 11"/>
          <p:cNvSpPr/>
          <p:nvPr/>
        </p:nvSpPr>
        <p:spPr>
          <a:xfrm>
            <a:off x="548640" y="397764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77240" y="4206240"/>
            <a:ext cx="502920" cy="502920"/>
          </a:xfrm>
          <a:prstGeom prst="ellipse">
            <a:avLst/>
          </a:prstGeom>
          <a:solidFill>
            <a:srgbClr val="1F7A4D"/>
          </a:solidFill>
          <a:ln w="12700">
            <a:solidFill>
              <a:srgbClr val="1F7A4D"/>
            </a:solidFill>
            <a:prstDash val="solid"/>
          </a:ln>
        </p:spPr>
      </p:sp>
      <p:sp>
        <p:nvSpPr>
          <p:cNvPr id="15" name="Text 13"/>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417320" y="417880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Contenedores</a:t>
            </a:r>
            <a:endParaRPr lang="en-US" sz="1800" dirty="0"/>
          </a:p>
        </p:txBody>
      </p:sp>
      <p:sp>
        <p:nvSpPr>
          <p:cNvPr id="17" name="Text 15"/>
          <p:cNvSpPr txBox="1"/>
          <p:nvPr/>
        </p:nvSpPr>
        <p:spPr>
          <a:xfrm>
            <a:off x="777240" y="484632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Imagen oficial mongodb/mongodb-community-server. Mismos binarios; los datos van siempre en un volumen persistente. Lo que usamos en el curso.</a:t>
            </a:r>
            <a:endParaRPr lang="en-US" sz="1600" dirty="0"/>
          </a:p>
        </p:txBody>
      </p:sp>
      <p:sp>
        <p:nvSpPr>
          <p:cNvPr id="18" name="Shape 16"/>
          <p:cNvSpPr/>
          <p:nvPr/>
        </p:nvSpPr>
        <p:spPr>
          <a:xfrm>
            <a:off x="6233008" y="3977640"/>
            <a:ext cx="541004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6461608" y="420624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646160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7101688" y="4178808"/>
            <a:ext cx="435848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Kubernetes</a:t>
            </a:r>
            <a:endParaRPr lang="en-US" sz="1800" dirty="0"/>
          </a:p>
        </p:txBody>
      </p:sp>
      <p:sp>
        <p:nvSpPr>
          <p:cNvPr id="22" name="Text 20"/>
          <p:cNvSpPr txBox="1"/>
          <p:nvPr/>
        </p:nvSpPr>
        <p:spPr>
          <a:xfrm>
            <a:off x="6461608" y="4846320"/>
            <a:ext cx="495284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Operadores (MongoDB Controllers for Kubernetes, Percona Operator) que automatizan replica sets, sharding, backups y actualizaciones.</a:t>
            </a:r>
            <a:endParaRPr lang="en-US" sz="1600" dirty="0"/>
          </a:p>
        </p:txBody>
      </p:sp>
      <p:sp>
        <p:nvSpPr>
          <p:cNvPr id="23" name="Text 2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24" name="Text 2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15 / 38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Anatomía de mongod.conf</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/etc/mongod.conf (YAML)</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storage:
  dbPath: /var/lib/mongo
  wiredTiger:
    engineConfig:
      cacheSizeGB: 8
systemLog:
  destination: file
  path: /var/log/mongodb/mongod.log
  logAppend: true
  logRotate: reopen
net:
  port: 27017
  bindIp: 127.0.0.1,10.0.1.15
processManagement:
  timeZoneInfo: /usr/share/zoneinfo
security:
  authorization: enabled
  keyFile: /etc/mongodb/keyfile
replication:
  replSetName: rs0
  oplogSizeMB: 51200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Formato </a:t>
            </a:r>
            <a:r>
              <a:rPr lang="en-US" sz="1600" b="1" dirty="0">
                <a:solidFill>
                  <a:srgbClr val="1C2B27"/>
                </a:solidFill>
                <a:latin typeface="Calibri" pitchFamily="34" charset="0"/>
                <a:ea typeface="Calibri" pitchFamily="34" charset="-122"/>
                <a:cs typeface="Calibri" pitchFamily="34" charset="-120"/>
              </a:rPr>
              <a:t>YAML</a:t>
            </a:r>
            <a:r>
              <a:rPr lang="en-US" sz="1600" dirty="0">
                <a:solidFill>
                  <a:srgbClr val="1C2B27"/>
                </a:solidFill>
                <a:latin typeface="Calibri" pitchFamily="34" charset="0"/>
                <a:ea typeface="Calibri" pitchFamily="34" charset="-122"/>
                <a:cs typeface="Calibri" pitchFamily="34" charset="-120"/>
              </a:rPr>
              <a:t>: espacios, nunca tabuladores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Cada opción tiene su equivalente en línea de comandos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bindIp</a:t>
            </a:r>
            <a:r>
              <a:rPr lang="en-US" sz="1600" dirty="0">
                <a:solidFill>
                  <a:srgbClr val="1C2B27"/>
                </a:solidFill>
                <a:latin typeface="Calibri" pitchFamily="34" charset="0"/>
                <a:ea typeface="Calibri" pitchFamily="34" charset="-122"/>
                <a:cs typeface="Calibri" pitchFamily="34" charset="-120"/>
              </a:rPr>
              <a:t>: por defecto solo localhost desde 3.6</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logRotate: reopen</a:t>
            </a:r>
            <a:r>
              <a:rPr lang="en-US" sz="1600" dirty="0">
                <a:solidFill>
                  <a:srgbClr val="1C2B27"/>
                </a:solidFill>
                <a:latin typeface="Calibri" pitchFamily="34" charset="0"/>
                <a:ea typeface="Calibri" pitchFamily="34" charset="-122"/>
                <a:cs typeface="Calibri" pitchFamily="34" charset="-120"/>
              </a:rPr>
              <a:t> para usar logrotate del sistema</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Comprueba la configuración efectiva con </a:t>
            </a:r>
            <a:r>
              <a:rPr lang="en-US" sz="1600" b="1" dirty="0">
                <a:solidFill>
                  <a:srgbClr val="1C2B27"/>
                </a:solidFill>
                <a:latin typeface="Calibri" pitchFamily="34" charset="0"/>
                <a:ea typeface="Calibri" pitchFamily="34" charset="-122"/>
                <a:cs typeface="Calibri" pitchFamily="34" charset="-120"/>
              </a:rPr>
              <a:t>db.serverCmdLineOpts()</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16 / 38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mongod como servicio del sistema</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Servicio </a:t>
            </a:r>
            <a:r>
              <a:rPr lang="en-US" sz="2000" b="1" dirty="0">
                <a:solidFill>
                  <a:srgbClr val="1C2B27"/>
                </a:solidFill>
                <a:latin typeface="Calibri" pitchFamily="34" charset="0"/>
                <a:ea typeface="Calibri" pitchFamily="34" charset="-122"/>
                <a:cs typeface="Calibri" pitchFamily="34" charset="-120"/>
              </a:rPr>
              <a:t>systemd</a:t>
            </a:r>
            <a:r>
              <a:rPr lang="en-US" sz="2000" dirty="0">
                <a:solidFill>
                  <a:srgbClr val="1C2B27"/>
                </a:solidFill>
                <a:latin typeface="Calibri" pitchFamily="34" charset="0"/>
                <a:ea typeface="Calibri" pitchFamily="34" charset="-122"/>
                <a:cs typeface="Calibri" pitchFamily="34" charset="-120"/>
              </a:rPr>
              <a:t>: systemctl start | stop | status mongod</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Usuario dedicado sin privilegios (</a:t>
            </a:r>
            <a:r>
              <a:rPr lang="en-US" sz="2000" b="1" dirty="0">
                <a:solidFill>
                  <a:srgbClr val="1C2B27"/>
                </a:solidFill>
                <a:latin typeface="Calibri" pitchFamily="34" charset="0"/>
                <a:ea typeface="Calibri" pitchFamily="34" charset="-122"/>
                <a:cs typeface="Calibri" pitchFamily="34" charset="-120"/>
              </a:rPr>
              <a:t>mongod</a:t>
            </a:r>
            <a:r>
              <a:rPr lang="en-US" sz="2000" dirty="0">
                <a:solidFill>
                  <a:srgbClr val="1C2B27"/>
                </a:solidFill>
                <a:latin typeface="Calibri" pitchFamily="34" charset="0"/>
                <a:ea typeface="Calibri" pitchFamily="34" charset="-122"/>
                <a:cs typeface="Calibri" pitchFamily="34" charset="-120"/>
              </a:rPr>
              <a:t> o </a:t>
            </a:r>
            <a:r>
              <a:rPr lang="en-US" sz="2000" b="1" dirty="0">
                <a:solidFill>
                  <a:srgbClr val="1C2B27"/>
                </a:solidFill>
                <a:latin typeface="Calibri" pitchFamily="34" charset="0"/>
                <a:ea typeface="Calibri" pitchFamily="34" charset="-122"/>
                <a:cs typeface="Calibri" pitchFamily="34" charset="-120"/>
              </a:rPr>
              <a:t>mongodb</a:t>
            </a:r>
            <a:r>
              <a:rPr lang="en-US" sz="2000" dirty="0">
                <a:solidFill>
                  <a:srgbClr val="1C2B27"/>
                </a:solidFill>
                <a:latin typeface="Calibri" pitchFamily="34" charset="0"/>
                <a:ea typeface="Calibri" pitchFamily="34" charset="-122"/>
                <a:cs typeface="Calibri" pitchFamily="34" charset="-120"/>
              </a:rPr>
              <a:t>), nunca root</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Directorios de datos y logs propiedad de ese usuario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Límites del servicio en la unidad: </a:t>
            </a:r>
            <a:r>
              <a:rPr lang="en-US" sz="2000" b="1" dirty="0">
                <a:solidFill>
                  <a:srgbClr val="1C2B27"/>
                </a:solidFill>
                <a:latin typeface="Calibri" pitchFamily="34" charset="0"/>
                <a:ea typeface="Calibri" pitchFamily="34" charset="-122"/>
                <a:cs typeface="Calibri" pitchFamily="34" charset="-120"/>
              </a:rPr>
              <a:t>LimitNOFILE</a:t>
            </a:r>
            <a:r>
              <a:rPr lang="en-US" sz="2000" dirty="0">
                <a:solidFill>
                  <a:srgbClr val="1C2B27"/>
                </a:solidFill>
                <a:latin typeface="Calibri" pitchFamily="34" charset="0"/>
                <a:ea typeface="Calibri" pitchFamily="34" charset="-122"/>
                <a:cs typeface="Calibri" pitchFamily="34" charset="-120"/>
              </a:rPr>
              <a:t>, </a:t>
            </a:r>
            <a:r>
              <a:rPr lang="en-US" sz="2000" b="1" dirty="0">
                <a:solidFill>
                  <a:srgbClr val="1C2B27"/>
                </a:solidFill>
                <a:latin typeface="Calibri" pitchFamily="34" charset="0"/>
                <a:ea typeface="Calibri" pitchFamily="34" charset="-122"/>
                <a:cs typeface="Calibri" pitchFamily="34" charset="-120"/>
              </a:rPr>
              <a:t>LimitNPROC</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Apagado limpio: systemctl stop o </a:t>
            </a:r>
            <a:r>
              <a:rPr lang="en-US" sz="2000" b="1" dirty="0">
                <a:solidFill>
                  <a:srgbClr val="1C2B27"/>
                </a:solidFill>
                <a:latin typeface="Calibri" pitchFamily="34" charset="0"/>
                <a:ea typeface="Calibri" pitchFamily="34" charset="-122"/>
                <a:cs typeface="Calibri" pitchFamily="34" charset="-120"/>
              </a:rPr>
              <a:t>db.shutdownServer()</a:t>
            </a:r>
            <a:r>
              <a:rPr lang="en-US" sz="2000" dirty="0">
                <a:solidFill>
                  <a:srgbClr val="1C2B27"/>
                </a:solidFill>
                <a:latin typeface="Calibri" pitchFamily="34" charset="0"/>
                <a:ea typeface="Calibri" pitchFamily="34" charset="-122"/>
                <a:cs typeface="Calibri" pitchFamily="34" charset="-120"/>
              </a:rPr>
              <a:t>; nunca kill -9</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Logs: fichero propio más </a:t>
            </a:r>
            <a:r>
              <a:rPr lang="en-US" sz="2000" b="1" dirty="0">
                <a:solidFill>
                  <a:srgbClr val="1C2B27"/>
                </a:solidFill>
                <a:latin typeface="Calibri" pitchFamily="34" charset="0"/>
                <a:ea typeface="Calibri" pitchFamily="34" charset="-122"/>
                <a:cs typeface="Calibri" pitchFamily="34" charset="-120"/>
              </a:rPr>
              <a:t>journalctl -u mongod</a:t>
            </a:r>
            <a:r>
              <a:rPr lang="en-US" sz="2000" dirty="0">
                <a:solidFill>
                  <a:srgbClr val="1C2B27"/>
                </a:solidFill>
                <a:latin typeface="Calibri" pitchFamily="34" charset="0"/>
                <a:ea typeface="Calibri" pitchFamily="34" charset="-122"/>
                <a:cs typeface="Calibri" pitchFamily="34" charset="-120"/>
              </a:rPr>
              <a:t> para errores de arranque</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El error clásico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Arrancar mongod una vez a mano como root para "probar". Los ficheros que crea quedan a nombre de root y, a partir de ahí, el servicio no puede arrancar con su usuario. La solución es un chown -R del directorio de datos y de logs, pero mejor no llegar a necesitarla.</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17 / 38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Versiones y ciclo de vida</a:t>
            </a:r>
            <a:endParaRPr lang="en-US" sz="3200" dirty="0"/>
          </a:p>
        </p:txBody>
      </p:sp>
      <p:sp>
        <p:nvSpPr>
          <p:cNvPr id="3" name="Shape 1"/>
          <p:cNvSpPr/>
          <p:nvPr/>
        </p:nvSpPr>
        <p:spPr>
          <a:xfrm>
            <a:off x="548640" y="1554480"/>
            <a:ext cx="3515258" cy="2103120"/>
          </a:xfrm>
          <a:prstGeom prst="roundRect">
            <a:avLst>
              <a:gd name="adj" fmla="val 5217"/>
            </a:avLst>
          </a:prstGeom>
          <a:solidFill>
            <a:srgbClr val="0F2A25"/>
          </a:solidFill>
          <a:ln w="12700">
            <a:solidFill>
              <a:srgbClr val="0F2A25"/>
            </a:solidFill>
            <a:prstDash val="solid"/>
          </a:ln>
        </p:spPr>
      </p:sp>
      <p:sp>
        <p:nvSpPr>
          <p:cNvPr id="4" name="Text 2"/>
          <p:cNvSpPr txBox="1"/>
          <p:nvPr/>
        </p:nvSpPr>
        <p:spPr>
          <a:xfrm>
            <a:off x="731520" y="1783080"/>
            <a:ext cx="3149498" cy="1005840"/>
          </a:xfrm>
          <a:prstGeom prst="rect">
            <a:avLst/>
          </a:prstGeom>
          <a:noFill/>
          <a:ln/>
        </p:spPr>
        <p:txBody>
          <a:bodyPr wrap="square" lIns="0" tIns="0" rIns="0" bIns="0" rtlCol="0" anchor="ctr"/>
          <a:lstStyle/>
          <a:p>
            <a:pPr indent="0" marL="0">
              <a:buNone/>
            </a:pPr>
            <a:r>
              <a:rPr lang="en-US" sz="4400" b="1" dirty="0">
                <a:solidFill>
                  <a:srgbClr val="F2B33D"/>
                </a:solidFill>
                <a:latin typeface="Cambria" pitchFamily="34" charset="0"/>
                <a:ea typeface="Cambria" pitchFamily="34" charset="-122"/>
                <a:cs typeface="Cambria" pitchFamily="34" charset="-120"/>
              </a:rPr>
              <a:t>8.0</a:t>
            </a:r>
            <a:endParaRPr lang="en-US" sz="4400" dirty="0"/>
          </a:p>
        </p:txBody>
      </p:sp>
      <p:sp>
        <p:nvSpPr>
          <p:cNvPr id="5" name="Text 3"/>
          <p:cNvSpPr txBox="1"/>
          <p:nvPr/>
        </p:nvSpPr>
        <p:spPr>
          <a:xfrm>
            <a:off x="731520" y="2788920"/>
            <a:ext cx="3149498" cy="7772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Versión mayor del curso, con soporte a largo plazo</a:t>
            </a:r>
            <a:endParaRPr lang="en-US" sz="1400" dirty="0"/>
          </a:p>
        </p:txBody>
      </p:sp>
      <p:sp>
        <p:nvSpPr>
          <p:cNvPr id="6" name="Shape 4"/>
          <p:cNvSpPr/>
          <p:nvPr/>
        </p:nvSpPr>
        <p:spPr>
          <a:xfrm>
            <a:off x="4338218" y="1554480"/>
            <a:ext cx="3515258" cy="2103120"/>
          </a:xfrm>
          <a:prstGeom prst="roundRect">
            <a:avLst>
              <a:gd name="adj" fmla="val 5217"/>
            </a:avLst>
          </a:prstGeom>
          <a:solidFill>
            <a:srgbClr val="E8F3EC"/>
          </a:solidFill>
          <a:ln w="12700">
            <a:solidFill>
              <a:srgbClr val="E8F3EC"/>
            </a:solidFill>
            <a:prstDash val="solid"/>
          </a:ln>
        </p:spPr>
      </p:sp>
      <p:sp>
        <p:nvSpPr>
          <p:cNvPr id="7" name="Text 5"/>
          <p:cNvSpPr txBox="1"/>
          <p:nvPr/>
        </p:nvSpPr>
        <p:spPr>
          <a:xfrm>
            <a:off x="4521098"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30</a:t>
            </a:r>
            <a:endParaRPr lang="en-US" sz="4400" dirty="0"/>
          </a:p>
        </p:txBody>
      </p:sp>
      <p:sp>
        <p:nvSpPr>
          <p:cNvPr id="8" name="Text 6"/>
          <p:cNvSpPr txBox="1"/>
          <p:nvPr/>
        </p:nvSpPr>
        <p:spPr>
          <a:xfrm>
            <a:off x="4521098"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Meses de soporte aproximado de una versión mayor</a:t>
            </a:r>
            <a:endParaRPr lang="en-US" sz="1400" dirty="0"/>
          </a:p>
        </p:txBody>
      </p:sp>
      <p:sp>
        <p:nvSpPr>
          <p:cNvPr id="9" name="Shape 7"/>
          <p:cNvSpPr/>
          <p:nvPr/>
        </p:nvSpPr>
        <p:spPr>
          <a:xfrm>
            <a:off x="8127797" y="1554480"/>
            <a:ext cx="3515258" cy="2103120"/>
          </a:xfrm>
          <a:prstGeom prst="roundRect">
            <a:avLst>
              <a:gd name="adj" fmla="val 5217"/>
            </a:avLst>
          </a:prstGeom>
          <a:solidFill>
            <a:srgbClr val="E8F3EC"/>
          </a:solidFill>
          <a:ln w="12700">
            <a:solidFill>
              <a:srgbClr val="E8F3EC"/>
            </a:solidFill>
            <a:prstDash val="solid"/>
          </a:ln>
        </p:spPr>
      </p:sp>
      <p:sp>
        <p:nvSpPr>
          <p:cNvPr id="10" name="Text 8"/>
          <p:cNvSpPr txBox="1"/>
          <p:nvPr/>
        </p:nvSpPr>
        <p:spPr>
          <a:xfrm>
            <a:off x="8310677"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1 a 1</a:t>
            </a:r>
            <a:endParaRPr lang="en-US" sz="4400" dirty="0"/>
          </a:p>
        </p:txBody>
      </p:sp>
      <p:sp>
        <p:nvSpPr>
          <p:cNvPr id="11" name="Text 9"/>
          <p:cNvSpPr txBox="1"/>
          <p:nvPr/>
        </p:nvSpPr>
        <p:spPr>
          <a:xfrm>
            <a:off x="8310677"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Las versiones mayores se actualizan de una en una: 6.0 → 7.0 → 8.0</a:t>
            </a:r>
            <a:endParaRPr lang="en-US" sz="1400" dirty="0"/>
          </a:p>
        </p:txBody>
      </p:sp>
      <p:sp>
        <p:nvSpPr>
          <p:cNvPr id="12" name="Text 10"/>
          <p:cNvSpPr txBox="1"/>
          <p:nvPr/>
        </p:nvSpPr>
        <p:spPr>
          <a:xfrm>
            <a:off x="548640" y="3931920"/>
            <a:ext cx="11094415" cy="2194560"/>
          </a:xfrm>
          <a:prstGeom prst="rect">
            <a:avLst/>
          </a:prstGeom>
          <a:noFill/>
          <a:ln/>
        </p:spPr>
        <p:txBody>
          <a:bodyPr wrap="square" lIns="0" tIns="0" rIns="0" bIns="0" rtlCol="0" anchor="t"/>
          <a:lstStyle/>
          <a:p>
            <a:pPr marL="254000" indent="-254000">
              <a:spcAft>
                <a:spcPts val="1000"/>
              </a:spcAft>
              <a:buSzPct val="100000"/>
              <a:buChar char="●"/>
            </a:pPr>
            <a:r>
              <a:rPr lang="en-US" sz="1800" b="1" dirty="0">
                <a:solidFill>
                  <a:srgbClr val="1C2B27"/>
                </a:solidFill>
                <a:latin typeface="Calibri" pitchFamily="34" charset="0"/>
                <a:ea typeface="Calibri" pitchFamily="34" charset="-122"/>
                <a:cs typeface="Calibri" pitchFamily="34" charset="-120"/>
              </a:rPr>
              <a:t>Versión mayor</a:t>
            </a:r>
            <a:r>
              <a:rPr lang="en-US" sz="1800" dirty="0">
                <a:solidFill>
                  <a:srgbClr val="1C2B27"/>
                </a:solidFill>
                <a:latin typeface="Calibri" pitchFamily="34" charset="0"/>
                <a:ea typeface="Calibri" pitchFamily="34" charset="-122"/>
                <a:cs typeface="Calibri" pitchFamily="34" charset="-120"/>
              </a:rPr>
              <a:t> (7.0, 8.0): anual; </a:t>
            </a:r>
            <a:r>
              <a:rPr lang="en-US" sz="1800" b="1" dirty="0">
                <a:solidFill>
                  <a:srgbClr val="1C2B27"/>
                </a:solidFill>
                <a:latin typeface="Calibri" pitchFamily="34" charset="0"/>
                <a:ea typeface="Calibri" pitchFamily="34" charset="-122"/>
                <a:cs typeface="Calibri" pitchFamily="34" charset="-120"/>
              </a:rPr>
              <a:t>parche</a:t>
            </a:r>
            <a:r>
              <a:rPr lang="en-US" sz="1800" dirty="0">
                <a:solidFill>
                  <a:srgbClr val="1C2B27"/>
                </a:solidFill>
                <a:latin typeface="Calibri" pitchFamily="34" charset="0"/>
                <a:ea typeface="Calibri" pitchFamily="34" charset="-122"/>
                <a:cs typeface="Calibri" pitchFamily="34" charset="-120"/>
              </a:rPr>
              <a:t> (8.0.x): correcciones, se aplica sin cambiar la FCV</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Las </a:t>
            </a:r>
            <a:r>
              <a:rPr lang="en-US" sz="1800" b="1" dirty="0">
                <a:solidFill>
                  <a:srgbClr val="1C2B27"/>
                </a:solidFill>
                <a:latin typeface="Calibri" pitchFamily="34" charset="0"/>
                <a:ea typeface="Calibri" pitchFamily="34" charset="-122"/>
                <a:cs typeface="Calibri" pitchFamily="34" charset="-120"/>
              </a:rPr>
              <a:t>versiones intermedias</a:t>
            </a:r>
            <a:r>
              <a:rPr lang="en-US" sz="1800" dirty="0">
                <a:solidFill>
                  <a:srgbClr val="1C2B27"/>
                </a:solidFill>
                <a:latin typeface="Calibri" pitchFamily="34" charset="0"/>
                <a:ea typeface="Calibri" pitchFamily="34" charset="-122"/>
                <a:cs typeface="Calibri" pitchFamily="34" charset="-120"/>
              </a:rPr>
              <a:t> (8.1, 8.2...) tienen ciclos de soporte cortos: revisad siempre la política oficial antes de usarlas</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Planificad las actualizaciones: una versión fuera de soporte deja de recibir parches de seguridad</a:t>
            </a:r>
            <a:endParaRPr lang="en-US" sz="1800" dirty="0"/>
          </a:p>
        </p:txBody>
      </p:sp>
      <p:sp>
        <p:nvSpPr>
          <p:cNvPr id="13" name="Text 1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4" name="Text 1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18 / 38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Proceso de actualización de una versión mayor</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Preparar</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Leer release notes y cambios incompatibles. Comprobar drivers. Probar en preproducción.</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Backup</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Copia de seguridad verificada antes de tocar nada.</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Binarios</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Cambiar los binarios nodo a nodo: secundarios primero, stepDown y primario al final.</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1F7A4D"/>
          </a:solidFill>
          <a:ln w="12700">
            <a:solidFill>
              <a:srgbClr val="1F7A4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Verificar</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Aplicación funcionando con la FCV antigua. Si algo falla, rollback solo de binarios.</a:t>
            </a:r>
            <a:endParaRPr lang="en-US" sz="1600" dirty="0"/>
          </a:p>
        </p:txBody>
      </p:sp>
      <p:sp>
        <p:nvSpPr>
          <p:cNvPr id="23" name="Shape 21"/>
          <p:cNvSpPr/>
          <p:nvPr/>
        </p:nvSpPr>
        <p:spPr>
          <a:xfrm>
            <a:off x="10213574" y="2011680"/>
            <a:ext cx="822960" cy="822960"/>
          </a:xfrm>
          <a:prstGeom prst="ellipse">
            <a:avLst/>
          </a:prstGeom>
          <a:solidFill>
            <a:srgbClr val="F2B33D"/>
          </a:solidFill>
          <a:ln w="12700">
            <a:solidFill>
              <a:srgbClr val="F2B33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Subir la FCV</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setFeatureCompatibilityVersion con confirm: true. A partir de aquí, sin vuelta atrás sencilla.</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Entre el cambio de binarios y la subida de la FCV conviene dejar pasar un tiempo razonable de funcionamiento normal.</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19 / 38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Feature Compatibility Version (FCV)</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Controla qué funcionalidades que </a:t>
            </a:r>
            <a:r>
              <a:rPr lang="en-US" sz="2000" b="1" dirty="0">
                <a:solidFill>
                  <a:srgbClr val="1C2B27"/>
                </a:solidFill>
                <a:latin typeface="Calibri" pitchFamily="34" charset="0"/>
                <a:ea typeface="Calibri" pitchFamily="34" charset="-122"/>
                <a:cs typeface="Calibri" pitchFamily="34" charset="-120"/>
              </a:rPr>
              <a:t>cambian el formato en disco</a:t>
            </a:r>
            <a:r>
              <a:rPr lang="en-US" sz="2000" dirty="0">
                <a:solidFill>
                  <a:srgbClr val="1C2B27"/>
                </a:solidFill>
                <a:latin typeface="Calibri" pitchFamily="34" charset="0"/>
                <a:ea typeface="Calibri" pitchFamily="34" charset="-122"/>
                <a:cs typeface="Calibri" pitchFamily="34" charset="-120"/>
              </a:rPr>
              <a:t> están activas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Tras cambiar los binarios, la FCV sigue en la versión anterior</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Consultar: </a:t>
            </a:r>
            <a:r>
              <a:rPr lang="en-US" sz="2000" b="1" dirty="0">
                <a:solidFill>
                  <a:srgbClr val="1C2B27"/>
                </a:solidFill>
                <a:latin typeface="Calibri" pitchFamily="34" charset="0"/>
                <a:ea typeface="Calibri" pitchFamily="34" charset="-122"/>
                <a:cs typeface="Calibri" pitchFamily="34" charset="-120"/>
              </a:rPr>
              <a:t>db.adminCommand({ getParameter: 1, featureCompatibilityVersion: 1 })</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Subir: </a:t>
            </a:r>
            <a:r>
              <a:rPr lang="en-US" sz="2000" b="1" dirty="0">
                <a:solidFill>
                  <a:srgbClr val="1C2B27"/>
                </a:solidFill>
                <a:latin typeface="Calibri" pitchFamily="34" charset="0"/>
                <a:ea typeface="Calibri" pitchFamily="34" charset="-122"/>
                <a:cs typeface="Calibri" pitchFamily="34" charset="-120"/>
              </a:rPr>
              <a:t>db.adminCommand({ setFeatureCompatibilityVersion: "8.0", confirm: true })</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En un replica set o cluster se ejecuta </a:t>
            </a:r>
            <a:r>
              <a:rPr lang="en-US" sz="2000" b="1" dirty="0">
                <a:solidFill>
                  <a:srgbClr val="1C2B27"/>
                </a:solidFill>
                <a:latin typeface="Calibri" pitchFamily="34" charset="0"/>
                <a:ea typeface="Calibri" pitchFamily="34" charset="-122"/>
                <a:cs typeface="Calibri" pitchFamily="34" charset="-120"/>
              </a:rPr>
              <a:t>una sola vez</a:t>
            </a:r>
            <a:r>
              <a:rPr lang="en-US" sz="2000" dirty="0">
                <a:solidFill>
                  <a:srgbClr val="1C2B27"/>
                </a:solidFill>
                <a:latin typeface="Calibri" pitchFamily="34" charset="0"/>
                <a:ea typeface="Calibri" pitchFamily="34" charset="-122"/>
                <a:cs typeface="Calibri" pitchFamily="34" charset="-120"/>
              </a:rPr>
              <a:t>, en el primario o en mongos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Para bajar de versión, primero hay que bajar la FCV, con restricciones</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¿Por qué dos fases?</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Porque separan el riesgo. Cambiar binarios es reversible; cambiar el formato de los datos no tanto. Con la FCV antigua, un nodo 8.0 escribe datos que un 7.0 entiende, así que puedes volver atrás si algo falla.</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20 / 38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02</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Actualización de MongoDB 7.0 a 8.0</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Arrancar una instancia 7.0 y cargar datos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Comprobar versión y FCV antes de actualizar</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Sustituir los binarios manteniendo el volumen de datos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Verificar el estado intermedio: binarios 8.0 con FCV 7.0</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Subir la FCV y comprobar el efecto de confirm: true</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dia1/lab02-actualizacion/README.md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21 / 38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3D35"/>
        </a:solidFill>
      </p:bgPr>
    </p:bg>
    <p:spTree>
      <p:nvGrpSpPr>
        <p:cNvPr id="1" name=""/>
        <p:cNvGrpSpPr/>
        <p:nvPr/>
      </p:nvGrpSpPr>
      <p:grpSpPr>
        <a:xfrm>
          <a:off x="0" y="0"/>
          <a:ext cx="0" cy="0"/>
          <a:chOff x="0" y="0"/>
          <a:chExt cx="0" cy="0"/>
        </a:xfrm>
      </p:grpSpPr>
      <p:sp>
        <p:nvSpPr>
          <p:cNvPr id="2" name="Shape 0"/>
          <p:cNvSpPr/>
          <p:nvPr/>
        </p:nvSpPr>
        <p:spPr>
          <a:xfrm>
            <a:off x="548640" y="1463040"/>
            <a:ext cx="822960" cy="822960"/>
          </a:xfrm>
          <a:prstGeom prst="ellipse">
            <a:avLst/>
          </a:prstGeom>
          <a:solidFill>
            <a:srgbClr val="F2B33D"/>
          </a:solidFill>
          <a:ln w="12700">
            <a:solidFill>
              <a:srgbClr val="F2B33D"/>
            </a:solidFill>
            <a:prstDash val="solid"/>
          </a:ln>
        </p:spPr>
      </p:sp>
      <p:sp>
        <p:nvSpPr>
          <p:cNvPr id="3" name="Text 1"/>
          <p:cNvSpPr txBox="1"/>
          <p:nvPr/>
        </p:nvSpPr>
        <p:spPr>
          <a:xfrm>
            <a:off x="548640" y="1463040"/>
            <a:ext cx="822960" cy="822960"/>
          </a:xfrm>
          <a:prstGeom prst="rect">
            <a:avLst/>
          </a:prstGeom>
          <a:noFill/>
          <a:ln/>
        </p:spPr>
        <p:txBody>
          <a:bodyPr wrap="square" lIns="0" tIns="0" rIns="0" bIns="0" rtlCol="0" anchor="ctr"/>
          <a:lstStyle/>
          <a:p>
            <a:pPr algn="ctr" indent="0" marL="0">
              <a:buNone/>
            </a:pPr>
            <a:r>
              <a:rPr lang="en-US" sz="2600" b="1" dirty="0">
                <a:solidFill>
                  <a:srgbClr val="0F2A25"/>
                </a:solidFill>
                <a:latin typeface="Cambria" pitchFamily="34" charset="0"/>
                <a:ea typeface="Cambria" pitchFamily="34" charset="-122"/>
                <a:cs typeface="Cambria" pitchFamily="34" charset="-120"/>
              </a:rPr>
              <a:t>2</a:t>
            </a:r>
            <a:endParaRPr lang="en-US" sz="2600" dirty="0"/>
          </a:p>
        </p:txBody>
      </p:sp>
      <p:sp>
        <p:nvSpPr>
          <p:cNvPr id="4" name="Text 2"/>
          <p:cNvSpPr txBox="1"/>
          <p:nvPr/>
        </p:nvSpPr>
        <p:spPr>
          <a:xfrm>
            <a:off x="1645920" y="1645920"/>
            <a:ext cx="7315200" cy="41148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RESUMEN DEL MÓDULO 2</a:t>
            </a:r>
            <a:endParaRPr lang="en-US" sz="1400" dirty="0"/>
          </a:p>
        </p:txBody>
      </p:sp>
      <p:sp>
        <p:nvSpPr>
          <p:cNvPr id="5" name="Text 3"/>
          <p:cNvSpPr txBox="1"/>
          <p:nvPr/>
        </p:nvSpPr>
        <p:spPr>
          <a:xfrm>
            <a:off x="548640" y="2560320"/>
            <a:ext cx="10637215" cy="21945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Instala con los paquetes oficiales, configura con mongod.conf y actualiza siempre en dos fases: primero los binarios, y solo cuando todo funciona, la FCV.</a:t>
            </a:r>
            <a:endParaRPr lang="en-US" sz="3200" dirty="0"/>
          </a:p>
        </p:txBody>
      </p:sp>
      <p:sp>
        <p:nvSpPr>
          <p:cNvPr id="6" name="Text 4"/>
          <p:cNvSpPr txBox="1"/>
          <p:nvPr/>
        </p:nvSpPr>
        <p:spPr>
          <a:xfrm>
            <a:off x="548640" y="4846320"/>
            <a:ext cx="10637215" cy="914400"/>
          </a:xfrm>
          <a:prstGeom prst="rect">
            <a:avLst/>
          </a:prstGeom>
          <a:noFill/>
          <a:ln/>
        </p:spPr>
        <p:txBody>
          <a:bodyPr wrap="square" lIns="0" tIns="0" rIns="0" bIns="0" rtlCol="0" anchor="t"/>
          <a:lstStyle/>
          <a:p>
            <a:pPr indent="0" marL="0">
              <a:buNone/>
            </a:pPr>
            <a:r>
              <a:rPr lang="en-US" sz="1700" dirty="0">
                <a:solidFill>
                  <a:srgbClr val="CFE3D8"/>
                </a:solidFill>
                <a:latin typeface="Calibri" pitchFamily="34" charset="0"/>
                <a:ea typeface="Calibri" pitchFamily="34" charset="-122"/>
                <a:cs typeface="Calibri" pitchFamily="34" charset="-120"/>
              </a:rPr>
              <a:t>Descanso de 15 minutos. Al volver: memoria, almacenamiento y sistema operativo.</a:t>
            </a:r>
            <a:endParaRPr lang="en-US" sz="17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22 / 38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Memoria, almacenamiento y sistema operativo</a:t>
            </a:r>
            <a:endParaRPr lang="en-US" sz="3600" dirty="0"/>
          </a:p>
        </p:txBody>
      </p:sp>
      <p:sp>
        <p:nvSpPr>
          <p:cNvPr id="6" name="Text 4"/>
          <p:cNvSpPr txBox="1"/>
          <p:nvPr/>
        </p:nvSpPr>
        <p:spPr>
          <a:xfrm>
            <a:off x="2377440" y="32004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Donde se decide buena parte del rendimiento de una instancia</a:t>
            </a:r>
            <a:endParaRPr lang="en-US" sz="1800" dirty="0"/>
          </a:p>
        </p:txBody>
      </p:sp>
      <p:sp>
        <p:nvSpPr>
          <p:cNvPr id="7" name="Shape 5"/>
          <p:cNvSpPr/>
          <p:nvPr/>
        </p:nvSpPr>
        <p:spPr>
          <a:xfrm>
            <a:off x="2377440" y="406908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WiredTiger por dentro</a:t>
            </a:r>
            <a:endParaRPr lang="en-US" sz="1600" dirty="0"/>
          </a:p>
        </p:txBody>
      </p:sp>
      <p:sp>
        <p:nvSpPr>
          <p:cNvPr id="9" name="Shape 7"/>
          <p:cNvSpPr/>
          <p:nvPr/>
        </p:nvSpPr>
        <p:spPr>
          <a:xfrm>
            <a:off x="5557418" y="406908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Uso de memoria y caché</a:t>
            </a:r>
            <a:endParaRPr lang="en-US" sz="1600" dirty="0"/>
          </a:p>
        </p:txBody>
      </p:sp>
      <p:sp>
        <p:nvSpPr>
          <p:cNvPr id="11" name="Shape 9"/>
          <p:cNvSpPr/>
          <p:nvPr/>
        </p:nvSpPr>
        <p:spPr>
          <a:xfrm>
            <a:off x="8737397" y="406908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Motores de almacenamiento</a:t>
            </a:r>
            <a:endParaRPr lang="en-US" sz="1600" dirty="0"/>
          </a:p>
        </p:txBody>
      </p:sp>
      <p:sp>
        <p:nvSpPr>
          <p:cNvPr id="13" name="Shape 11"/>
          <p:cNvSpPr/>
          <p:nvPr/>
        </p:nvSpPr>
        <p:spPr>
          <a:xfrm>
            <a:off x="2377440" y="498348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Compresión</a:t>
            </a:r>
            <a:endParaRPr lang="en-US" sz="1600" dirty="0"/>
          </a:p>
        </p:txBody>
      </p:sp>
      <p:sp>
        <p:nvSpPr>
          <p:cNvPr id="15" name="Shape 13"/>
          <p:cNvSpPr/>
          <p:nvPr/>
        </p:nvSpPr>
        <p:spPr>
          <a:xfrm>
            <a:off x="5557418" y="498348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Sistemas de ficheros y discos</a:t>
            </a:r>
            <a:endParaRPr lang="en-US" sz="1600" dirty="0"/>
          </a:p>
        </p:txBody>
      </p:sp>
      <p:sp>
        <p:nvSpPr>
          <p:cNvPr id="17" name="Shape 15"/>
          <p:cNvSpPr/>
          <p:nvPr/>
        </p:nvSpPr>
        <p:spPr>
          <a:xfrm>
            <a:off x="8737397" y="498348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Ajustes del sistema operativo</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23 / 38</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WiredTiger por dentro</a:t>
            </a:r>
            <a:endParaRPr lang="en-US" sz="3200" dirty="0"/>
          </a:p>
        </p:txBody>
      </p:sp>
      <p:sp>
        <p:nvSpPr>
          <p:cNvPr id="3" name="Shape 1"/>
          <p:cNvSpPr/>
          <p:nvPr/>
        </p:nvSpPr>
        <p:spPr>
          <a:xfrm>
            <a:off x="548640"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F2B33D"/>
          </a:solidFill>
          <a:ln w="12700">
            <a:solidFill>
              <a:srgbClr val="F2B33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C</a:t>
            </a:r>
            <a:endParaRPr lang="en-US" sz="1500" dirty="0"/>
          </a:p>
        </p:txBody>
      </p:sp>
      <p:sp>
        <p:nvSpPr>
          <p:cNvPr id="6" name="Text 4"/>
          <p:cNvSpPr txBox="1"/>
          <p:nvPr/>
        </p:nvSpPr>
        <p:spPr>
          <a:xfrm>
            <a:off x="1417320"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Caché interna</a:t>
            </a:r>
            <a:endParaRPr lang="en-US" sz="1800" dirty="0"/>
          </a:p>
        </p:txBody>
      </p:sp>
      <p:sp>
        <p:nvSpPr>
          <p:cNvPr id="7" name="Text 5"/>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Datos e índices descomprimidos en memoria. Las lecturas y escrituras trabajan contra la caché, no contra el disco.</a:t>
            </a:r>
            <a:endParaRPr lang="en-US" sz="1500" dirty="0"/>
          </a:p>
        </p:txBody>
      </p:sp>
      <p:sp>
        <p:nvSpPr>
          <p:cNvPr id="8" name="Shape 6"/>
          <p:cNvSpPr/>
          <p:nvPr/>
        </p:nvSpPr>
        <p:spPr>
          <a:xfrm>
            <a:off x="4338218"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66818"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456681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1" name="Text 9"/>
          <p:cNvSpPr txBox="1"/>
          <p:nvPr/>
        </p:nvSpPr>
        <p:spPr>
          <a:xfrm>
            <a:off x="5206898"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Concurrencia por documento</a:t>
            </a:r>
            <a:endParaRPr lang="en-US" sz="1800" dirty="0"/>
          </a:p>
        </p:txBody>
      </p:sp>
      <p:sp>
        <p:nvSpPr>
          <p:cNvPr id="12" name="Text 10"/>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Control optimista (MVCC): dos operaciones solo chocan si tocan el mismo documento. Un conflicto se reintenta de forma transparente.</a:t>
            </a:r>
            <a:endParaRPr lang="en-US" sz="1500" dirty="0"/>
          </a:p>
        </p:txBody>
      </p:sp>
      <p:sp>
        <p:nvSpPr>
          <p:cNvPr id="13" name="Shape 11"/>
          <p:cNvSpPr/>
          <p:nvPr/>
        </p:nvSpPr>
        <p:spPr>
          <a:xfrm>
            <a:off x="8127797"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356397" y="1737360"/>
            <a:ext cx="502920" cy="502920"/>
          </a:xfrm>
          <a:prstGeom prst="ellipse">
            <a:avLst/>
          </a:prstGeom>
          <a:solidFill>
            <a:srgbClr val="1F7A4D"/>
          </a:solidFill>
          <a:ln w="12700">
            <a:solidFill>
              <a:srgbClr val="1F7A4D"/>
            </a:solidFill>
            <a:prstDash val="solid"/>
          </a:ln>
        </p:spPr>
      </p:sp>
      <p:sp>
        <p:nvSpPr>
          <p:cNvPr id="15" name="Text 13"/>
          <p:cNvSpPr txBox="1"/>
          <p:nvPr/>
        </p:nvSpPr>
        <p:spPr>
          <a:xfrm>
            <a:off x="8356397"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K</a:t>
            </a:r>
            <a:endParaRPr lang="en-US" sz="1500" dirty="0"/>
          </a:p>
        </p:txBody>
      </p:sp>
      <p:sp>
        <p:nvSpPr>
          <p:cNvPr id="16" name="Text 14"/>
          <p:cNvSpPr txBox="1"/>
          <p:nvPr/>
        </p:nvSpPr>
        <p:spPr>
          <a:xfrm>
            <a:off x="8996477"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Checkpoints</a:t>
            </a:r>
            <a:endParaRPr lang="en-US" sz="1800" dirty="0"/>
          </a:p>
        </p:txBody>
      </p:sp>
      <p:sp>
        <p:nvSpPr>
          <p:cNvPr id="17" name="Text 15"/>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Cada 60 segundos, WiredTiger escribe en disco una imagen coherente de los datos. Es el punto de partida de la recuperación.</a:t>
            </a:r>
            <a:endParaRPr lang="en-US" sz="1500" dirty="0"/>
          </a:p>
        </p:txBody>
      </p:sp>
      <p:sp>
        <p:nvSpPr>
          <p:cNvPr id="18" name="Shape 16"/>
          <p:cNvSpPr/>
          <p:nvPr/>
        </p:nvSpPr>
        <p:spPr>
          <a:xfrm>
            <a:off x="548640"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777240" y="420624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J</a:t>
            </a:r>
            <a:endParaRPr lang="en-US" sz="1500" dirty="0"/>
          </a:p>
        </p:txBody>
      </p:sp>
      <p:sp>
        <p:nvSpPr>
          <p:cNvPr id="21" name="Text 19"/>
          <p:cNvSpPr txBox="1"/>
          <p:nvPr/>
        </p:nvSpPr>
        <p:spPr>
          <a:xfrm>
            <a:off x="1417320"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Journal</a:t>
            </a:r>
            <a:endParaRPr lang="en-US" sz="1800" dirty="0"/>
          </a:p>
        </p:txBody>
      </p:sp>
      <p:sp>
        <p:nvSpPr>
          <p:cNvPr id="22" name="Text 20"/>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Registro de escritura anticipada: cada cambio se anota antes de confirmarse. Tras un corte, se reaplica desde el último checkpoint.</a:t>
            </a:r>
            <a:endParaRPr lang="en-US" sz="1500" dirty="0"/>
          </a:p>
        </p:txBody>
      </p:sp>
      <p:sp>
        <p:nvSpPr>
          <p:cNvPr id="23" name="Shape 21"/>
          <p:cNvSpPr/>
          <p:nvPr/>
        </p:nvSpPr>
        <p:spPr>
          <a:xfrm>
            <a:off x="4338218"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4206240"/>
            <a:ext cx="502920" cy="502920"/>
          </a:xfrm>
          <a:prstGeom prst="ellipse">
            <a:avLst/>
          </a:prstGeom>
          <a:solidFill>
            <a:srgbClr val="1F7A4D"/>
          </a:solidFill>
          <a:ln w="12700">
            <a:solidFill>
              <a:srgbClr val="1F7A4D"/>
            </a:solidFill>
            <a:prstDash val="solid"/>
          </a:ln>
        </p:spPr>
      </p:sp>
      <p:sp>
        <p:nvSpPr>
          <p:cNvPr id="25" name="Text 23"/>
          <p:cNvSpPr txBox="1"/>
          <p:nvPr/>
        </p:nvSpPr>
        <p:spPr>
          <a:xfrm>
            <a:off x="456681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Z</a:t>
            </a:r>
            <a:endParaRPr lang="en-US" sz="1500" dirty="0"/>
          </a:p>
        </p:txBody>
      </p:sp>
      <p:sp>
        <p:nvSpPr>
          <p:cNvPr id="26" name="Text 24"/>
          <p:cNvSpPr txBox="1"/>
          <p:nvPr/>
        </p:nvSpPr>
        <p:spPr>
          <a:xfrm>
            <a:off x="5206898"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Compresión</a:t>
            </a:r>
            <a:endParaRPr lang="en-US" sz="1800" dirty="0"/>
          </a:p>
        </p:txBody>
      </p:sp>
      <p:sp>
        <p:nvSpPr>
          <p:cNvPr id="27" name="Text 25"/>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Datos comprimidos en disco (snappy por defecto) e índices con compresión de prefijos. En memoria, los datos están descomprimidos.</a:t>
            </a:r>
            <a:endParaRPr lang="en-US" sz="1500" dirty="0"/>
          </a:p>
        </p:txBody>
      </p:sp>
      <p:sp>
        <p:nvSpPr>
          <p:cNvPr id="28" name="Shape 26"/>
          <p:cNvSpPr/>
          <p:nvPr/>
        </p:nvSpPr>
        <p:spPr>
          <a:xfrm>
            <a:off x="8127797"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8356397" y="4206240"/>
            <a:ext cx="502920" cy="502920"/>
          </a:xfrm>
          <a:prstGeom prst="ellipse">
            <a:avLst/>
          </a:prstGeom>
          <a:solidFill>
            <a:srgbClr val="1F7A4D"/>
          </a:solidFill>
          <a:ln w="12700">
            <a:solidFill>
              <a:srgbClr val="1F7A4D"/>
            </a:solidFill>
            <a:prstDash val="solid"/>
          </a:ln>
        </p:spPr>
      </p:sp>
      <p:sp>
        <p:nvSpPr>
          <p:cNvPr id="30" name="Text 28"/>
          <p:cNvSpPr txBox="1"/>
          <p:nvPr/>
        </p:nvSpPr>
        <p:spPr>
          <a:xfrm>
            <a:off x="8356397"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a:t>
            </a:r>
            <a:endParaRPr lang="en-US" sz="1500" dirty="0"/>
          </a:p>
        </p:txBody>
      </p:sp>
      <p:sp>
        <p:nvSpPr>
          <p:cNvPr id="31" name="Text 29"/>
          <p:cNvSpPr txBox="1"/>
          <p:nvPr/>
        </p:nvSpPr>
        <p:spPr>
          <a:xfrm>
            <a:off x="8996477"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Tickets</a:t>
            </a:r>
            <a:endParaRPr lang="en-US" sz="1800" dirty="0"/>
          </a:p>
        </p:txBody>
      </p:sp>
      <p:sp>
        <p:nvSpPr>
          <p:cNvPr id="32" name="Text 30"/>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Número de operaciones concurrentes de lectura y escritura admitidas en el motor. Desde 7.0 se ajustan de forma dinámica.</a:t>
            </a:r>
            <a:endParaRPr lang="en-US" sz="1500" dirty="0"/>
          </a:p>
        </p:txBody>
      </p:sp>
      <p:sp>
        <p:nvSpPr>
          <p:cNvPr id="33"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34" name="Text 3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24 / 38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¿Cuánta memoria usa la caché de WiredTiger?</a:t>
            </a:r>
            <a:endParaRPr lang="en-US" sz="3200" dirty="0"/>
          </a:p>
        </p:txBody>
      </p:sp>
      <p:sp>
        <p:nvSpPr>
          <p:cNvPr id="3" name="Shape 1"/>
          <p:cNvSpPr/>
          <p:nvPr/>
        </p:nvSpPr>
        <p:spPr>
          <a:xfrm>
            <a:off x="548640" y="1554480"/>
            <a:ext cx="3515258" cy="2103120"/>
          </a:xfrm>
          <a:prstGeom prst="roundRect">
            <a:avLst>
              <a:gd name="adj" fmla="val 5217"/>
            </a:avLst>
          </a:prstGeom>
          <a:solidFill>
            <a:srgbClr val="0F2A25"/>
          </a:solidFill>
          <a:ln w="12700">
            <a:solidFill>
              <a:srgbClr val="0F2A25"/>
            </a:solidFill>
            <a:prstDash val="solid"/>
          </a:ln>
        </p:spPr>
      </p:sp>
      <p:sp>
        <p:nvSpPr>
          <p:cNvPr id="4" name="Text 2"/>
          <p:cNvSpPr txBox="1"/>
          <p:nvPr/>
        </p:nvSpPr>
        <p:spPr>
          <a:xfrm>
            <a:off x="731520" y="1783080"/>
            <a:ext cx="3149498" cy="1005840"/>
          </a:xfrm>
          <a:prstGeom prst="rect">
            <a:avLst/>
          </a:prstGeom>
          <a:noFill/>
          <a:ln/>
        </p:spPr>
        <p:txBody>
          <a:bodyPr wrap="square" lIns="0" tIns="0" rIns="0" bIns="0" rtlCol="0" anchor="ctr"/>
          <a:lstStyle/>
          <a:p>
            <a:pPr indent="0" marL="0">
              <a:buNone/>
            </a:pPr>
            <a:r>
              <a:rPr lang="en-US" sz="4400" b="1" dirty="0">
                <a:solidFill>
                  <a:srgbClr val="F2B33D"/>
                </a:solidFill>
                <a:latin typeface="Cambria" pitchFamily="34" charset="0"/>
                <a:ea typeface="Cambria" pitchFamily="34" charset="-122"/>
                <a:cs typeface="Cambria" pitchFamily="34" charset="-120"/>
              </a:rPr>
              <a:t>50 %</a:t>
            </a:r>
            <a:endParaRPr lang="en-US" sz="4400" dirty="0"/>
          </a:p>
        </p:txBody>
      </p:sp>
      <p:sp>
        <p:nvSpPr>
          <p:cNvPr id="5" name="Text 3"/>
          <p:cNvSpPr txBox="1"/>
          <p:nvPr/>
        </p:nvSpPr>
        <p:spPr>
          <a:xfrm>
            <a:off x="731520" y="2788920"/>
            <a:ext cx="3149498" cy="7772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 (RAM − 1 GB): tamaño por defecto de la caché</a:t>
            </a:r>
            <a:endParaRPr lang="en-US" sz="1400" dirty="0"/>
          </a:p>
        </p:txBody>
      </p:sp>
      <p:sp>
        <p:nvSpPr>
          <p:cNvPr id="6" name="Shape 4"/>
          <p:cNvSpPr/>
          <p:nvPr/>
        </p:nvSpPr>
        <p:spPr>
          <a:xfrm>
            <a:off x="4338218" y="1554480"/>
            <a:ext cx="3515258" cy="2103120"/>
          </a:xfrm>
          <a:prstGeom prst="roundRect">
            <a:avLst>
              <a:gd name="adj" fmla="val 5217"/>
            </a:avLst>
          </a:prstGeom>
          <a:solidFill>
            <a:srgbClr val="E8F3EC"/>
          </a:solidFill>
          <a:ln w="12700">
            <a:solidFill>
              <a:srgbClr val="E8F3EC"/>
            </a:solidFill>
            <a:prstDash val="solid"/>
          </a:ln>
        </p:spPr>
      </p:sp>
      <p:sp>
        <p:nvSpPr>
          <p:cNvPr id="7" name="Text 5"/>
          <p:cNvSpPr txBox="1"/>
          <p:nvPr/>
        </p:nvSpPr>
        <p:spPr>
          <a:xfrm>
            <a:off x="4521098"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256 MB</a:t>
            </a:r>
            <a:endParaRPr lang="en-US" sz="4400" dirty="0"/>
          </a:p>
        </p:txBody>
      </p:sp>
      <p:sp>
        <p:nvSpPr>
          <p:cNvPr id="8" name="Text 6"/>
          <p:cNvSpPr txBox="1"/>
          <p:nvPr/>
        </p:nvSpPr>
        <p:spPr>
          <a:xfrm>
            <a:off x="4521098"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Tamaño mínimo por defecto</a:t>
            </a:r>
            <a:endParaRPr lang="en-US" sz="1400" dirty="0"/>
          </a:p>
        </p:txBody>
      </p:sp>
      <p:sp>
        <p:nvSpPr>
          <p:cNvPr id="9" name="Shape 7"/>
          <p:cNvSpPr/>
          <p:nvPr/>
        </p:nvSpPr>
        <p:spPr>
          <a:xfrm>
            <a:off x="8127797" y="1554480"/>
            <a:ext cx="3515258" cy="2103120"/>
          </a:xfrm>
          <a:prstGeom prst="roundRect">
            <a:avLst>
              <a:gd name="adj" fmla="val 5217"/>
            </a:avLst>
          </a:prstGeom>
          <a:solidFill>
            <a:srgbClr val="E8F3EC"/>
          </a:solidFill>
          <a:ln w="12700">
            <a:solidFill>
              <a:srgbClr val="E8F3EC"/>
            </a:solidFill>
            <a:prstDash val="solid"/>
          </a:ln>
        </p:spPr>
      </p:sp>
      <p:sp>
        <p:nvSpPr>
          <p:cNvPr id="10" name="Text 8"/>
          <p:cNvSpPr txBox="1"/>
          <p:nvPr/>
        </p:nvSpPr>
        <p:spPr>
          <a:xfrm>
            <a:off x="8310677"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cgroups</a:t>
            </a:r>
            <a:endParaRPr lang="en-US" sz="4400" dirty="0"/>
          </a:p>
        </p:txBody>
      </p:sp>
      <p:sp>
        <p:nvSpPr>
          <p:cNvPr id="11" name="Text 9"/>
          <p:cNvSpPr txBox="1"/>
          <p:nvPr/>
        </p:nvSpPr>
        <p:spPr>
          <a:xfrm>
            <a:off x="8310677"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En contenedores, MongoDB usa el límite de memoria del contenedor</a:t>
            </a:r>
            <a:endParaRPr lang="en-US" sz="1400" dirty="0"/>
          </a:p>
        </p:txBody>
      </p:sp>
      <p:sp>
        <p:nvSpPr>
          <p:cNvPr id="12" name="Text 10"/>
          <p:cNvSpPr txBox="1"/>
          <p:nvPr/>
        </p:nvSpPr>
        <p:spPr>
          <a:xfrm>
            <a:off x="548640" y="3931920"/>
            <a:ext cx="11094415" cy="2194560"/>
          </a:xfrm>
          <a:prstGeom prst="rect">
            <a:avLst/>
          </a:prstGeom>
          <a:noFill/>
          <a:ln/>
        </p:spPr>
        <p:txBody>
          <a:bodyPr wrap="square" lIns="0" tIns="0" rIns="0" bIns="0" rtlCol="0" anchor="t"/>
          <a:lstStyle/>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Ejemplo: servidor de 64 GB → caché de </a:t>
            </a:r>
            <a:r>
              <a:rPr lang="en-US" sz="1800" b="1" dirty="0">
                <a:solidFill>
                  <a:srgbClr val="1C2B27"/>
                </a:solidFill>
                <a:latin typeface="Calibri" pitchFamily="34" charset="0"/>
                <a:ea typeface="Calibri" pitchFamily="34" charset="-122"/>
                <a:cs typeface="Calibri" pitchFamily="34" charset="-120"/>
              </a:rPr>
              <a:t>31,5 GB</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El resto de la RAM no sobra: lo usan </a:t>
            </a:r>
            <a:r>
              <a:rPr lang="en-US" sz="1800" b="1" dirty="0">
                <a:solidFill>
                  <a:srgbClr val="1C2B27"/>
                </a:solidFill>
                <a:latin typeface="Calibri" pitchFamily="34" charset="0"/>
                <a:ea typeface="Calibri" pitchFamily="34" charset="-122"/>
                <a:cs typeface="Calibri" pitchFamily="34" charset="-120"/>
              </a:rPr>
              <a:t>el propio proceso</a:t>
            </a:r>
            <a:r>
              <a:rPr lang="en-US" sz="1800" dirty="0">
                <a:solidFill>
                  <a:srgbClr val="1C2B27"/>
                </a:solidFill>
                <a:latin typeface="Calibri" pitchFamily="34" charset="0"/>
                <a:ea typeface="Calibri" pitchFamily="34" charset="-122"/>
                <a:cs typeface="Calibri" pitchFamily="34" charset="-120"/>
              </a:rPr>
              <a:t> y la </a:t>
            </a:r>
            <a:r>
              <a:rPr lang="en-US" sz="1800" b="1" dirty="0">
                <a:solidFill>
                  <a:srgbClr val="1C2B27"/>
                </a:solidFill>
                <a:latin typeface="Calibri" pitchFamily="34" charset="0"/>
                <a:ea typeface="Calibri" pitchFamily="34" charset="-122"/>
                <a:cs typeface="Calibri" pitchFamily="34" charset="-120"/>
              </a:rPr>
              <a:t>caché de ficheros del SO</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Varias instancias por máquina o contenedores: fijad </a:t>
            </a:r>
            <a:r>
              <a:rPr lang="en-US" sz="1800" b="1" dirty="0">
                <a:solidFill>
                  <a:srgbClr val="1C2B27"/>
                </a:solidFill>
                <a:latin typeface="Calibri" pitchFamily="34" charset="0"/>
                <a:ea typeface="Calibri" pitchFamily="34" charset="-122"/>
                <a:cs typeface="Calibri" pitchFamily="34" charset="-120"/>
              </a:rPr>
              <a:t>storage.wiredTiger.engineConfig.cacheSizeGB</a:t>
            </a:r>
            <a:endParaRPr lang="en-US" sz="1800" dirty="0"/>
          </a:p>
        </p:txBody>
      </p:sp>
      <p:sp>
        <p:nvSpPr>
          <p:cNvPr id="13" name="Text 1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4" name="Text 1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25 / 38</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¿Qué más consume memoria?</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Conexiones</a:t>
            </a:r>
            <a:r>
              <a:rPr lang="en-US" sz="2000" dirty="0">
                <a:solidFill>
                  <a:srgbClr val="1C2B27"/>
                </a:solidFill>
                <a:latin typeface="Calibri" pitchFamily="34" charset="0"/>
                <a:ea typeface="Calibri" pitchFamily="34" charset="-122"/>
                <a:cs typeface="Calibri" pitchFamily="34" charset="-120"/>
              </a:rPr>
              <a:t>: alrededor de 1 MB por conexión; miles de conexiones son gigas</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Ordenaciones y agregaciones</a:t>
            </a:r>
            <a:r>
              <a:rPr lang="en-US" sz="2000" dirty="0">
                <a:solidFill>
                  <a:srgbClr val="1C2B27"/>
                </a:solidFill>
                <a:latin typeface="Calibri" pitchFamily="34" charset="0"/>
                <a:ea typeface="Calibri" pitchFamily="34" charset="-122"/>
                <a:cs typeface="Calibri" pitchFamily="34" charset="-120"/>
              </a:rPr>
              <a:t> en memoria (límite de 100 MB por etapa, o a disco con allowDiskUse)</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Construcción de índices</a:t>
            </a:r>
            <a:r>
              <a:rPr lang="en-US" sz="2000" dirty="0">
                <a:solidFill>
                  <a:srgbClr val="1C2B27"/>
                </a:solidFill>
                <a:latin typeface="Calibri" pitchFamily="34" charset="0"/>
                <a:ea typeface="Calibri" pitchFamily="34" charset="-122"/>
                <a:cs typeface="Calibri" pitchFamily="34" charset="-120"/>
              </a:rPr>
              <a:t> (maxIndexBuildMemoryUsageMegabytes, 200 MB por defecto)</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Fragmentación</a:t>
            </a:r>
            <a:r>
              <a:rPr lang="en-US" sz="2000" dirty="0">
                <a:solidFill>
                  <a:srgbClr val="1C2B27"/>
                </a:solidFill>
                <a:latin typeface="Calibri" pitchFamily="34" charset="0"/>
                <a:ea typeface="Calibri" pitchFamily="34" charset="-122"/>
                <a:cs typeface="Calibri" pitchFamily="34" charset="-120"/>
              </a:rPr>
              <a:t> del asignador de memoria (TCMalloc)</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Caché de ficheros del SO</a:t>
            </a:r>
            <a:r>
              <a:rPr lang="en-US" sz="2000" dirty="0">
                <a:solidFill>
                  <a:srgbClr val="1C2B27"/>
                </a:solidFill>
                <a:latin typeface="Calibri" pitchFamily="34" charset="0"/>
                <a:ea typeface="Calibri" pitchFamily="34" charset="-122"/>
                <a:cs typeface="Calibri" pitchFamily="34" charset="-120"/>
              </a:rPr>
              <a:t> con los bloques comprimidos</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Qué vigilar</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mem.resident en serverStatus es la memoria física total del proceso. Comparadla con el tamaño de la caché de WiredTiger: si la diferencia crece mucho, buscad conexiones, agregaciones grandes o fragmentación. Y vigilad el swap: un mongod haciendo swap es un mongod lento.</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26 / 38</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Motores de almacenamiento</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3108960"/>
                <a:gridCol w="548640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Motor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Disponible en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WiredTiger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Todas las ediciones (por defecto)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Motor general: compresión, concurrencia por documento, checkpoints y journal</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In-Memory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Enterprise y Percona Server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Datos solo en RAM: latencia mínima y predecible; sin persistencia en disco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MMAPv1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Eliminado en 4.2</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Motor original; aún puede aparecer en migraciones de sistemas muy antiguos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Se elige con storage.engine al crear la instancia; cambiar de motor exige volcar y recargar los datos o resincronizar nodo a nodo.</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27 / 38</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Compresión en WiredTiger</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2194560"/>
                <a:gridCol w="2377440"/>
                <a:gridCol w="420624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Algoritmo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Ratio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CPU</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Cuándo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snappy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Buena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Muy baja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Valor por defecto para colecciones; equilibrio general</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zstd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Muy buena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Moderada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Datos voluminosos donde el disco o la E/S son el cuello de botella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zlib</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Muy buena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Alta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Compatibilidad; hoy suele preferirse zstd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Prefijos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Baja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Índices: activada por defecto, guarda solo la parte que cambia entre claves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Global: storage.wiredTiger.collectionConfig.blockCompressor · Por colección: createCollection con storageEngine.wiredTiger.configString</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28 / 38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Sistemas de ficheros y discos</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Sistema de ficheros recomendado con WiredTiger en Linux: </a:t>
            </a:r>
            <a:r>
              <a:rPr lang="en-US" sz="2000" b="1" dirty="0">
                <a:solidFill>
                  <a:srgbClr val="1C2B27"/>
                </a:solidFill>
                <a:latin typeface="Calibri" pitchFamily="34" charset="0"/>
                <a:ea typeface="Calibri" pitchFamily="34" charset="-122"/>
                <a:cs typeface="Calibri" pitchFamily="34" charset="-120"/>
              </a:rPr>
              <a:t>XFS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Montar con </a:t>
            </a:r>
            <a:r>
              <a:rPr lang="en-US" sz="2000" b="1" dirty="0">
                <a:solidFill>
                  <a:srgbClr val="1C2B27"/>
                </a:solidFill>
                <a:latin typeface="Calibri" pitchFamily="34" charset="0"/>
                <a:ea typeface="Calibri" pitchFamily="34" charset="-122"/>
                <a:cs typeface="Calibri" pitchFamily="34" charset="-120"/>
              </a:rPr>
              <a:t>noatime</a:t>
            </a:r>
            <a:r>
              <a:rPr lang="en-US" sz="2000" dirty="0">
                <a:solidFill>
                  <a:srgbClr val="1C2B27"/>
                </a:solidFill>
                <a:latin typeface="Calibri" pitchFamily="34" charset="0"/>
                <a:ea typeface="Calibri" pitchFamily="34" charset="-122"/>
                <a:cs typeface="Calibri" pitchFamily="34" charset="-120"/>
              </a:rPr>
              <a:t>: evita una escritura por cada lectura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Discos </a:t>
            </a:r>
            <a:r>
              <a:rPr lang="en-US" sz="2000" b="1" dirty="0">
                <a:solidFill>
                  <a:srgbClr val="1C2B27"/>
                </a:solidFill>
                <a:latin typeface="Calibri" pitchFamily="34" charset="0"/>
                <a:ea typeface="Calibri" pitchFamily="34" charset="-122"/>
                <a:cs typeface="Calibri" pitchFamily="34" charset="-120"/>
              </a:rPr>
              <a:t>SSD/NVMe</a:t>
            </a:r>
            <a:r>
              <a:rPr lang="en-US" sz="2000" dirty="0">
                <a:solidFill>
                  <a:srgbClr val="1C2B27"/>
                </a:solidFill>
                <a:latin typeface="Calibri" pitchFamily="34" charset="0"/>
                <a:ea typeface="Calibri" pitchFamily="34" charset="-122"/>
                <a:cs typeface="Calibri" pitchFamily="34" charset="-120"/>
              </a:rPr>
              <a:t>; en la nube, volúmenes con IOPS garantizadas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Datos en </a:t>
            </a:r>
            <a:r>
              <a:rPr lang="en-US" sz="2000" b="1" dirty="0">
                <a:solidFill>
                  <a:srgbClr val="1C2B27"/>
                </a:solidFill>
                <a:latin typeface="Calibri" pitchFamily="34" charset="0"/>
                <a:ea typeface="Calibri" pitchFamily="34" charset="-122"/>
                <a:cs typeface="Calibri" pitchFamily="34" charset="-120"/>
              </a:rPr>
              <a:t>disco dedicado</a:t>
            </a:r>
            <a:r>
              <a:rPr lang="en-US" sz="2000" dirty="0">
                <a:solidFill>
                  <a:srgbClr val="1C2B27"/>
                </a:solidFill>
                <a:latin typeface="Calibri" pitchFamily="34" charset="0"/>
                <a:ea typeface="Calibri" pitchFamily="34" charset="-122"/>
                <a:cs typeface="Calibri" pitchFamily="34" charset="-120"/>
              </a:rPr>
              <a:t>; opcionalmente journal y logs en otro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RAID-10 si hay RAID; evitar RAID-5/6 por la penalización de escritura</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Readahead</a:t>
            </a:r>
            <a:r>
              <a:rPr lang="en-US" sz="2000" dirty="0">
                <a:solidFill>
                  <a:srgbClr val="1C2B27"/>
                </a:solidFill>
                <a:latin typeface="Calibri" pitchFamily="34" charset="0"/>
                <a:ea typeface="Calibri" pitchFamily="34" charset="-122"/>
                <a:cs typeface="Calibri" pitchFamily="34" charset="-120"/>
              </a:rPr>
              <a:t> bajo en el dispositivo de datos (entre 8 y 32 sectores)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Almacenamiento en red (NFS) solo si está soportado y bien configurado</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Snapshots</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Si usáis snapshots de disco como backup, el journal debe estar en el mismo volumen que los datos para que el snapshot sea coherente. Lo retomaremos el día 4.</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29 / 38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Ajustes del sistema operativo (Linux)</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743200"/>
                <a:gridCol w="3291840"/>
                <a:gridCol w="4937760"/>
              </a:tblGrid>
              <a:tr h="554355">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Ajuste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Recomendación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Por qué</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ulimit nofile / nproc</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64000 o más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Cada conexión y cada fichero de datos consume descriptores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vm.swappiness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1 (o entre 1 y 10)</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Evitar que el kernel mande a swap memoria de mongod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Transparent Huge Pages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8.0: habilitar · ≤ 7.0: deshabilitar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Cambio de criterio con el nuevo TCMalloc de 8.0</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NUMA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Interleave o zone_reclaim_mode = 0</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Evitar que un nodo NUMA se quede sin memoria mientras sobra en otro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vm.max_map_count</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Valor alto (según production notes)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WiredTiger usa muchos mapeos de memoria con muchas colecciones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Sincronización horaria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NTP / chrony activo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Replicación, logs y certificados dependen de la hora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Firewall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Solo 27017 desde orígenes autorizados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Reducir la superficie de ataque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30 / 38</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73D35"/>
        </a:solidFill>
      </p:bgPr>
    </p:bg>
    <p:spTree>
      <p:nvGrpSpPr>
        <p:cNvPr id="1" name=""/>
        <p:cNvGrpSpPr/>
        <p:nvPr/>
      </p:nvGrpSpPr>
      <p:grpSpPr>
        <a:xfrm>
          <a:off x="0" y="0"/>
          <a:ext cx="0" cy="0"/>
          <a:chOff x="0" y="0"/>
          <a:chExt cx="0" cy="0"/>
        </a:xfrm>
      </p:grpSpPr>
      <p:sp>
        <p:nvSpPr>
          <p:cNvPr id="2" name="Shape 0"/>
          <p:cNvSpPr/>
          <p:nvPr/>
        </p:nvSpPr>
        <p:spPr>
          <a:xfrm>
            <a:off x="548640" y="1463040"/>
            <a:ext cx="822960" cy="822960"/>
          </a:xfrm>
          <a:prstGeom prst="ellipse">
            <a:avLst/>
          </a:prstGeom>
          <a:solidFill>
            <a:srgbClr val="F2B33D"/>
          </a:solidFill>
          <a:ln w="12700">
            <a:solidFill>
              <a:srgbClr val="F2B33D"/>
            </a:solidFill>
            <a:prstDash val="solid"/>
          </a:ln>
        </p:spPr>
      </p:sp>
      <p:sp>
        <p:nvSpPr>
          <p:cNvPr id="3" name="Text 1"/>
          <p:cNvSpPr txBox="1"/>
          <p:nvPr/>
        </p:nvSpPr>
        <p:spPr>
          <a:xfrm>
            <a:off x="548640" y="1463040"/>
            <a:ext cx="822960" cy="822960"/>
          </a:xfrm>
          <a:prstGeom prst="rect">
            <a:avLst/>
          </a:prstGeom>
          <a:noFill/>
          <a:ln/>
        </p:spPr>
        <p:txBody>
          <a:bodyPr wrap="square" lIns="0" tIns="0" rIns="0" bIns="0" rtlCol="0" anchor="ctr"/>
          <a:lstStyle/>
          <a:p>
            <a:pPr algn="ctr" indent="0" marL="0">
              <a:buNone/>
            </a:pPr>
            <a:r>
              <a:rPr lang="en-US" sz="2600" b="1" dirty="0">
                <a:solidFill>
                  <a:srgbClr val="0F2A25"/>
                </a:solidFill>
                <a:latin typeface="Cambria" pitchFamily="34" charset="0"/>
                <a:ea typeface="Cambria" pitchFamily="34" charset="-122"/>
                <a:cs typeface="Cambria" pitchFamily="34" charset="-120"/>
              </a:rPr>
              <a:t>!</a:t>
            </a:r>
            <a:endParaRPr lang="en-US" sz="2600" dirty="0"/>
          </a:p>
        </p:txBody>
      </p:sp>
      <p:sp>
        <p:nvSpPr>
          <p:cNvPr id="4" name="Text 2"/>
          <p:cNvSpPr txBox="1"/>
          <p:nvPr/>
        </p:nvSpPr>
        <p:spPr>
          <a:xfrm>
            <a:off x="1645920" y="1645920"/>
            <a:ext cx="7315200" cy="41148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OJO CON LOS APUNTES ANTIGUOS</a:t>
            </a:r>
            <a:endParaRPr lang="en-US" sz="1400" dirty="0"/>
          </a:p>
        </p:txBody>
      </p:sp>
      <p:sp>
        <p:nvSpPr>
          <p:cNvPr id="5" name="Text 3"/>
          <p:cNvSpPr txBox="1"/>
          <p:nvPr/>
        </p:nvSpPr>
        <p:spPr>
          <a:xfrm>
            <a:off x="548640" y="2560320"/>
            <a:ext cx="10637215" cy="21945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Transparent Huge Pages: en MongoDB 8.0 se recomienda HABILITARLO. En 7.0 y anteriores, deshabilitarlo.</a:t>
            </a:r>
            <a:endParaRPr lang="en-US" sz="3000" dirty="0"/>
          </a:p>
        </p:txBody>
      </p:sp>
      <p:sp>
        <p:nvSpPr>
          <p:cNvPr id="6" name="Text 4"/>
          <p:cNvSpPr txBox="1"/>
          <p:nvPr/>
        </p:nvSpPr>
        <p:spPr>
          <a:xfrm>
            <a:off x="548640" y="4846320"/>
            <a:ext cx="10637215" cy="914400"/>
          </a:xfrm>
          <a:prstGeom prst="rect">
            <a:avLst/>
          </a:prstGeom>
          <a:noFill/>
          <a:ln/>
        </p:spPr>
        <p:txBody>
          <a:bodyPr wrap="square" lIns="0" tIns="0" rIns="0" bIns="0" rtlCol="0" anchor="t"/>
          <a:lstStyle/>
          <a:p>
            <a:pPr indent="0" marL="0">
              <a:buNone/>
            </a:pPr>
            <a:r>
              <a:rPr lang="en-US" sz="1700" dirty="0">
                <a:solidFill>
                  <a:srgbClr val="CFE3D8"/>
                </a:solidFill>
                <a:latin typeface="Calibri" pitchFamily="34" charset="0"/>
                <a:ea typeface="Calibri" pitchFamily="34" charset="-122"/>
                <a:cs typeface="Calibri" pitchFamily="34" charset="-120"/>
              </a:rPr>
              <a:t>MongoDB 8.0 usa una versión nueva de TCMalloc que aprovecha las páginas grandes. Revisad vuestros playbooks y plantillas de servidor al actualizar.</a:t>
            </a:r>
            <a:endParaRPr lang="en-US" sz="17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31 / 38</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03</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Memoria, WiredTiger y sistema operativo</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Leer las métricas de la caché de WiredTiger en serverStatus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Comparar memoria residente del proceso y tamaño de la caché</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Comparar compresión snappy frente a zstd con los mismos datos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Revisar los startup warnings y los ajustes del SO que ve el contenedor</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20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dia1/lab03-memoria-almacenamiento/README.md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32 / 38</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mongosh y autenticación</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La herramienta de trabajo diaria y la primera línea de defensa</a:t>
            </a:r>
            <a:endParaRPr lang="en-US" sz="1800" dirty="0"/>
          </a:p>
        </p:txBody>
      </p:sp>
      <p:sp>
        <p:nvSpPr>
          <p:cNvPr id="7" name="Shape 5"/>
          <p:cNvSpPr/>
          <p:nvPr/>
        </p:nvSpPr>
        <p:spPr>
          <a:xfrm>
            <a:off x="2377440" y="3749040"/>
            <a:ext cx="2110664"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mongosh para administradores</a:t>
            </a:r>
            <a:endParaRPr lang="en-US" sz="1600" dirty="0"/>
          </a:p>
        </p:txBody>
      </p:sp>
      <p:sp>
        <p:nvSpPr>
          <p:cNvPr id="9" name="Shape 7"/>
          <p:cNvSpPr/>
          <p:nvPr/>
        </p:nvSpPr>
        <p:spPr>
          <a:xfrm>
            <a:off x="4762424" y="3749040"/>
            <a:ext cx="2110664"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4945304"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Autenticación y autorización</a:t>
            </a:r>
            <a:endParaRPr lang="en-US" sz="1600" dirty="0"/>
          </a:p>
        </p:txBody>
      </p:sp>
      <p:sp>
        <p:nvSpPr>
          <p:cNvPr id="11" name="Shape 9"/>
          <p:cNvSpPr/>
          <p:nvPr/>
        </p:nvSpPr>
        <p:spPr>
          <a:xfrm>
            <a:off x="7147408" y="3749040"/>
            <a:ext cx="2110664"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7330288"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 localhost exception</a:t>
            </a:r>
            <a:endParaRPr lang="en-US" sz="1600" dirty="0"/>
          </a:p>
        </p:txBody>
      </p:sp>
      <p:sp>
        <p:nvSpPr>
          <p:cNvPr id="13" name="Shape 11"/>
          <p:cNvSpPr/>
          <p:nvPr/>
        </p:nvSpPr>
        <p:spPr>
          <a:xfrm>
            <a:off x="9532391" y="3749040"/>
            <a:ext cx="2110664"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9715271"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Primer usuario administrador</a:t>
            </a:r>
            <a:endParaRPr lang="en-US" sz="1600" dirty="0"/>
          </a:p>
        </p:txBody>
      </p:sp>
      <p:sp>
        <p:nvSpPr>
          <p:cNvPr id="15" name="Text 1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6" name="Text 14"/>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33 / 38</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mongosh para administradores</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Uso interactivo y no interactivo</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 Conexión con URI (usuario, réplica, base de datos de autenticación)
mongosh "mongodb://admin@mongo1,mongo2,mongo3/?replicaSet=rs0&amp;authSource=admin"
# No interactivo: ideal para scripts, cron y automatización
mongosh "$URI" --quiet --eval "db.serverStatus().connections"
mongosh "$URI" --quiet --json=relaxed --eval "rs.status()"
mongosh "$URI" /scripts/comprobaciones.js
// Dentro de mongosh
db.hello()                    // rol del nodo, primario, miembros
db.serverStatus()             // métricas del servidor
db.currentOp({ active: true })  // operaciones en curso
db.getSiblingDB("tienda").stats({ scale: 1048576 })
config.set("displayBatchSize", 50)
// ~/.mongoshrc.js: funciones y prompt personalizados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mongosh</a:t>
            </a:r>
            <a:r>
              <a:rPr lang="en-US" sz="1600" dirty="0">
                <a:solidFill>
                  <a:srgbClr val="1C2B27"/>
                </a:solidFill>
                <a:latin typeface="Calibri" pitchFamily="34" charset="0"/>
                <a:ea typeface="Calibri" pitchFamily="34" charset="-122"/>
                <a:cs typeface="Calibri" pitchFamily="34" charset="-120"/>
              </a:rPr>
              <a:t> sustituye a la antigua shell </a:t>
            </a:r>
            <a:r>
              <a:rPr lang="en-US" sz="1600" b="1" dirty="0">
                <a:solidFill>
                  <a:srgbClr val="1C2B27"/>
                </a:solidFill>
                <a:latin typeface="Calibri" pitchFamily="34" charset="0"/>
                <a:ea typeface="Calibri" pitchFamily="34" charset="-122"/>
                <a:cs typeface="Calibri" pitchFamily="34" charset="-120"/>
              </a:rPr>
              <a:t>mongo</a:t>
            </a:r>
            <a:r>
              <a:rPr lang="en-US" sz="1600" dirty="0">
                <a:solidFill>
                  <a:srgbClr val="1C2B27"/>
                </a:solidFill>
                <a:latin typeface="Calibri" pitchFamily="34" charset="0"/>
                <a:ea typeface="Calibri" pitchFamily="34" charset="-122"/>
                <a:cs typeface="Calibri" pitchFamily="34" charset="-120"/>
              </a:rPr>
              <a:t> (eliminada en 6.0)</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Motor de Node.js: JavaScript moderno y paquetes npm</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--eval</a:t>
            </a:r>
            <a:r>
              <a:rPr lang="en-US" sz="1600" dirty="0">
                <a:solidFill>
                  <a:srgbClr val="1C2B27"/>
                </a:solidFill>
                <a:latin typeface="Calibri" pitchFamily="34" charset="0"/>
                <a:ea typeface="Calibri" pitchFamily="34" charset="-122"/>
                <a:cs typeface="Calibri" pitchFamily="34" charset="-120"/>
              </a:rPr>
              <a:t> y ficheros .js: base de la automatización</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.mongoshrc.js</a:t>
            </a:r>
            <a:r>
              <a:rPr lang="en-US" sz="1600" dirty="0">
                <a:solidFill>
                  <a:srgbClr val="1C2B27"/>
                </a:solidFill>
                <a:latin typeface="Calibri" pitchFamily="34" charset="0"/>
                <a:ea typeface="Calibri" pitchFamily="34" charset="-122"/>
                <a:cs typeface="Calibri" pitchFamily="34" charset="-120"/>
              </a:rPr>
              <a:t>: vuestras utilidades en cada sesión</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Ayuda contextual con </a:t>
            </a:r>
            <a:r>
              <a:rPr lang="en-US" sz="1600" b="1" dirty="0">
                <a:solidFill>
                  <a:srgbClr val="1C2B27"/>
                </a:solidFill>
                <a:latin typeface="Calibri" pitchFamily="34" charset="0"/>
                <a:ea typeface="Calibri" pitchFamily="34" charset="-122"/>
                <a:cs typeface="Calibri" pitchFamily="34" charset="-120"/>
              </a:rPr>
              <a:t>help</a:t>
            </a:r>
            <a:r>
              <a:rPr lang="en-US" sz="1600" dirty="0">
                <a:solidFill>
                  <a:srgbClr val="1C2B27"/>
                </a:solidFill>
                <a:latin typeface="Calibri" pitchFamily="34" charset="0"/>
                <a:ea typeface="Calibri" pitchFamily="34" charset="-122"/>
                <a:cs typeface="Calibri" pitchFamily="34" charset="-120"/>
              </a:rPr>
              <a:t> y </a:t>
            </a:r>
            <a:r>
              <a:rPr lang="en-US" sz="1600" b="1" dirty="0">
                <a:solidFill>
                  <a:srgbClr val="1C2B27"/>
                </a:solidFill>
                <a:latin typeface="Calibri" pitchFamily="34" charset="0"/>
                <a:ea typeface="Calibri" pitchFamily="34" charset="-122"/>
                <a:cs typeface="Calibri" pitchFamily="34" charset="-120"/>
              </a:rPr>
              <a:t>.help()</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34 / 38</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Autenticación y autorización</a:t>
            </a:r>
            <a:endParaRPr lang="en-US" sz="3200" dirty="0"/>
          </a:p>
        </p:txBody>
      </p:sp>
      <p:sp>
        <p:nvSpPr>
          <p:cNvPr id="3" name="Shape 1"/>
          <p:cNvSpPr/>
          <p:nvPr/>
        </p:nvSpPr>
        <p:spPr>
          <a:xfrm>
            <a:off x="2261197" y="2423160"/>
            <a:ext cx="2007794" cy="0"/>
          </a:xfrm>
          <a:prstGeom prst="line">
            <a:avLst/>
          </a:prstGeom>
          <a:noFill/>
          <a:ln w="31750">
            <a:solidFill>
              <a:srgbClr val="2E9E66"/>
            </a:solidFill>
            <a:prstDash val="solid"/>
            <a:tailEnd type="triangle"/>
          </a:ln>
        </p:spPr>
      </p:sp>
      <p:sp>
        <p:nvSpPr>
          <p:cNvPr id="4" name="Shape 2"/>
          <p:cNvSpPr/>
          <p:nvPr/>
        </p:nvSpPr>
        <p:spPr>
          <a:xfrm>
            <a:off x="1438237"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438237"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Conexión</a:t>
            </a:r>
            <a:endParaRPr lang="en-US" sz="1700" dirty="0"/>
          </a:p>
        </p:txBody>
      </p:sp>
      <p:sp>
        <p:nvSpPr>
          <p:cNvPr id="7" name="Text 5"/>
          <p:cNvSpPr txBox="1"/>
          <p:nvPr/>
        </p:nvSpPr>
        <p:spPr>
          <a:xfrm>
            <a:off x="594360"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cliente abre una conexión. Sin autenticar, casi nada está permitido.</a:t>
            </a:r>
            <a:endParaRPr lang="en-US" sz="1600" dirty="0"/>
          </a:p>
        </p:txBody>
      </p:sp>
      <p:sp>
        <p:nvSpPr>
          <p:cNvPr id="8" name="Shape 6"/>
          <p:cNvSpPr/>
          <p:nvPr/>
        </p:nvSpPr>
        <p:spPr>
          <a:xfrm>
            <a:off x="5091951" y="2423160"/>
            <a:ext cx="2007794" cy="0"/>
          </a:xfrm>
          <a:prstGeom prst="line">
            <a:avLst/>
          </a:prstGeom>
          <a:noFill/>
          <a:ln w="31750">
            <a:solidFill>
              <a:srgbClr val="2E9E66"/>
            </a:solidFill>
            <a:prstDash val="solid"/>
            <a:tailEnd type="triangle"/>
          </a:ln>
        </p:spPr>
      </p:sp>
      <p:sp>
        <p:nvSpPr>
          <p:cNvPr id="9" name="Shape 7"/>
          <p:cNvSpPr/>
          <p:nvPr/>
        </p:nvSpPr>
        <p:spPr>
          <a:xfrm>
            <a:off x="4268991"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426899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3379394"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Autenticación</a:t>
            </a:r>
            <a:endParaRPr lang="en-US" sz="1700" dirty="0"/>
          </a:p>
        </p:txBody>
      </p:sp>
      <p:sp>
        <p:nvSpPr>
          <p:cNvPr id="12" name="Text 10"/>
          <p:cNvSpPr txBox="1"/>
          <p:nvPr/>
        </p:nvSpPr>
        <p:spPr>
          <a:xfrm>
            <a:off x="3425114"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¿Quién eres? SCRAM, x.509, LDAP o Kerberos contra la base de datos de autenticación.</a:t>
            </a:r>
            <a:endParaRPr lang="en-US" sz="1600" dirty="0"/>
          </a:p>
        </p:txBody>
      </p:sp>
      <p:sp>
        <p:nvSpPr>
          <p:cNvPr id="13" name="Shape 11"/>
          <p:cNvSpPr/>
          <p:nvPr/>
        </p:nvSpPr>
        <p:spPr>
          <a:xfrm>
            <a:off x="7922705" y="2423160"/>
            <a:ext cx="2007794" cy="0"/>
          </a:xfrm>
          <a:prstGeom prst="line">
            <a:avLst/>
          </a:prstGeom>
          <a:noFill/>
          <a:ln w="31750">
            <a:solidFill>
              <a:srgbClr val="2E9E66"/>
            </a:solidFill>
            <a:prstDash val="solid"/>
            <a:tailEnd type="triangle"/>
          </a:ln>
        </p:spPr>
      </p:sp>
      <p:sp>
        <p:nvSpPr>
          <p:cNvPr id="14" name="Shape 12"/>
          <p:cNvSpPr/>
          <p:nvPr/>
        </p:nvSpPr>
        <p:spPr>
          <a:xfrm>
            <a:off x="7099745"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709974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6210148"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Autorización</a:t>
            </a:r>
            <a:endParaRPr lang="en-US" sz="1700" dirty="0"/>
          </a:p>
        </p:txBody>
      </p:sp>
      <p:sp>
        <p:nvSpPr>
          <p:cNvPr id="17" name="Text 15"/>
          <p:cNvSpPr txBox="1"/>
          <p:nvPr/>
        </p:nvSpPr>
        <p:spPr>
          <a:xfrm>
            <a:off x="6255868"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¿Qué puedes hacer? Roles con privilegios sobre recursos (acciones sobre bases de datos y colecciones).</a:t>
            </a:r>
            <a:endParaRPr lang="en-US" sz="1600" dirty="0"/>
          </a:p>
        </p:txBody>
      </p:sp>
      <p:sp>
        <p:nvSpPr>
          <p:cNvPr id="18" name="Shape 16"/>
          <p:cNvSpPr/>
          <p:nvPr/>
        </p:nvSpPr>
        <p:spPr>
          <a:xfrm>
            <a:off x="9930498" y="2011680"/>
            <a:ext cx="822960" cy="822960"/>
          </a:xfrm>
          <a:prstGeom prst="ellipse">
            <a:avLst/>
          </a:prstGeom>
          <a:solidFill>
            <a:srgbClr val="1F7A4D"/>
          </a:solidFill>
          <a:ln w="12700">
            <a:solidFill>
              <a:srgbClr val="1F7A4D"/>
            </a:solidFill>
            <a:prstDash val="solid"/>
          </a:ln>
        </p:spPr>
      </p:sp>
      <p:sp>
        <p:nvSpPr>
          <p:cNvPr id="19" name="Text 17"/>
          <p:cNvSpPr txBox="1"/>
          <p:nvPr/>
        </p:nvSpPr>
        <p:spPr>
          <a:xfrm>
            <a:off x="993049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8"/>
          <p:cNvSpPr txBox="1"/>
          <p:nvPr/>
        </p:nvSpPr>
        <p:spPr>
          <a:xfrm>
            <a:off x="9040901"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Operación</a:t>
            </a:r>
            <a:endParaRPr lang="en-US" sz="1700" dirty="0"/>
          </a:p>
        </p:txBody>
      </p:sp>
      <p:sp>
        <p:nvSpPr>
          <p:cNvPr id="21" name="Text 19"/>
          <p:cNvSpPr txBox="1"/>
          <p:nvPr/>
        </p:nvSpPr>
        <p:spPr>
          <a:xfrm>
            <a:off x="9086621"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Cada comando se comprueba contra los privilegios del usuario.</a:t>
            </a:r>
            <a:endParaRPr lang="en-US" sz="1600" dirty="0"/>
          </a:p>
        </p:txBody>
      </p:sp>
      <p:sp>
        <p:nvSpPr>
          <p:cNvPr id="22" name="Shape 20"/>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3" name="Text 21"/>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security.authorization: enabled activa ambas. Sin ella, cualquiera que llegue al puerto puede leer, modificar y borrar todo.</a:t>
            </a:r>
            <a:endParaRPr lang="en-US" sz="1400" dirty="0"/>
          </a:p>
        </p:txBody>
      </p:sp>
      <p:sp>
        <p:nvSpPr>
          <p:cNvPr id="24" name="Text 2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25" name="Text 2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35 / 38</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La localhost exception</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 la autorización activada y </a:t>
            </a:r>
            <a:r>
              <a:rPr lang="en-US" sz="2000" b="1" dirty="0">
                <a:solidFill>
                  <a:srgbClr val="1C2B27"/>
                </a:solidFill>
                <a:latin typeface="Calibri" pitchFamily="34" charset="0"/>
                <a:ea typeface="Calibri" pitchFamily="34" charset="-122"/>
                <a:cs typeface="Calibri" pitchFamily="34" charset="-120"/>
              </a:rPr>
              <a:t>ningún usuario creado</a:t>
            </a:r>
            <a:r>
              <a:rPr lang="en-US" sz="2000" dirty="0">
                <a:solidFill>
                  <a:srgbClr val="1C2B27"/>
                </a:solidFill>
                <a:latin typeface="Calibri" pitchFamily="34" charset="0"/>
                <a:ea typeface="Calibri" pitchFamily="34" charset="-122"/>
                <a:cs typeface="Calibri" pitchFamily="34" charset="-120"/>
              </a:rPr>
              <a:t>, MongoDB permite conectarse </a:t>
            </a:r>
            <a:r>
              <a:rPr lang="en-US" sz="2000" b="1" dirty="0">
                <a:solidFill>
                  <a:srgbClr val="1C2B27"/>
                </a:solidFill>
                <a:latin typeface="Calibri" pitchFamily="34" charset="0"/>
                <a:ea typeface="Calibri" pitchFamily="34" charset="-122"/>
                <a:cs typeface="Calibri" pitchFamily="34" charset="-120"/>
              </a:rPr>
              <a:t>desde localhost</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Esa conexión solo sirve para </a:t>
            </a:r>
            <a:r>
              <a:rPr lang="en-US" sz="2000" b="1" dirty="0">
                <a:solidFill>
                  <a:srgbClr val="1C2B27"/>
                </a:solidFill>
                <a:latin typeface="Calibri" pitchFamily="34" charset="0"/>
                <a:ea typeface="Calibri" pitchFamily="34" charset="-122"/>
                <a:cs typeface="Calibri" pitchFamily="34" charset="-120"/>
              </a:rPr>
              <a:t>crear el primer usuario</a:t>
            </a:r>
            <a:r>
              <a:rPr lang="en-US" sz="2000" dirty="0">
                <a:solidFill>
                  <a:srgbClr val="1C2B27"/>
                </a:solidFill>
                <a:latin typeface="Calibri" pitchFamily="34" charset="0"/>
                <a:ea typeface="Calibri" pitchFamily="34" charset="-122"/>
                <a:cs typeface="Calibri" pitchFamily="34" charset="-120"/>
              </a:rPr>
              <a:t> (y operaciones de arranque como rs.initiate)</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En cuanto existe un usuario, la excepción se </a:t>
            </a:r>
            <a:r>
              <a:rPr lang="en-US" sz="2000" b="1" dirty="0">
                <a:solidFill>
                  <a:srgbClr val="1C2B27"/>
                </a:solidFill>
                <a:latin typeface="Calibri" pitchFamily="34" charset="0"/>
                <a:ea typeface="Calibri" pitchFamily="34" charset="-122"/>
                <a:cs typeface="Calibri" pitchFamily="34" charset="-120"/>
              </a:rPr>
              <a:t>cierra automáticamente</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En un replica set: el primer usuario se crea </a:t>
            </a:r>
            <a:r>
              <a:rPr lang="en-US" sz="2000" b="1" dirty="0">
                <a:solidFill>
                  <a:srgbClr val="1C2B27"/>
                </a:solidFill>
                <a:latin typeface="Calibri" pitchFamily="34" charset="0"/>
                <a:ea typeface="Calibri" pitchFamily="34" charset="-122"/>
                <a:cs typeface="Calibri" pitchFamily="34" charset="-120"/>
              </a:rPr>
              <a:t>en el primario</a:t>
            </a:r>
            <a:r>
              <a:rPr lang="en-US" sz="2000" dirty="0">
                <a:solidFill>
                  <a:srgbClr val="1C2B27"/>
                </a:solidFill>
                <a:latin typeface="Calibri" pitchFamily="34" charset="0"/>
                <a:ea typeface="Calibri" pitchFamily="34" charset="-122"/>
                <a:cs typeface="Calibri" pitchFamily="34" charset="-120"/>
              </a:rPr>
              <a:t>, conectándose desde su propia máquina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Buena práctica: primer usuario con </a:t>
            </a:r>
            <a:r>
              <a:rPr lang="en-US" sz="2000" b="1" dirty="0">
                <a:solidFill>
                  <a:srgbClr val="1C2B27"/>
                </a:solidFill>
                <a:latin typeface="Calibri" pitchFamily="34" charset="0"/>
                <a:ea typeface="Calibri" pitchFamily="34" charset="-122"/>
                <a:cs typeface="Calibri" pitchFamily="34" charset="-120"/>
              </a:rPr>
              <a:t>userAdminAnyDatabase</a:t>
            </a:r>
            <a:r>
              <a:rPr lang="en-US" sz="2000" dirty="0">
                <a:solidFill>
                  <a:srgbClr val="1C2B27"/>
                </a:solidFill>
                <a:latin typeface="Calibri" pitchFamily="34" charset="0"/>
                <a:ea typeface="Calibri" pitchFamily="34" charset="-122"/>
                <a:cs typeface="Calibri" pitchFamily="34" charset="-120"/>
              </a:rPr>
              <a:t> o </a:t>
            </a:r>
            <a:r>
              <a:rPr lang="en-US" sz="2000" b="1" dirty="0">
                <a:solidFill>
                  <a:srgbClr val="1C2B27"/>
                </a:solidFill>
                <a:latin typeface="Calibri" pitchFamily="34" charset="0"/>
                <a:ea typeface="Calibri" pitchFamily="34" charset="-122"/>
                <a:cs typeface="Calibri" pitchFamily="34" charset="-120"/>
              </a:rPr>
              <a:t>root</a:t>
            </a:r>
            <a:r>
              <a:rPr lang="en-US" sz="2000" dirty="0">
                <a:solidFill>
                  <a:srgbClr val="1C2B27"/>
                </a:solidFill>
                <a:latin typeface="Calibri" pitchFamily="34" charset="0"/>
                <a:ea typeface="Calibri" pitchFamily="34" charset="-122"/>
                <a:cs typeface="Calibri" pitchFamily="34" charset="-120"/>
              </a:rPr>
              <a:t>, y después usuarios nominales con mínimo privilegio</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Orden recomendado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1. Activar authorization (o keyFile) en la configuración.</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2. Arrancar.</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3. Conectarse desde localhost y crear el administrador.</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4. Desde ese momento, trabajar siempre autenticado.</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36 / 38</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04</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mongosh y activación de la autenticación</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Usar mongosh de forma no interactiva con --eval y --json</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Personalizar la shell con .mongoshrc.js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Activar security.authorization en mongod.conf</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el primer administrador con la localhost exception</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un usuario de aplicación y comprobar sus límites</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dia1/lab04-shell-autenticacion/README.md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37 / 38</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Resumen del día 1</a:t>
            </a:r>
            <a:endParaRPr lang="en-US" sz="3600" dirty="0"/>
          </a:p>
        </p:txBody>
      </p:sp>
      <p:sp>
        <p:nvSpPr>
          <p:cNvPr id="3" name="Shape 1"/>
          <p:cNvSpPr/>
          <p:nvPr/>
        </p:nvSpPr>
        <p:spPr>
          <a:xfrm>
            <a:off x="548640" y="1554480"/>
            <a:ext cx="5364328" cy="4389120"/>
          </a:xfrm>
          <a:prstGeom prst="roundRect">
            <a:avLst>
              <a:gd name="adj" fmla="val 2500"/>
            </a:avLst>
          </a:prstGeom>
          <a:solidFill>
            <a:srgbClr val="173D35"/>
          </a:solidFill>
          <a:ln w="12700">
            <a:solidFill>
              <a:srgbClr val="173D35"/>
            </a:solidFill>
            <a:prstDash val="solid"/>
          </a:ln>
        </p:spPr>
      </p:sp>
      <p:sp>
        <p:nvSpPr>
          <p:cNvPr id="4" name="Text 2"/>
          <p:cNvSpPr txBox="1"/>
          <p:nvPr/>
        </p:nvSpPr>
        <p:spPr>
          <a:xfrm>
            <a:off x="868680"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Hoy hemos visto</a:t>
            </a:r>
            <a:endParaRPr lang="en-US" sz="2000" dirty="0"/>
          </a:p>
        </p:txBody>
      </p:sp>
      <p:sp>
        <p:nvSpPr>
          <p:cNvPr id="5" name="Text 3"/>
          <p:cNvSpPr txBox="1"/>
          <p:nvPr/>
        </p:nvSpPr>
        <p:spPr>
          <a:xfrm>
            <a:off x="868680"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Modelo documental, BSON y topologías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Instalación, mongod.conf y servicio del sistema</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Actualización en dos fases: binarios y FCV</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WiredTiger: caché, checkpoints, journal y compresión</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Ajustes de disco y de sistema operativo (THP cambia en 8.0)</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mongosh y activación de la autenticación</a:t>
            </a:r>
            <a:endParaRPr lang="en-US" sz="1600" dirty="0"/>
          </a:p>
        </p:txBody>
      </p:sp>
      <p:sp>
        <p:nvSpPr>
          <p:cNvPr id="6" name="Shape 4"/>
          <p:cNvSpPr/>
          <p:nvPr/>
        </p:nvSpPr>
        <p:spPr>
          <a:xfrm>
            <a:off x="6278728" y="1554480"/>
            <a:ext cx="5364328" cy="4389120"/>
          </a:xfrm>
          <a:prstGeom prst="roundRect">
            <a:avLst>
              <a:gd name="adj" fmla="val 2500"/>
            </a:avLst>
          </a:prstGeom>
          <a:solidFill>
            <a:srgbClr val="1F7A4D"/>
          </a:solidFill>
          <a:ln w="12700">
            <a:solidFill>
              <a:srgbClr val="1F7A4D"/>
            </a:solidFill>
            <a:prstDash val="solid"/>
          </a:ln>
        </p:spPr>
      </p:sp>
      <p:sp>
        <p:nvSpPr>
          <p:cNvPr id="7" name="Text 5"/>
          <p:cNvSpPr txBox="1"/>
          <p:nvPr/>
        </p:nvSpPr>
        <p:spPr>
          <a:xfrm>
            <a:off x="6598768"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Mañana: replicación y alta disponibilidad</a:t>
            </a:r>
            <a:endParaRPr lang="en-US" sz="2000" dirty="0"/>
          </a:p>
        </p:txBody>
      </p:sp>
      <p:sp>
        <p:nvSpPr>
          <p:cNvPr id="8" name="Text 6"/>
          <p:cNvSpPr txBox="1"/>
          <p:nvPr/>
        </p:nvSpPr>
        <p:spPr>
          <a:xfrm>
            <a:off x="6598768"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Replica set de tres nodos con keyfile</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Oplog, heartbeats y elecciones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Read y write concern, tags y prioridades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Failover, mantenimiento rolling y geodistribución</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Traed el entorno de la carpeta entorno/ probado</a:t>
            </a:r>
            <a:endParaRPr lang="en-US" sz="16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1 · Fundamentos y administración básica</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38 / 38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Administración de MongoDB · Día 1</dc:title>
  <dc:subject>PptxGenJS Presentation</dc:subject>
  <dc:creator>Curso de Administración de MongoDB</dc:creator>
  <cp:lastModifiedBy>Curso de Administración de MongoDB</cp:lastModifiedBy>
  <cp:revision>1</cp:revision>
  <dcterms:created xsi:type="dcterms:W3CDTF">2026-09-25T09:44:26Z</dcterms:created>
  <dcterms:modified xsi:type="dcterms:W3CDTF">2026-09-25T09:44:26Z</dcterms:modified>
</cp:coreProperties>
</file>