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y bienvenidos al tercer día, que dedicamos por completo a la seguridad.
Ayer montamos un replica set con alta disponibilidad. Hoy vamos a protegerlo capa a capa. Veremos quién puede conectarse y cómo demuestra su identidad, qué puede hacer cada usuario una vez dentro, cómo se autentican entre sí los propios miembros del replica set, cómo se limita el consumo de recursos, cómo se cifra el tráfico de red con TLS, y cómo se deja rastro de quién hace qué con la auditoría y se protegen los datos en disco con el cifrado en reposo.
Es un día con mucha práctica. Vais a migrar a TLS un replica set en servicio sin parar la aplicación, que es una operación que en muchas empresas da auténtico miedo y que, bien hecha, es completamente rutinaria. Y veréis con vuestros propios ojos la diferencia entre un fichero de datos cifrado y uno sin cifrar.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agenda de hoy. Empezaremos con un repaso de ayer y con una visión general del modelo de seguridad, para tener el mapa completo antes de entrar en detalle.
Después vienen dos módulos seguidos, autenticación y membresía interna, y usuarios, roles y límites, que pondremos en práctica en el laboratorio ocho. Tras el descanso, el módulo de TLS y su laboratorio, que es el más largo del día. Y terminaremos con auditoría y cifrado en reposo, con un laboratorio sobre Percona Server for MongoDB, porque, como os adelanté el primer día, estas funcionalidades no existen en MongoDB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Repasemos lo más importante de ayer. El oplog es idempotente y genera una entrada por cada documento modificado, lo que tiene consecuencias con las actualizaciones masivas. Todo se decide por mayoría de votos, así que el número de votos debe ser impar, y con dos centros de datos uno de ellos siempre decide. Escribir con w majority evita los rollbacks, y el wtimeout informa pero no deshace. Un failover no planificado corta las escrituras entre diez y quince segundos, y uno planificado con stepDown, uno o dos. Y el mantenimiento se hace en rolling: secundarios de uno en uno, stepDown y el antiguo primario al final.
Y la pregunta de hoy: una aplicación escribe con w uno, el primario cae, y cuando vuelve aparece una carpeta rollback en su directorio de datos. ¿Qué ha pasado? Que el primario había aplicado escrituras que no llegó a replicar, el nuevo primario no las tenía, y al volver, el antiguo las deshizo y las guardó en esa carpeta. Se habría evitado escribiendo con w majority, porque una escritura confirmada por mayoría nunca sufre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detalle, veamos el mapa completo. La seguridad de MongoDB, como la de cualquier sistema, se construye por capas, de forma que si una falla, las demás siguen protegiendo.
La primera capa es la red: que MongoDB escuche solo en las interfaces necesarias, que el firewall solo permita llegar al puerto desde los orígenes autorizados y que nunca, bajo ningún concepto, esté expuesto a internet. Es la barrera más barata y la que habría evitado la mayoría de los incidentes que conocemos.
La segunda y la tercera son la autenticación y la autorización, que vimos por encima el primer día y que hoy profundizaremos: quién eres y qué puedes hacer. Dentro de la autenticación incluimos también la membresía interna, es decir, cómo se autentican entre sí los nodos del cluster.
La cuarta es el cifrado en tránsito con TLS, tanto entre clientes y servidores como entre los propios miembros. La quinta es el cifrado en reposo, para que los ficheros de datos, el journal y los backups físicos sean ilegibles sin la clave. Y la sexta es la auditoría, el registro de quién hizo qué y cuándo.
Las cuatro primeras capas están disponibles en MongoDB Community. Las dos últimas requieren MongoDB Enterprise o Percona Server for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el módulo ocho, dedicado a la autenticación. Veremos qué mecanismos hay, cómo funciona por dentro SCRAM, que es el mecanismo por defecto, cómo se usan los certificados x.509, qué aportan LDAP y Kerberos, y cómo se autentican entre sí los miembros de un cluster, incluida la rotación de sus credenciales sin parar el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mecanismos de autenticación disponibles.
El mecanismo por defecto es SCRAM-SHA-256, basado en usuario y contraseña con un protocolo de desafío y respuesta que veremos en la siguiente diapositiva. Existe también SCRAM-SHA-1, que se mantiene solo por compatibilidad con drivers antiguos; si todos vuestros clientes son modernos, conviene usar solo la versión 256.
Después está x.509, la autenticación con certificados, disponible en todas las ediciones. El usuario se identifica con el subject de su certificado, sin contraseña. Es ideal para aplicaciones y servicios, y es también la forma recomendada de autenticar a los miembros del cluster entre sí.
Luego vienen los mecanismos que delegan en un sistema externo: LDAP, para validar usuarios contra un directorio como Active Directory u OpenLDAP; Kerberos, para entornos con inicio de sesión único; y OIDC, para identidades federadas de proveedores como Entra ID u Okta. Los dos primeros están en MongoDB Enterprise y en Percona Server; OIDC, en Enterprise desde la versión 7.0.
Fijaos en la tercera columna: todos los mecanismos externos usan la base de datos virtual $external. Significa que la contraseña o el certificado se validan fuera de MongoDB, y en MongoDB solo se guarda qué roles tiene esa identidad.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SCRAM significa Salted Challenge Response Authentication Mechanism, es decir, un mecanismo de desafío y respuesta con sal. Veamos cómo funciona, porque entenderlo os ayudará a responder a una pregunta que os harán en cualquier auditoría: ¿dónde se guardan las contraseñas?
El cliente empieza enviando el nombre de usuario y un valor aleatorio, un nonce. El servidor responde con la sal de ese usuario, el número de iteraciones y su propio nonce. Con esos datos, el cliente deriva una clave a partir de la contraseña, aplicando miles de iteraciones de una función de derivación, y firma todo el intercambio. El servidor comprueba esa firma usando un valor que tiene guardado, el storedKey, sin necesidad de conocer la contraseña. Y por último, el servidor también firma, con otro valor guardado, el serverKey, de forma que el cliente comprueba que está hablando con el servidor legítimo y no con un impostor. La autenticación es mutua.
La consecuencia importante está en el recuadro: la contraseña nunca viaja por la red, ni en claro ni cifrada, y nunca se guarda en el servidor. En la colección system.users solo hay la sal, el número de iteraciones y las dos claves derivadas. Lo veréis en el laboratorio consultando directamente esa colección.
Eso sí, SCRAM protege la contraseña, pero no protege los datos que viajan después de autenticarse. Para eso necesitáis 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autenticación con certificados x.509 elimina las contraseñas de la ecuación. Requiere que las conexiones usen TLS, porque el cliente presenta su certificado durante el establecimiento de la conexión cifrada.
El nombre del usuario en MongoDB es exactamente el subject del certificado, escrito en el formato RFC 2253, que es el que veis en el recuadro: los atributos separados por comas, del más específico al más general. El usuario se crea en la base de datos $external, sin contraseña, y con los roles que necesite. Para conectarse, el cliente indica el mecanismo MONGODB-X509 y la base de datos $external.
Una regla importante: los certificados de los clientes tienen que diferir de los de los miembros del cluster en al menos uno de los atributos organización, unidad organizativa o componente de dominio. Si un certificado de cliente tuviera los mismos valores que los de los servidores, MongoDB lo trataría como un miembro del cluster, con los privilegios que eso implica.
La gran ventaja de x.509 frente a las contraseñas es su ciclo de vida: los certificados caducan y se pueden revocar, mientras que una contraseña de aplicación suele quedarse igual durante años en un fichero de configuración. El inconveniente es que necesitáis una infraestructura de clave pública y procesos para renovar certificados antes de que caduquen. Lo practicaréis en el laboratorio nueve.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una organización tiene muchos usuarios humanos, gestionar las contraseñas en cada base de datos se vuelve inviable. Ahí entran LDAP y Kerberos, disponibles en MongoDB Enterprise y en Percona Server.
Con LDAP, MongoDB valida el usuario y la contraseña contra un directorio, como Active Directory u OpenLDAP. Usa el mecanismo PLAIN, lo que significa que la contraseña llega al servidor MongoDB para que este la valide contra el directorio, así que TLS es obligatorio. Se puede hacer a través del demonio saslauthd o con la integración nativa. Y la integración nativa permite además la autorización LDAP: asignar roles de MongoDB a partir de los grupos del directorio. Así, dar de alta a un nuevo DBA es tan sencillo como añadirlo al grupo correspondiente en el directorio, y darle de baja, quitarlo. En el laboratorio diez tenéis un fragmento de configuración de ejemplo.
Kerberos usa el mecanismo GSSAPI, basado en tickets: la contraseña no viaja en la conexión y el usuario disfruta de inicio de sesión único. Necesita un keytab para el servicio de MongoDB y un principal por usuario. Es más complejo de desplegar, pero muy robusto una vez en marcha, y es habitual en grandes organizaciones con Active Directory.
No los practicaremos en laboratorio, porque requieren montar un directorio o un controlador de dominio, pero es importante que sepáis que existen y qué implican.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 los usuarios, los propios miembros de un replica set o de un cluster se autentican entre sí. Si no lo hicieran, cualquiera podría arrancar un mongod, decir que es miembro del replica set y recibir una copia de todos los datos. Hay dos formas de hacerlo.
La primera es el keyFile, que es lo que usamos en el laboratorio de ayer. Es un secreto compartido, un fichero con entre seis y mil veinticuatro caracteres del alfabeto base64, que tiene que ser idéntico en todos los miembros. mongod exige que tenga permisos restrictivos, cuatrocientos, y que pertenezca al usuario que ejecuta el proceso; si no, se niega a arrancar. Recordad este detalle, porque es el error más frecuente al configurarlo. Y un efecto colateral importante: activar el keyFile activa también la autorización para los clientes.
La segunda, recomendada en producción, es x.509: cada miembro tiene su propio certificado, y el modo de autenticación del cluster se configura como x509. Los certificados de los miembros comparten la organización, la unidad organizativa y el componente de dominio, que es como MongoDB los reconoce como miembros. La ventaja frente al keyFile es la misma que con los usuarios: un certificado caduca y se puede revocar, así que si un servidor se ve comprometido, se puede excluir, mientras que con un keyFile habría que cambiar el secreto en todos los nodos.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pasa si hay que cambiar el keyFile, porque ha salido del servidor o porque lo exige la política de seguridad? Desde la versión 4.2 se puede hacer sin parar el servicio, porque el keyFile admite varias claves en formato YAML.
Primero desplegáis en todos los nodos, en rolling, un keyFile con dos claves: la antigua y la nueva. Durante ese periodo, los nodos aceptan ambas. Después hacéis un segundo reinicio rolling con un fichero que solo contiene la clave nueva. Y listo.
El mismo esquema progresivo sirve para migrar del keyFile a x.509, que es lo recomendable en producción. Con los certificados y TLS ya desplegados, se pasa el modo de autenticación del cluster a sendKeyFile, en el que los nodos se siguen presentando con el keyFile pero ya aceptan certificados. Luego a sendX509, en el que se presentan con certificado pero aún aceptan el keyFile. Y finalmente a x509, que solo acepta certificados. En ese punto se puede retirar el keyFile.
La idea que quiero que os llevéis es la del recuadro: todas estas transiciones se hacen con reinicios rolling o con cambios de parámetros en caliente, sin parar nunca el replica set. Es exactamente el mismo patrón que vais a usar esta tarde para migrar a 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al módulo nueve: usuarios, roles y límites. Si la autenticación responde a quién eres, este módulo responde a qué puedes hacer, y cuánto. Veremos el modelo de privilegios de MongoDB, los roles predefinidos más útiles, cómo crear roles personalizados, cómo se gestionan los usuarios, unas cuantas buenas prácticas y, por último, los mecanismos para limitar el consumo de recursos.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privilegios de MongoDB tiene cinco conceptos que encajan como piezas.
Un recurso es aquello sobre lo que se actúa: una colección concreta, una base de datos entera, todas las bases de datos, o el cluster en sí, para las operaciones de administración. Una acción es la operación que se permite: find para leer, insert, update y remove para escribir, createIndex, dropCollection, serverStatus, y así hasta varias decenas. Un privilegio es la combinación de un recurso con una lista de acciones permitidas sobre él.
Un rol es un conjunto de privilegios, y además puede heredar otros roles, lo que permite construir jerarquías. Y un usuario tiene uno o varios roles, y sus privilegios son la unión de los de todos ellos.
La última tarjeta es importante: en MongoDB no hay denegaciones. Todo se basa en conceder permisos; lo que no se concede, no se puede hacer. No existe la forma de decir «todo menos esta colección», así que para eso hay que construir el rol concediendo explícitamente lo que sí se permite. Es más trabajo al diseñar, pero hace que los permisos sean mucho más fáciles de razonar.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trae una colección de roles predefinidos que cubren la mayoría de las necesidades.
read y readWrite son los roles de las aplicaciones y de los usuarios de consulta, sobre una base de datos concreta. dbAdmin permite gestionar índices, estadísticas y validación de una base de datos, pero, y esto sorprende a mucha gente, no permite leer los datos. userAdmin permite gestionar usuarios y roles de esa base de datos, y cuidado con él, porque quien puede gestionar usuarios puede concederse a sí mismo cualquier rol de esa base de datos.
A nivel de cluster, clusterMonitor es el rol de las herramientas de monitorización: puede consultar el estado y las métricas pero no tocar nada. clusterManager permite las operaciones de replicación y sharding, y clusterAdmin incluye todo lo relativo al cluster. backup y restore son los roles de las herramientas de copia, y los usaréis mañana con PBM.
Muchos roles tienen su versión global, con el sufijo AnyDatabase, que se aplica a todas las bases de datos. Y por último root, el superusuario, que debería usarse solo para emergencias y nunca para el trabajo diario ni, por supuesto, por una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ningún rol predefinido encaja con el principio de mínimo privilegio, se crean roles personalizados. Este es el que vais a crear en el laboratorio: el equipo de atención al cliente necesita consultar pedidos y clientes y cambiar el estado de un pedido, pero nada más. Con readWrite sobre tienda tendrían mucho más de lo necesario: podrían borrar pedidos, insertar productos o vaciar colecciones.
Así que creamos un rol con dos privilegios: find y update sobre la colección pedidos, y find sobre clientes. Nada de insert, nada de remove, nada sobre productos. Si un rol se define en la base de datos admin, puede incluir privilegios sobre cualquier base de datos; si se define en otra, solo sobre esa.
La gran ventaja de gestionar los permisos a través de roles es la de abajo: si mañana el equipo necesita ver también el catálogo de productos, no tocáis los usuarios. Añadís el privilegio al rol con grantPrivilegesToRole, y el cambio afecta al instante a todos los usuarios que lo tienen. Existen las operaciones inversas para quitar privilegios y para que un rol herede otros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tenéis las operaciones habituales de gestión de usuarios.
Al crear un usuario, un consejo muy práctico: usad passwordPrompt en lugar de escribir la contraseña en el comando. Así no queda en el historial de la shell, que se guarda en un fichero en vuestro directorio personal. Con el parámetro mechanisms podéis restringir el usuario a SCRAM-SHA-256. Y con authenticationRestrictions podéis limitar desde qué direcciones puede conectarse, con clientSource, o a qué direcciones del servidor, con serverAddress. Es una defensa muy eficaz para usuarios de aplicación: aunque la contraseña se filtre, solo sirve desde la red de los servidores de la aplicación.
Para cambiar la contraseña se usa updateUser, y para añadir o quitar roles, grantRolesToUser y revokeRolesFromUser. Para listar usuarios, getUsers en una base de datos, o usersInfo con forAllDBs para tener el inventario completo, que es lo que os pedirán en cualquier auditoría. Y dropUser para darlos de baja.
Un detalle operativo: cuando se cambian los roles de un usuario, el cambio se aplica a sus conexiones existentes en cuanto se refresca la caché de usuarios, que es muy rápido. Pero cuando se borra un usuario, sus conexiones ya abiertas no se cortan automáticamente, así que si es un caso de seguridad, tendréis que localizar y cerrar esas sesiones.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Algunas buenas prácticas que marcan la diferencia en cualquier auditoría.
Un usuario por persona y por aplicación, nunca cuentas compartidas. Si cinco personas usan el mismo usuario admin, la auditoría no os dirá quién hizo qué. Centralizad los usuarios en la base de datos admin, o en $external si usáis LDAP o certificados, para tener un único sitio donde revisarlos. Aplicad el mínimo privilegio con roles predefinidos acotados o personalizados. Reservad root para emergencias, con la contraseña custodiada, por ejemplo en un sobre o en una caja fuerte digital con acceso auditado. Usad contraseñas largas y únicas, y en las aplicaciones, guardadlas en un gestor de secretos, no en ficheros de configuración dentro de un repositorio. Y revisad periódicamente los usuarios, buscando cuentas de personas que ya no están, roles excesivos o accesos que nadie usa.
En el recuadro tenéis una estructura típica: una cuenta de emergencia sellada, una cuenta nominal por cada DBA con permisos de administración pero sin root, una cuenta de monitorización, otra de backup, una por aplicación restringida por IP, y cuentas nominales de solo lectura para analistas.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temario habla de límites de recursos, y en MongoDB no hay un único mecanismo de cuotas, sino varios, a distintos niveles, que conviene conocer.
A nivel de usuario, las authenticationRestrictions que acabamos de ver. A nivel de operación, maxTimeMS, que fija el tiempo máximo que puede ejecutarse una consulta o un comando; pasado ese tiempo, el servidor la interrumpe y libera sus recursos. Es la mejor defensa contra consultas descontroladas, y debería ser práctica habitual en las aplicaciones. Novedad de la versión 8.0: el parámetro de cluster defaultMaxTimeMS, que fija un límite por defecto para todas las lecturas que no traigan el suyo. Es una red de seguridad muy útil, aunque hay que elegir el valor con cuidado para no romper informes legítimos.
A nivel de instancia, maxIncomingConnections limita las conexiones simultáneas. Pero en la práctica, el control real de las conexiones está en los pools de los drivers: si una aplicación tiene cien instancias con un pool de cien conexiones cada una, son diez mil conexiones. A nivel de sistema operativo, los ulimits que vimos el primer día. Y la memoria, con el tamaño de la caché y los límites del contenedor.
Lo probaréis en el laboratorio: una agregación cortada por maxTimeMS y el nuevo defaultMaxTimeMS.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al laboratorio ocho. Trabajaréis sobre el replica set de ayer, así que lo primero es arrancarlo y comprobar que está sano.
Crearéis los usuarios típicos de una aplicación, comprobaréis qué puede y qué no puede hacer cada uno, y diseñaréis el rol personalizado de atención al cliente, que después ampliaréis sin tocar al usuario. Miraréis por dentro la colección system.users para comprobar que no hay contraseñas. Restringiréis un usuario por dirección de origen, veréis cómo falla la autenticación aunque la contraseña sea correcta, y buscaréis el rastro en los logs. Y terminaréis con los límites de tiempo de ejecución.
[Al terminar] Dos observaciones. La primera: la restricción por IP falla con un mensaje de autenticación genérico, sin decir que el motivo es la IP; es deliberado, para no dar pistas a un atacante, pero hay que saberlo al diagnosticar. La segunda: el usuario admin, con rol root, no se ve afectado por defaultMaxTimeMS, por eso lo probasteis con el analista.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del descanso. Entramos en el módulo diez, dedicado al cifrado en tránsito con TLS. Veremos cómo se configura, qué requisitos tienen que cumplir los certificados, cómo se migra un replica set en servicio a TLS sin parar la aplicación y cómo se rotan los certificados antes de que caduquen.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configuración de TLS se hace en la sección net.tls del fichero de configuración.
El parámetro mode tiene cuatro valores: disabled, allowTLS, preferTLS y requireTLS. Los dos intermedios existen precisamente para la migración, como veremos en un momento. certificateKeyFile es un fichero PEM que contiene la clave privada y el certificado del servidor. CAFile es el certificado de la autoridad que firma los certificados, y se usa para validar tanto a los clientes que presentan certificado como a los otros miembros del cluster. clusterFile es opcional y permite usar un certificado distinto cuando el nodo actúa como cliente de otros miembros; si no se indica, se usa el mismo.
allowConnectionsWithoutCertificates merece un comentario. Cuando configuráis un CAFile, MongoDB por defecto exige que los clientes presenten un certificado. Si vuestros clientes se autentican con usuario y contraseña, sin certificado propio, necesitáis este parámetro. Seguirá validando el certificado de quien lo presente, que es lo que usaremos para x.509.
Y conviene deshabilitar los protocolos antiguos, TLS uno punto cero y uno punto uno, que ya no se consideran seguros.
En el cliente, basta con añadir tls igual a true a la cadena de conexión y, si la CA no está en el almacén de confianza del sistema, indicar el fichero de la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certificados tienen que cumplir algunos requisitos que son fuente habitual de problemas.
El primero, y el que más errores provoca, es el Subject Alternative Name: el certificado de cada servidor tiene que incluir exactamente el nombre de host que usan los clientes para conectarse y el que aparece en la configuración del replica set. Si los clientes usan mongo1.empresa.local y el certificado dice mongo1, la validación falla.
El segundo es el uso extendido de la clave: los servidores necesitan serverAuth, y como los miembros también actúan como clientes de otros miembros, necesitan además clientAuth. El tercero, que estén firmados por una CA de confianza, normalmente la CA corporativa. El cuarto, el formato: un fichero PEM con la clave privada y el certificado, que solo pueda leer el usuario de mongod.
Y el quinto, la caducidad, que merece el recuadro. El incidente clásico: todos los certificados del cluster se emitieron el mismo día con un año de validez, nadie puso una alerta, y un año después, a la misma hora, ningún nodo acepta conexiones. Es una parada completa por algo totalmente evitable. serverStatus muestra la fecha de caducidad del certificado, así que poned una alerta con treinta días de margen. Y desde la versión 5.0 podéis rotar los certificados en caliente con el comando rotateCertificates, sin reiniciar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receta para migrar a TLS un replica set en servicio, y es lo que haréis en el laboratorio.
Primero se emiten y despliegan los certificados en todos los nodos, y la CA en los clientes. Segundo, un reinicio rolling de todos los nodos con TLS en modo allowTLS: en este modo, el nodo acepta conexiones con y sin TLS, pero sus propias conexiones hacia otros miembros siguen sin TLS. Así, el primer nodo reiniciado puede seguir hablando con los que aún no se han reiniciado. Nada se rompe.
Tercero, se cambia el modo a preferTLS, y esto se puede hacer en caliente con setParameter, sin reiniciar. En preferTLS, el nodo sigue aceptando conexiones sin TLS, pero sus conexiones hacia otros miembros ya usan TLS. Es el momento de migrar todas las aplicaciones a cadenas de conexión con tls igual a true.
Cuarto, cuando todas las aplicaciones usan TLS, se pasa a requireTLS, también en caliente. A partir de ese momento, cualquier conexión sin TLS se rechaza. Y quinto, como setParameter no sobrevive a un reinicio, se fija requireTLS en la configuración y se verifica en el siguiente rolling.
Entre fase y fase, comprobad las conexiones y los logs. En la fase de preferTLS, los logs os ayudarán a identificar qué clientes siguen conectándose sin TLS, para perseguirlos antes de pasar a requireTLS.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con el laboratorio nueve, el más largo del día. Vais a migrar a TLS vuestro replica set con el escritor en marcha, para comprobar que la aplicación no se entera hasta que, deliberadamente, pasáis a requireTLS y la dejáis fuera, porque es una aplicación que no se ha migrado a tiempo.
Primero generaréis una CA privada y los certificados de los tres nodos y de un cliente, con un script que os he preparado. Después haréis el reinicio rolling en allowTLS, usando un fichero de override de Docker Compose. Pasaréis a preferTLS y a requireTLS en caliente con una pequeña función de mongosh que recorre los tres nodos. Haréis el cambio permanente. Y terminaréis creando un usuario x.509 y conectándoos con el certificado de cliente.
Muy importante: el último paso del laboratorio devuelve el entorno a su estado sin TLS, porque mañana trabajaremos sin él para simplificar. No os lo saltéis.
[Al terminar] Fijaos en que el escritor no notó nada en allowTLS ni en preferTLS, y empezó a fallar exactamente al pasar a requireTLS. En un entorno real, esa es la aplicación que vuestros logs os habrían señalado durante la fase de preferTLS.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módulo del día: auditoría y cifrado en reposo. Son las dos funcionalidades que suelen aparecer en los requisitos de cumplimiento normativo, como el Esquema Nacional de Seguridad, PCI DSS para datos de tarjetas, o las auditorías de protección de datos. Y recordad que en MongoDB son de la edición Enterprise, por lo que en el laboratorio usaremos Percona Server for MongoDB, que las incluye de forma gratuita.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auditoría registra los eventos de seguridad relevantes: quién hizo algo, desde qué dirección, cuándo, qué hizo exactamente y con qué resultado.
Se configura en la sección auditLog. El destino puede ser un fichero, el syslog del sistema o la consola, y el formato JSON o BSON. JSON es más cómodo de procesar; BSON es más eficiente en volumen.
Por defecto se auditan los eventos de administración y autenticación: altas y bajas de usuarios, cambios de roles, creación y borrado de colecciones, autenticaciones correctas y fallidas. Opcionalmente se pueden auditar las operaciones sobre datos, lo que se hace con los eventos authCheck y el parámetro auditAuthorizationSuccess, que registra también los accesos permitidos y no solo los denegados.
Abajo tenéis un evento real: un intento de autenticación del usuario rrhh_lector desde una IP concreta, con el mecanismo SCRAM-SHA-256, y con resultado dieciocho, que es el código de autenticación fallida. Es exactamente lo que veréis en el laboratorio.
En producción, el fichero de auditoría no se queda en el servidor: se envía a un SIEM, un sistema de gestión de eventos de seguridad, bien a través de syslog o con un recolector de ficheros, para que un atacante que comprometa el servidor no pueda borrar su rastro.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clave de una buena auditoría es el filtro, porque auditarlo todo tiene un coste enorme.
Hay eventos que conviene auditar siempre, porque son pocos y muy relevantes: la autenticación, tanto los éxitos como los fallos; la gestión de usuarios y roles; los cambios de esquema, como borrar una colección o una base de datos; y los cambios de configuración, como reconfigurar el replica set o apagar un nodo.
Y luego está la auditoría de las operaciones sobre datos, las lecturas y escrituras. Auditar todas las operaciones de todas las colecciones multiplica el volumen de registros por miles y penaliza el rendimiento de forma apreciable. Lo razonable es auditar el CRUD solo en las colecciones sensibles, como las nóminas en nuestro ejemplo, que es lo que hace el filtro que usaréis en el laboratorio.
Y un aviso que suele pasarse por alto: el fichero de auditoría puede contener datos sensibles, porque registra los parámetros de los comandos, incluidos los filtros de las consultas y los documentos insertados. Hay que protegerlo, rotarlo y custodiarlo con el mismo cuidado que los datos. Lo comprobaréis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cómo funciona el cifrado en reposo, que en MongoDB se integra en el propio motor de almacenamiento.
Hay una jerarquía de dos niveles de claves. En la cima, la clave maestra, que debe custodiarse fuera del servidor, en un gestor de claves: un servidor KMIP, que es el estándar de la industria, o HashiCorp Vault. Un fichero de clave local se puede usar para pruebas, como haremos en el laboratorio, pero no en producción, porque si la clave está en el mismo servidor que los datos, quien se lleve el disco se lleva también la clave.
Por debajo, hay una clave por cada base de datos, que se guarda cifrada con la clave maestra. Y WiredTiger usa esas claves para cifrar cada página de datos con AES de doscientos cincuenta y seis bits antes de escribirla en disco, e igualmente el journal.
El resultado es que los ficheros de datos, el journal, los ficheros de rollback y los backups físicos son ilegibles sin la clave. En el laboratorio buscaréis un texto en los ficheros de datos de un servidor con cifrado y de otro sin él, y veréis la diferencia.
En MongoDB Enterprise se activa con enableEncryption y un servidor KMIP. En Percona Server, con enableEncryption y un fichero de clave, Vault o KMIP.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gestión de claves es lo que convierte el cifrado en reposo en una protección real, o en una falsa sensación de seguridad.
Con un fichero de clave local, que solo debería usarse en pruebas, la clave tiene permisos seiscientos y pertenece al usuario de mongod. Si se pierde, los datos son irrecuperables, incluidos los backups físicos de ese nodo. Y la rotación es costosa: hay que resincronizar cada nodo desde cero con la clave nueva, de uno en uno.
Con Vault o KMIP, la clave maestra está fuera del servidor, en un sistema con control de acceso y auditoría propios. Y, sobre todo, permite rotar la clave maestra sin reescribir los datos: como los datos están cifrados con las claves de base de datos, basta con volver a cifrar esas claves con la nueva clave maestra, que es una operación rápida. En Percona Server se hace con las opciones de rotación de Vault o de KMIP, nodo a nodo, con un reinicio rolling.
Un último aviso operativo: el gestor de claves se convierte en una dependencia crítica. Si mongod no puede obtener la clave maestra al arrancar, no arranca. Así que el gestor necesita su propia alta disponibilidad y sus propios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 teoría del día, esta tabla, que os recomiendo tener a mano cuando os pregunten si MongoDB está seguro. Porque la pregunta correcta no es si está seguro, sino frente a qué.
La red y el firewall os protegen de accesos desde fuera de las redes autorizadas, pero no de un atacante que ya está dentro. La autenticación y los roles, de accesos sin credenciales o con privilegios excesivos, pero no de unas credenciales robadas con privilegios suficientes. TLS protege el tráfico de red frente a escuchas, pero no protege frente a quien accede al servidor o a sus discos. El cifrado en reposo protege frente al robo de discos, ficheros, snapshots o backups físicos, pero no frente a un usuario con credenciales válidas, que verá los datos en claro, ni frente a un volcado lógico con mongodump, que sale descifrado. La auditoría no impide nada, pero os permite detectar e investigar.
Y la última fila es el nivel más alto: el cifrado en el cliente, con Client-Side Field Level Encryption o Queryable Encryption, en el que ciertos campos se cifran en la aplicación y el servidor nunca los ve en claro, ni siquiera sus administradores. Tiene un coste en la aplicación y limita las consultas que se pueden hacer sobre esos campos, y su alcance varía según la edición, pero es la respuesta cuando el requisito es que nadie en la operación de la base de datos pueda leer ciertos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laboratorio del día. Vais a levantar dos servidores: un Percona Server con cifrado en reposo y auditoría, y un MongoDB Community sin cifrar, para comparar. Insertaréis el mismo dato sensible en ambos y lo buscaréis directamente en los ficheros de datos con grep. Después generaréis actividad variada y leeréis el registro de auditoría: autenticaciones, creación de usuarios, borrado de una colección y una consulta sobre la colección de nóminas.
Para liberar memoria, el laboratorio empieza parando el replica set, y termina volviéndolo a arrancar.
[Al terminar] ¿En qué servidor apareció el texto? En el Community, en claro, en los ficheros de datos o en el journal. En Percona, en ninguno. Y la reflexión final: el cifrado en reposo sirve de poco si la clave está en el mismo servidor, y el fichero de auditoría contenía los documentos insertados en las nóminas. Seguridad es mirar el conjunto, no cada pieza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Terminamos el tercer día. Repasemos.
La seguridad se construye en capas: red, autenticación, autorización, cifrado en tránsito, cifrado en reposo y auditoría. SCRAM no guarda contraseñas, x.509 las sustituye por certificados, y LDAP y Kerberos centralizan la identidad en sistemas corporativos. Los miembros del cluster se autentican con keyFile o, mejor, con certificados, y sus credenciales se pueden rotar sin parar. Los roles se diseñan con mínimo privilegio, y el consumo se limita con maxTimeMS y el nuevo defaultMaxTimeMS. TLS se despliega sin parada pasando por allowTLS, preferTLS y requireTLS. Y la auditoría y el cifrado en reposo completan el cuadro, con filtros bien diseñados y una buena custodia de las claves.
Mañana, último día, cerramos con tres temas muy prácticos: backups y recuperación, incluida la recuperación a un instante exacto con Percona Backup for MongoDB; monitorización con Percona Monitoring and Management y alertas; y resolución de problemas con las herramientas del propio MongoDB.
Antes de iros, comprobad que habéis completado el último paso del laboratorio de TLS y que el entorno ha quedado sin TLS, porque mañana lo necesitamos así. Muchas gracias y hasta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9326880" y="1737360"/>
            <a:ext cx="1828800" cy="1188720"/>
          </a:xfrm>
          <a:prstGeom prst="line">
            <a:avLst/>
          </a:prstGeom>
          <a:noFill/>
          <a:ln w="25400">
            <a:solidFill>
              <a:srgbClr val="2E9E66"/>
            </a:solidFill>
            <a:prstDash val="solid"/>
          </a:ln>
        </p:spPr>
      </p:sp>
      <p:sp>
        <p:nvSpPr>
          <p:cNvPr id="3" name="Shape 1"/>
          <p:cNvSpPr/>
          <p:nvPr/>
        </p:nvSpPr>
        <p:spPr>
          <a:xfrm flipV="1">
            <a:off x="9601200" y="2926080"/>
            <a:ext cx="1554480" cy="1554480"/>
          </a:xfrm>
          <a:prstGeom prst="line">
            <a:avLst/>
          </a:prstGeom>
          <a:noFill/>
          <a:ln w="25400">
            <a:solidFill>
              <a:srgbClr val="2E9E66"/>
            </a:solidFill>
            <a:prstDash val="solid"/>
          </a:ln>
        </p:spPr>
      </p:sp>
      <p:sp>
        <p:nvSpPr>
          <p:cNvPr id="4" name="Shape 2"/>
          <p:cNvSpPr/>
          <p:nvPr/>
        </p:nvSpPr>
        <p:spPr>
          <a:xfrm>
            <a:off x="9326880" y="1737360"/>
            <a:ext cx="274320" cy="2743200"/>
          </a:xfrm>
          <a:prstGeom prst="line">
            <a:avLst/>
          </a:prstGeom>
          <a:noFill/>
          <a:ln w="25400">
            <a:solidFill>
              <a:srgbClr val="2E9E66"/>
            </a:solidFill>
            <a:prstDash val="solid"/>
          </a:ln>
        </p:spPr>
      </p:sp>
      <p:sp>
        <p:nvSpPr>
          <p:cNvPr id="5" name="Shape 3"/>
          <p:cNvSpPr/>
          <p:nvPr/>
        </p:nvSpPr>
        <p:spPr>
          <a:xfrm>
            <a:off x="8778240" y="1188720"/>
            <a:ext cx="1097280" cy="1097280"/>
          </a:xfrm>
          <a:prstGeom prst="ellipse">
            <a:avLst/>
          </a:prstGeom>
          <a:solidFill>
            <a:srgbClr val="F2B33D"/>
          </a:solidFill>
          <a:ln w="12700">
            <a:solidFill>
              <a:srgbClr val="F2B33D"/>
            </a:solidFill>
            <a:prstDash val="solid"/>
          </a:ln>
        </p:spPr>
      </p:sp>
      <p:sp>
        <p:nvSpPr>
          <p:cNvPr id="6" name="Text 4"/>
          <p:cNvSpPr txBox="1"/>
          <p:nvPr/>
        </p:nvSpPr>
        <p:spPr>
          <a:xfrm>
            <a:off x="8778240" y="1188720"/>
            <a:ext cx="1097280" cy="1097280"/>
          </a:xfrm>
          <a:prstGeom prst="rect">
            <a:avLst/>
          </a:prstGeom>
          <a:noFill/>
          <a:ln/>
        </p:spPr>
        <p:txBody>
          <a:bodyPr wrap="square" lIns="0" tIns="0" rIns="0" bIns="0" rtlCol="0" anchor="ctr"/>
          <a:lstStyle/>
          <a:p>
            <a:pPr algn="ctr" indent="0" marL="0">
              <a:buNone/>
            </a:pPr>
            <a:r>
              <a:rPr lang="en-US" sz="3000" b="1" dirty="0">
                <a:solidFill>
                  <a:srgbClr val="0F2A25"/>
                </a:solidFill>
                <a:latin typeface="Cambria" pitchFamily="34" charset="0"/>
                <a:ea typeface="Cambria" pitchFamily="34" charset="-122"/>
                <a:cs typeface="Cambria" pitchFamily="34" charset="-120"/>
              </a:rPr>
              <a:t>P</a:t>
            </a:r>
            <a:endParaRPr lang="en-US" sz="3000" dirty="0"/>
          </a:p>
        </p:txBody>
      </p:sp>
      <p:sp>
        <p:nvSpPr>
          <p:cNvPr id="7" name="Shape 5"/>
          <p:cNvSpPr/>
          <p:nvPr/>
        </p:nvSpPr>
        <p:spPr>
          <a:xfrm>
            <a:off x="10607040" y="2377440"/>
            <a:ext cx="1097280" cy="1097280"/>
          </a:xfrm>
          <a:prstGeom prst="ellipse">
            <a:avLst/>
          </a:prstGeom>
          <a:solidFill>
            <a:srgbClr val="1F7A4D"/>
          </a:solidFill>
          <a:ln w="12700">
            <a:solidFill>
              <a:srgbClr val="1F7A4D"/>
            </a:solidFill>
            <a:prstDash val="solid"/>
          </a:ln>
        </p:spPr>
      </p:sp>
      <p:sp>
        <p:nvSpPr>
          <p:cNvPr id="8" name="Text 6"/>
          <p:cNvSpPr txBox="1"/>
          <p:nvPr/>
        </p:nvSpPr>
        <p:spPr>
          <a:xfrm>
            <a:off x="10607040" y="237744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9" name="Shape 7"/>
          <p:cNvSpPr/>
          <p:nvPr/>
        </p:nvSpPr>
        <p:spPr>
          <a:xfrm>
            <a:off x="9052560" y="3931920"/>
            <a:ext cx="1097280" cy="1097280"/>
          </a:xfrm>
          <a:prstGeom prst="ellipse">
            <a:avLst/>
          </a:prstGeom>
          <a:solidFill>
            <a:srgbClr val="1F7A4D"/>
          </a:solidFill>
          <a:ln w="12700">
            <a:solidFill>
              <a:srgbClr val="1F7A4D"/>
            </a:solidFill>
            <a:prstDash val="solid"/>
          </a:ln>
        </p:spPr>
      </p:sp>
      <p:sp>
        <p:nvSpPr>
          <p:cNvPr id="10" name="Text 8"/>
          <p:cNvSpPr txBox="1"/>
          <p:nvPr/>
        </p:nvSpPr>
        <p:spPr>
          <a:xfrm>
            <a:off x="9052560" y="393192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11" name="Text 9"/>
          <p:cNvSpPr txBox="1"/>
          <p:nvPr/>
        </p:nvSpPr>
        <p:spPr>
          <a:xfrm>
            <a:off x="548640" y="1097280"/>
            <a:ext cx="7589520" cy="365760"/>
          </a:xfrm>
          <a:prstGeom prst="rect">
            <a:avLst/>
          </a:prstGeom>
          <a:noFill/>
          <a:ln/>
        </p:spPr>
        <p:txBody>
          <a:bodyPr wrap="square" lIns="0" tIns="0" rIns="0" bIns="0" rtlCol="0" anchor="ctr"/>
          <a:lstStyle/>
          <a:p>
            <a:pPr indent="0" marL="0">
              <a:buNone/>
            </a:pPr>
            <a:r>
              <a:rPr lang="en-US" sz="1600" b="1" spc="400" kern="0" dirty="0">
                <a:solidFill>
                  <a:srgbClr val="F2B33D"/>
                </a:solidFill>
                <a:latin typeface="Calibri" pitchFamily="34" charset="0"/>
                <a:ea typeface="Calibri" pitchFamily="34" charset="-122"/>
                <a:cs typeface="Calibri" pitchFamily="34" charset="-120"/>
              </a:rPr>
              <a:t>CURSO DE ADMINISTRACIÓN DE MONGODB · DÍA 3 DE 4</a:t>
            </a:r>
            <a:endParaRPr lang="en-US" sz="1600" dirty="0"/>
          </a:p>
        </p:txBody>
      </p:sp>
      <p:sp>
        <p:nvSpPr>
          <p:cNvPr id="12" name="Text 10"/>
          <p:cNvSpPr txBox="1"/>
          <p:nvPr/>
        </p:nvSpPr>
        <p:spPr>
          <a:xfrm>
            <a:off x="548640" y="1554480"/>
            <a:ext cx="7589520" cy="2011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Seguridad</a:t>
            </a:r>
            <a:endParaRPr lang="en-US" sz="4400" dirty="0"/>
          </a:p>
        </p:txBody>
      </p:sp>
      <p:sp>
        <p:nvSpPr>
          <p:cNvPr id="13" name="Text 11"/>
          <p:cNvSpPr txBox="1"/>
          <p:nvPr/>
        </p:nvSpPr>
        <p:spPr>
          <a:xfrm>
            <a:off x="548640" y="3657600"/>
            <a:ext cx="7589520" cy="914400"/>
          </a:xfrm>
          <a:prstGeom prst="rect">
            <a:avLst/>
          </a:prstGeom>
          <a:noFill/>
          <a:ln/>
        </p:spPr>
        <p:txBody>
          <a:bodyPr wrap="square" lIns="0" tIns="0" rIns="0" bIns="0" rtlCol="0" anchor="t"/>
          <a:lstStyle/>
          <a:p>
            <a:pPr indent="0" marL="0">
              <a:buNone/>
            </a:pPr>
            <a:r>
              <a:rPr lang="en-US" sz="2000" dirty="0">
                <a:solidFill>
                  <a:srgbClr val="CFE3D8"/>
                </a:solidFill>
                <a:latin typeface="Calibri" pitchFamily="34" charset="0"/>
                <a:ea typeface="Calibri" pitchFamily="34" charset="-122"/>
                <a:cs typeface="Calibri" pitchFamily="34" charset="-120"/>
              </a:rPr>
              <a:t>Autenticación, usuarios y roles, membresía interna, LDAP, límites de recursos, TLS, auditoría y cifrado en reposo</a:t>
            </a:r>
            <a:endParaRPr lang="en-US" sz="2000" dirty="0"/>
          </a:p>
        </p:txBody>
      </p:sp>
      <p:sp>
        <p:nvSpPr>
          <p:cNvPr id="14" name="Text 12"/>
          <p:cNvSpPr txBox="1"/>
          <p:nvPr/>
        </p:nvSpPr>
        <p:spPr>
          <a:xfrm>
            <a:off x="548640" y="5394960"/>
            <a:ext cx="7589520" cy="365760"/>
          </a:xfrm>
          <a:prstGeom prst="rect">
            <a:avLst/>
          </a:prstGeom>
          <a:noFill/>
          <a:ln/>
        </p:spPr>
        <p:txBody>
          <a:bodyPr wrap="square" lIns="0" tIns="0" rIns="0" bIns="0" rtlCol="0" anchor="ctr"/>
          <a:lstStyle/>
          <a:p>
            <a:pPr indent="0" marL="0">
              <a:buNone/>
            </a:pPr>
            <a:r>
              <a:rPr lang="en-US" sz="1400" dirty="0">
                <a:solidFill>
                  <a:srgbClr val="9DB8AE"/>
                </a:solidFill>
                <a:latin typeface="Calibri" pitchFamily="34" charset="0"/>
                <a:ea typeface="Calibri" pitchFamily="34" charset="-122"/>
                <a:cs typeface="Calibri" pitchFamily="34" charset="-120"/>
              </a:rPr>
              <a:t>Módulos 8, 9, 10 y 11 · Laboratorios 08, 09 y 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Agenda de hoy</a:t>
            </a:r>
            <a:endParaRPr lang="en-US" sz="3200" dirty="0"/>
          </a:p>
        </p:txBody>
      </p:sp>
      <p:sp>
        <p:nvSpPr>
          <p:cNvPr id="3" name="Shape 1"/>
          <p:cNvSpPr/>
          <p:nvPr/>
        </p:nvSpPr>
        <p:spPr>
          <a:xfrm>
            <a:off x="548640" y="1600200"/>
            <a:ext cx="5364328" cy="457200"/>
          </a:xfrm>
          <a:prstGeom prst="roundRect">
            <a:avLst>
              <a:gd name="adj" fmla="val 12000"/>
            </a:avLst>
          </a:prstGeom>
          <a:solidFill>
            <a:srgbClr val="F4F9F6"/>
          </a:solidFill>
          <a:ln w="12700">
            <a:solidFill>
              <a:srgbClr val="D5DDD9"/>
            </a:solidFill>
            <a:prstDash val="solid"/>
          </a:ln>
        </p:spPr>
      </p:sp>
      <p:sp>
        <p:nvSpPr>
          <p:cNvPr id="4" name="Text 2"/>
          <p:cNvSpPr txBox="1"/>
          <p:nvPr/>
        </p:nvSpPr>
        <p:spPr>
          <a:xfrm>
            <a:off x="685800" y="16002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0:00</a:t>
            </a:r>
            <a:endParaRPr lang="en-US" sz="1300" dirty="0"/>
          </a:p>
        </p:txBody>
      </p:sp>
      <p:sp>
        <p:nvSpPr>
          <p:cNvPr id="5" name="Shape 3"/>
          <p:cNvSpPr/>
          <p:nvPr/>
        </p:nvSpPr>
        <p:spPr>
          <a:xfrm>
            <a:off x="1463040" y="1691640"/>
            <a:ext cx="868680" cy="274320"/>
          </a:xfrm>
          <a:prstGeom prst="roundRect">
            <a:avLst>
              <a:gd name="adj" fmla="val 50000"/>
            </a:avLst>
          </a:prstGeom>
          <a:solidFill>
            <a:srgbClr val="173D35"/>
          </a:solidFill>
          <a:ln w="12700">
            <a:solidFill>
              <a:srgbClr val="173D35"/>
            </a:solidFill>
            <a:prstDash val="solid"/>
          </a:ln>
        </p:spPr>
      </p:sp>
      <p:sp>
        <p:nvSpPr>
          <p:cNvPr id="6" name="Text 4"/>
          <p:cNvSpPr txBox="1"/>
          <p:nvPr/>
        </p:nvSpPr>
        <p:spPr>
          <a:xfrm>
            <a:off x="1463040" y="1691640"/>
            <a:ext cx="868680" cy="274320"/>
          </a:xfrm>
          <a:prstGeom prst="rect">
            <a:avLst/>
          </a:prstGeom>
          <a:noFill/>
          <a:ln/>
        </p:spPr>
        <p:txBody>
          <a:bodyPr wrap="square" lIns="0" tIns="0" rIns="0" bIns="0" rtlCol="0" anchor="ctr"/>
          <a:lstStyle/>
          <a:p>
            <a:pPr algn="ctr" indent="0" marL="0">
              <a:buNone/>
            </a:pPr>
            <a:endParaRPr lang="en-US" sz="1000" dirty="0"/>
          </a:p>
        </p:txBody>
      </p:sp>
      <p:sp>
        <p:nvSpPr>
          <p:cNvPr id="7" name="Text 5"/>
          <p:cNvSpPr txBox="1"/>
          <p:nvPr/>
        </p:nvSpPr>
        <p:spPr>
          <a:xfrm>
            <a:off x="2468880" y="160020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Repaso del día 2 y modelo de seguridad</a:t>
            </a:r>
            <a:endParaRPr lang="en-US" sz="1400" dirty="0"/>
          </a:p>
        </p:txBody>
      </p:sp>
      <p:sp>
        <p:nvSpPr>
          <p:cNvPr id="8" name="Shape 6"/>
          <p:cNvSpPr/>
          <p:nvPr/>
        </p:nvSpPr>
        <p:spPr>
          <a:xfrm>
            <a:off x="548640" y="2148840"/>
            <a:ext cx="5364328" cy="457200"/>
          </a:xfrm>
          <a:prstGeom prst="roundRect">
            <a:avLst>
              <a:gd name="adj" fmla="val 12000"/>
            </a:avLst>
          </a:prstGeom>
          <a:solidFill>
            <a:srgbClr val="FFFFFF"/>
          </a:solidFill>
          <a:ln w="12700">
            <a:solidFill>
              <a:srgbClr val="D5DDD9"/>
            </a:solidFill>
            <a:prstDash val="solid"/>
          </a:ln>
        </p:spPr>
      </p:sp>
      <p:sp>
        <p:nvSpPr>
          <p:cNvPr id="9" name="Text 7"/>
          <p:cNvSpPr txBox="1"/>
          <p:nvPr/>
        </p:nvSpPr>
        <p:spPr>
          <a:xfrm>
            <a:off x="685800" y="21488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0:10</a:t>
            </a:r>
            <a:endParaRPr lang="en-US" sz="1300" dirty="0"/>
          </a:p>
        </p:txBody>
      </p:sp>
      <p:sp>
        <p:nvSpPr>
          <p:cNvPr id="10" name="Shape 8"/>
          <p:cNvSpPr/>
          <p:nvPr/>
        </p:nvSpPr>
        <p:spPr>
          <a:xfrm>
            <a:off x="1463040" y="2240280"/>
            <a:ext cx="868680" cy="274320"/>
          </a:xfrm>
          <a:prstGeom prst="roundRect">
            <a:avLst>
              <a:gd name="adj" fmla="val 50000"/>
            </a:avLst>
          </a:prstGeom>
          <a:solidFill>
            <a:srgbClr val="1F7A4D"/>
          </a:solidFill>
          <a:ln w="12700">
            <a:solidFill>
              <a:srgbClr val="1F7A4D"/>
            </a:solidFill>
            <a:prstDash val="solid"/>
          </a:ln>
        </p:spPr>
      </p:sp>
      <p:sp>
        <p:nvSpPr>
          <p:cNvPr id="11" name="Text 9"/>
          <p:cNvSpPr txBox="1"/>
          <p:nvPr/>
        </p:nvSpPr>
        <p:spPr>
          <a:xfrm>
            <a:off x="1463040" y="224028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12" name="Text 10"/>
          <p:cNvSpPr txBox="1"/>
          <p:nvPr/>
        </p:nvSpPr>
        <p:spPr>
          <a:xfrm>
            <a:off x="2468880" y="214884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8 · Autenticación y membresía interna</a:t>
            </a:r>
            <a:endParaRPr lang="en-US" sz="1400" dirty="0"/>
          </a:p>
        </p:txBody>
      </p:sp>
      <p:sp>
        <p:nvSpPr>
          <p:cNvPr id="13" name="Shape 11"/>
          <p:cNvSpPr/>
          <p:nvPr/>
        </p:nvSpPr>
        <p:spPr>
          <a:xfrm>
            <a:off x="548640" y="2697480"/>
            <a:ext cx="5364328" cy="457200"/>
          </a:xfrm>
          <a:prstGeom prst="roundRect">
            <a:avLst>
              <a:gd name="adj" fmla="val 12000"/>
            </a:avLst>
          </a:prstGeom>
          <a:solidFill>
            <a:srgbClr val="F4F9F6"/>
          </a:solidFill>
          <a:ln w="12700">
            <a:solidFill>
              <a:srgbClr val="D5DDD9"/>
            </a:solidFill>
            <a:prstDash val="solid"/>
          </a:ln>
        </p:spPr>
      </p:sp>
      <p:sp>
        <p:nvSpPr>
          <p:cNvPr id="14" name="Text 12"/>
          <p:cNvSpPr txBox="1"/>
          <p:nvPr/>
        </p:nvSpPr>
        <p:spPr>
          <a:xfrm>
            <a:off x="685800" y="26974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0:55</a:t>
            </a:r>
            <a:endParaRPr lang="en-US" sz="1300" dirty="0"/>
          </a:p>
        </p:txBody>
      </p:sp>
      <p:sp>
        <p:nvSpPr>
          <p:cNvPr id="15" name="Shape 13"/>
          <p:cNvSpPr/>
          <p:nvPr/>
        </p:nvSpPr>
        <p:spPr>
          <a:xfrm>
            <a:off x="1463040" y="2788920"/>
            <a:ext cx="868680" cy="274320"/>
          </a:xfrm>
          <a:prstGeom prst="roundRect">
            <a:avLst>
              <a:gd name="adj" fmla="val 50000"/>
            </a:avLst>
          </a:prstGeom>
          <a:solidFill>
            <a:srgbClr val="1F7A4D"/>
          </a:solidFill>
          <a:ln w="12700">
            <a:solidFill>
              <a:srgbClr val="1F7A4D"/>
            </a:solidFill>
            <a:prstDash val="solid"/>
          </a:ln>
        </p:spPr>
      </p:sp>
      <p:sp>
        <p:nvSpPr>
          <p:cNvPr id="16" name="Text 14"/>
          <p:cNvSpPr txBox="1"/>
          <p:nvPr/>
        </p:nvSpPr>
        <p:spPr>
          <a:xfrm>
            <a:off x="1463040" y="278892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17" name="Text 15"/>
          <p:cNvSpPr txBox="1"/>
          <p:nvPr/>
        </p:nvSpPr>
        <p:spPr>
          <a:xfrm>
            <a:off x="2468880" y="269748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9 · Usuarios, roles y límites de recursos</a:t>
            </a:r>
            <a:endParaRPr lang="en-US" sz="1400" dirty="0"/>
          </a:p>
        </p:txBody>
      </p:sp>
      <p:sp>
        <p:nvSpPr>
          <p:cNvPr id="18" name="Shape 16"/>
          <p:cNvSpPr/>
          <p:nvPr/>
        </p:nvSpPr>
        <p:spPr>
          <a:xfrm>
            <a:off x="548640" y="3246120"/>
            <a:ext cx="5364328" cy="457200"/>
          </a:xfrm>
          <a:prstGeom prst="roundRect">
            <a:avLst>
              <a:gd name="adj" fmla="val 12000"/>
            </a:avLst>
          </a:prstGeom>
          <a:solidFill>
            <a:srgbClr val="FFFFFF"/>
          </a:solidFill>
          <a:ln w="12700">
            <a:solidFill>
              <a:srgbClr val="D5DDD9"/>
            </a:solidFill>
            <a:prstDash val="solid"/>
          </a:ln>
        </p:spPr>
      </p:sp>
      <p:sp>
        <p:nvSpPr>
          <p:cNvPr id="19" name="Text 17"/>
          <p:cNvSpPr txBox="1"/>
          <p:nvPr/>
        </p:nvSpPr>
        <p:spPr>
          <a:xfrm>
            <a:off x="685800" y="324612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1:20</a:t>
            </a:r>
            <a:endParaRPr lang="en-US" sz="1300" dirty="0"/>
          </a:p>
        </p:txBody>
      </p:sp>
      <p:sp>
        <p:nvSpPr>
          <p:cNvPr id="20" name="Shape 18"/>
          <p:cNvSpPr/>
          <p:nvPr/>
        </p:nvSpPr>
        <p:spPr>
          <a:xfrm>
            <a:off x="1463040" y="3337560"/>
            <a:ext cx="868680" cy="274320"/>
          </a:xfrm>
          <a:prstGeom prst="roundRect">
            <a:avLst>
              <a:gd name="adj" fmla="val 50000"/>
            </a:avLst>
          </a:prstGeom>
          <a:solidFill>
            <a:srgbClr val="F2B33D"/>
          </a:solidFill>
          <a:ln w="12700">
            <a:solidFill>
              <a:srgbClr val="F2B33D"/>
            </a:solidFill>
            <a:prstDash val="solid"/>
          </a:ln>
        </p:spPr>
      </p:sp>
      <p:sp>
        <p:nvSpPr>
          <p:cNvPr id="21" name="Text 19"/>
          <p:cNvSpPr txBox="1"/>
          <p:nvPr/>
        </p:nvSpPr>
        <p:spPr>
          <a:xfrm>
            <a:off x="1463040" y="333756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22" name="Text 20"/>
          <p:cNvSpPr txBox="1"/>
          <p:nvPr/>
        </p:nvSpPr>
        <p:spPr>
          <a:xfrm>
            <a:off x="2468880" y="324612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08 · Usuarios, roles, restricciones y límites</a:t>
            </a:r>
            <a:endParaRPr lang="en-US" sz="1400" dirty="0"/>
          </a:p>
        </p:txBody>
      </p:sp>
      <p:sp>
        <p:nvSpPr>
          <p:cNvPr id="23" name="Shape 21"/>
          <p:cNvSpPr/>
          <p:nvPr/>
        </p:nvSpPr>
        <p:spPr>
          <a:xfrm>
            <a:off x="548640" y="3794760"/>
            <a:ext cx="5364328" cy="457200"/>
          </a:xfrm>
          <a:prstGeom prst="roundRect">
            <a:avLst>
              <a:gd name="adj" fmla="val 12000"/>
            </a:avLst>
          </a:prstGeom>
          <a:solidFill>
            <a:srgbClr val="F4F9F6"/>
          </a:solidFill>
          <a:ln w="12700">
            <a:solidFill>
              <a:srgbClr val="D5DDD9"/>
            </a:solidFill>
            <a:prstDash val="solid"/>
          </a:ln>
        </p:spPr>
      </p:sp>
      <p:sp>
        <p:nvSpPr>
          <p:cNvPr id="24" name="Text 22"/>
          <p:cNvSpPr txBox="1"/>
          <p:nvPr/>
        </p:nvSpPr>
        <p:spPr>
          <a:xfrm>
            <a:off x="685800" y="379476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1:55</a:t>
            </a:r>
            <a:endParaRPr lang="en-US" sz="1300" dirty="0"/>
          </a:p>
        </p:txBody>
      </p:sp>
      <p:sp>
        <p:nvSpPr>
          <p:cNvPr id="25" name="Shape 23"/>
          <p:cNvSpPr/>
          <p:nvPr/>
        </p:nvSpPr>
        <p:spPr>
          <a:xfrm>
            <a:off x="1463040" y="3886200"/>
            <a:ext cx="868680" cy="274320"/>
          </a:xfrm>
          <a:prstGeom prst="roundRect">
            <a:avLst>
              <a:gd name="adj" fmla="val 50000"/>
            </a:avLst>
          </a:prstGeom>
          <a:solidFill>
            <a:srgbClr val="D5DDD9"/>
          </a:solidFill>
          <a:ln w="12700">
            <a:solidFill>
              <a:srgbClr val="D5DDD9"/>
            </a:solidFill>
            <a:prstDash val="solid"/>
          </a:ln>
        </p:spPr>
      </p:sp>
      <p:sp>
        <p:nvSpPr>
          <p:cNvPr id="26" name="Text 24"/>
          <p:cNvSpPr txBox="1"/>
          <p:nvPr/>
        </p:nvSpPr>
        <p:spPr>
          <a:xfrm>
            <a:off x="1463040" y="388620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PAUSA</a:t>
            </a:r>
            <a:endParaRPr lang="en-US" sz="1000" dirty="0"/>
          </a:p>
        </p:txBody>
      </p:sp>
      <p:sp>
        <p:nvSpPr>
          <p:cNvPr id="27" name="Text 25"/>
          <p:cNvSpPr txBox="1"/>
          <p:nvPr/>
        </p:nvSpPr>
        <p:spPr>
          <a:xfrm>
            <a:off x="2468880" y="379476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Descanso</a:t>
            </a:r>
            <a:endParaRPr lang="en-US" sz="1400" dirty="0"/>
          </a:p>
        </p:txBody>
      </p:sp>
      <p:sp>
        <p:nvSpPr>
          <p:cNvPr id="28" name="Shape 26"/>
          <p:cNvSpPr/>
          <p:nvPr/>
        </p:nvSpPr>
        <p:spPr>
          <a:xfrm>
            <a:off x="6278728" y="1600200"/>
            <a:ext cx="5364328" cy="457200"/>
          </a:xfrm>
          <a:prstGeom prst="roundRect">
            <a:avLst>
              <a:gd name="adj" fmla="val 12000"/>
            </a:avLst>
          </a:prstGeom>
          <a:solidFill>
            <a:srgbClr val="F4F9F6"/>
          </a:solidFill>
          <a:ln w="12700">
            <a:solidFill>
              <a:srgbClr val="D5DDD9"/>
            </a:solidFill>
            <a:prstDash val="solid"/>
          </a:ln>
        </p:spPr>
      </p:sp>
      <p:sp>
        <p:nvSpPr>
          <p:cNvPr id="29" name="Text 27"/>
          <p:cNvSpPr txBox="1"/>
          <p:nvPr/>
        </p:nvSpPr>
        <p:spPr>
          <a:xfrm>
            <a:off x="6415888" y="16002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2:10</a:t>
            </a:r>
            <a:endParaRPr lang="en-US" sz="1300" dirty="0"/>
          </a:p>
        </p:txBody>
      </p:sp>
      <p:sp>
        <p:nvSpPr>
          <p:cNvPr id="30" name="Shape 28"/>
          <p:cNvSpPr/>
          <p:nvPr/>
        </p:nvSpPr>
        <p:spPr>
          <a:xfrm>
            <a:off x="7193128" y="1691640"/>
            <a:ext cx="868680" cy="274320"/>
          </a:xfrm>
          <a:prstGeom prst="roundRect">
            <a:avLst>
              <a:gd name="adj" fmla="val 50000"/>
            </a:avLst>
          </a:prstGeom>
          <a:solidFill>
            <a:srgbClr val="1F7A4D"/>
          </a:solidFill>
          <a:ln w="12700">
            <a:solidFill>
              <a:srgbClr val="1F7A4D"/>
            </a:solidFill>
            <a:prstDash val="solid"/>
          </a:ln>
        </p:spPr>
      </p:sp>
      <p:sp>
        <p:nvSpPr>
          <p:cNvPr id="31" name="Text 29"/>
          <p:cNvSpPr txBox="1"/>
          <p:nvPr/>
        </p:nvSpPr>
        <p:spPr>
          <a:xfrm>
            <a:off x="7193128" y="169164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32" name="Text 30"/>
          <p:cNvSpPr txBox="1"/>
          <p:nvPr/>
        </p:nvSpPr>
        <p:spPr>
          <a:xfrm>
            <a:off x="8198968" y="160020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10 · TLS y migración a TLS</a:t>
            </a:r>
            <a:endParaRPr lang="en-US" sz="1400" dirty="0"/>
          </a:p>
        </p:txBody>
      </p:sp>
      <p:sp>
        <p:nvSpPr>
          <p:cNvPr id="33" name="Shape 31"/>
          <p:cNvSpPr/>
          <p:nvPr/>
        </p:nvSpPr>
        <p:spPr>
          <a:xfrm>
            <a:off x="6278728" y="2148840"/>
            <a:ext cx="5364328" cy="457200"/>
          </a:xfrm>
          <a:prstGeom prst="roundRect">
            <a:avLst>
              <a:gd name="adj" fmla="val 12000"/>
            </a:avLst>
          </a:prstGeom>
          <a:solidFill>
            <a:srgbClr val="FFFFFF"/>
          </a:solidFill>
          <a:ln w="12700">
            <a:solidFill>
              <a:srgbClr val="D5DDD9"/>
            </a:solidFill>
            <a:prstDash val="solid"/>
          </a:ln>
        </p:spPr>
      </p:sp>
      <p:sp>
        <p:nvSpPr>
          <p:cNvPr id="34" name="Text 32"/>
          <p:cNvSpPr txBox="1"/>
          <p:nvPr/>
        </p:nvSpPr>
        <p:spPr>
          <a:xfrm>
            <a:off x="6415888" y="21488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2:35</a:t>
            </a:r>
            <a:endParaRPr lang="en-US" sz="1300" dirty="0"/>
          </a:p>
        </p:txBody>
      </p:sp>
      <p:sp>
        <p:nvSpPr>
          <p:cNvPr id="35" name="Shape 33"/>
          <p:cNvSpPr/>
          <p:nvPr/>
        </p:nvSpPr>
        <p:spPr>
          <a:xfrm>
            <a:off x="7193128" y="2240280"/>
            <a:ext cx="868680" cy="274320"/>
          </a:xfrm>
          <a:prstGeom prst="roundRect">
            <a:avLst>
              <a:gd name="adj" fmla="val 50000"/>
            </a:avLst>
          </a:prstGeom>
          <a:solidFill>
            <a:srgbClr val="F2B33D"/>
          </a:solidFill>
          <a:ln w="12700">
            <a:solidFill>
              <a:srgbClr val="F2B33D"/>
            </a:solidFill>
            <a:prstDash val="solid"/>
          </a:ln>
        </p:spPr>
      </p:sp>
      <p:sp>
        <p:nvSpPr>
          <p:cNvPr id="36" name="Text 34"/>
          <p:cNvSpPr txBox="1"/>
          <p:nvPr/>
        </p:nvSpPr>
        <p:spPr>
          <a:xfrm>
            <a:off x="7193128" y="224028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37" name="Text 35"/>
          <p:cNvSpPr txBox="1"/>
          <p:nvPr/>
        </p:nvSpPr>
        <p:spPr>
          <a:xfrm>
            <a:off x="8198968" y="214884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09 · Migración rolling a TLS y x.509</a:t>
            </a:r>
            <a:endParaRPr lang="en-US" sz="1400" dirty="0"/>
          </a:p>
        </p:txBody>
      </p:sp>
      <p:sp>
        <p:nvSpPr>
          <p:cNvPr id="38" name="Shape 36"/>
          <p:cNvSpPr/>
          <p:nvPr/>
        </p:nvSpPr>
        <p:spPr>
          <a:xfrm>
            <a:off x="6278728" y="2697480"/>
            <a:ext cx="5364328" cy="457200"/>
          </a:xfrm>
          <a:prstGeom prst="roundRect">
            <a:avLst>
              <a:gd name="adj" fmla="val 12000"/>
            </a:avLst>
          </a:prstGeom>
          <a:solidFill>
            <a:srgbClr val="F4F9F6"/>
          </a:solidFill>
          <a:ln w="12700">
            <a:solidFill>
              <a:srgbClr val="D5DDD9"/>
            </a:solidFill>
            <a:prstDash val="solid"/>
          </a:ln>
        </p:spPr>
      </p:sp>
      <p:sp>
        <p:nvSpPr>
          <p:cNvPr id="39" name="Text 37"/>
          <p:cNvSpPr txBox="1"/>
          <p:nvPr/>
        </p:nvSpPr>
        <p:spPr>
          <a:xfrm>
            <a:off x="6415888" y="26974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3:15</a:t>
            </a:r>
            <a:endParaRPr lang="en-US" sz="1300" dirty="0"/>
          </a:p>
        </p:txBody>
      </p:sp>
      <p:sp>
        <p:nvSpPr>
          <p:cNvPr id="40" name="Shape 38"/>
          <p:cNvSpPr/>
          <p:nvPr/>
        </p:nvSpPr>
        <p:spPr>
          <a:xfrm>
            <a:off x="7193128" y="2788920"/>
            <a:ext cx="868680" cy="274320"/>
          </a:xfrm>
          <a:prstGeom prst="roundRect">
            <a:avLst>
              <a:gd name="adj" fmla="val 50000"/>
            </a:avLst>
          </a:prstGeom>
          <a:solidFill>
            <a:srgbClr val="1F7A4D"/>
          </a:solidFill>
          <a:ln w="12700">
            <a:solidFill>
              <a:srgbClr val="1F7A4D"/>
            </a:solidFill>
            <a:prstDash val="solid"/>
          </a:ln>
        </p:spPr>
      </p:sp>
      <p:sp>
        <p:nvSpPr>
          <p:cNvPr id="41" name="Text 39"/>
          <p:cNvSpPr txBox="1"/>
          <p:nvPr/>
        </p:nvSpPr>
        <p:spPr>
          <a:xfrm>
            <a:off x="7193128" y="278892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42" name="Text 40"/>
          <p:cNvSpPr txBox="1"/>
          <p:nvPr/>
        </p:nvSpPr>
        <p:spPr>
          <a:xfrm>
            <a:off x="8198968" y="269748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11 · Auditoría y cifrado en reposo</a:t>
            </a:r>
            <a:endParaRPr lang="en-US" sz="1400" dirty="0"/>
          </a:p>
        </p:txBody>
      </p:sp>
      <p:sp>
        <p:nvSpPr>
          <p:cNvPr id="43" name="Shape 41"/>
          <p:cNvSpPr/>
          <p:nvPr/>
        </p:nvSpPr>
        <p:spPr>
          <a:xfrm>
            <a:off x="6278728" y="3246120"/>
            <a:ext cx="5364328" cy="457200"/>
          </a:xfrm>
          <a:prstGeom prst="roundRect">
            <a:avLst>
              <a:gd name="adj" fmla="val 12000"/>
            </a:avLst>
          </a:prstGeom>
          <a:solidFill>
            <a:srgbClr val="FFFFFF"/>
          </a:solidFill>
          <a:ln w="12700">
            <a:solidFill>
              <a:srgbClr val="D5DDD9"/>
            </a:solidFill>
            <a:prstDash val="solid"/>
          </a:ln>
        </p:spPr>
      </p:sp>
      <p:sp>
        <p:nvSpPr>
          <p:cNvPr id="44" name="Text 42"/>
          <p:cNvSpPr txBox="1"/>
          <p:nvPr/>
        </p:nvSpPr>
        <p:spPr>
          <a:xfrm>
            <a:off x="6415888" y="324612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3:35</a:t>
            </a:r>
            <a:endParaRPr lang="en-US" sz="1300" dirty="0"/>
          </a:p>
        </p:txBody>
      </p:sp>
      <p:sp>
        <p:nvSpPr>
          <p:cNvPr id="45" name="Shape 43"/>
          <p:cNvSpPr/>
          <p:nvPr/>
        </p:nvSpPr>
        <p:spPr>
          <a:xfrm>
            <a:off x="7193128" y="3337560"/>
            <a:ext cx="868680" cy="274320"/>
          </a:xfrm>
          <a:prstGeom prst="roundRect">
            <a:avLst>
              <a:gd name="adj" fmla="val 50000"/>
            </a:avLst>
          </a:prstGeom>
          <a:solidFill>
            <a:srgbClr val="F2B33D"/>
          </a:solidFill>
          <a:ln w="12700">
            <a:solidFill>
              <a:srgbClr val="F2B33D"/>
            </a:solidFill>
            <a:prstDash val="solid"/>
          </a:ln>
        </p:spPr>
      </p:sp>
      <p:sp>
        <p:nvSpPr>
          <p:cNvPr id="46" name="Text 44"/>
          <p:cNvSpPr txBox="1"/>
          <p:nvPr/>
        </p:nvSpPr>
        <p:spPr>
          <a:xfrm>
            <a:off x="7193128" y="333756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47" name="Text 45"/>
          <p:cNvSpPr txBox="1"/>
          <p:nvPr/>
        </p:nvSpPr>
        <p:spPr>
          <a:xfrm>
            <a:off x="8198968" y="324612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10 · Auditoría y cifrado con Percona Server</a:t>
            </a:r>
            <a:endParaRPr lang="en-US" sz="1400" dirty="0"/>
          </a:p>
        </p:txBody>
      </p:sp>
      <p:sp>
        <p:nvSpPr>
          <p:cNvPr id="48" name="Text 46"/>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49" name="Text 47"/>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 / 32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Repaso del día 2</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El oplog es </a:t>
            </a:r>
            <a:r>
              <a:rPr lang="en-US" sz="2000" b="1" dirty="0">
                <a:solidFill>
                  <a:srgbClr val="1C2B27"/>
                </a:solidFill>
                <a:latin typeface="Calibri" pitchFamily="34" charset="0"/>
                <a:ea typeface="Calibri" pitchFamily="34" charset="-122"/>
                <a:cs typeface="Calibri" pitchFamily="34" charset="-120"/>
              </a:rPr>
              <a:t>idempotente</a:t>
            </a:r>
            <a:r>
              <a:rPr lang="en-US" sz="2000" dirty="0">
                <a:solidFill>
                  <a:srgbClr val="1C2B27"/>
                </a:solidFill>
                <a:latin typeface="Calibri" pitchFamily="34" charset="0"/>
                <a:ea typeface="Calibri" pitchFamily="34" charset="-122"/>
                <a:cs typeface="Calibri" pitchFamily="34" charset="-120"/>
              </a:rPr>
              <a:t>: una entrada por documento modificado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Mayorías: número </a:t>
            </a:r>
            <a:r>
              <a:rPr lang="en-US" sz="2000" b="1" dirty="0">
                <a:solidFill>
                  <a:srgbClr val="1C2B27"/>
                </a:solidFill>
                <a:latin typeface="Calibri" pitchFamily="34" charset="0"/>
                <a:ea typeface="Calibri" pitchFamily="34" charset="-122"/>
                <a:cs typeface="Calibri" pitchFamily="34" charset="-120"/>
              </a:rPr>
              <a:t>impar</a:t>
            </a:r>
            <a:r>
              <a:rPr lang="en-US" sz="2000" dirty="0">
                <a:solidFill>
                  <a:srgbClr val="1C2B27"/>
                </a:solidFill>
                <a:latin typeface="Calibri" pitchFamily="34" charset="0"/>
                <a:ea typeface="Calibri" pitchFamily="34" charset="-122"/>
                <a:cs typeface="Calibri" pitchFamily="34" charset="-120"/>
              </a:rPr>
              <a:t> de votos; con dos CPD, uno siempre decide</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w: majority</a:t>
            </a:r>
            <a:r>
              <a:rPr lang="en-US" sz="2000" dirty="0">
                <a:solidFill>
                  <a:srgbClr val="1C2B27"/>
                </a:solidFill>
                <a:latin typeface="Calibri" pitchFamily="34" charset="0"/>
                <a:ea typeface="Calibri" pitchFamily="34" charset="-122"/>
                <a:cs typeface="Calibri" pitchFamily="34" charset="-120"/>
              </a:rPr>
              <a:t> evita rollbacks; </a:t>
            </a:r>
            <a:r>
              <a:rPr lang="en-US" sz="2000" b="1" dirty="0">
                <a:solidFill>
                  <a:srgbClr val="1C2B27"/>
                </a:solidFill>
                <a:latin typeface="Calibri" pitchFamily="34" charset="0"/>
                <a:ea typeface="Calibri" pitchFamily="34" charset="-122"/>
                <a:cs typeface="Calibri" pitchFamily="34" charset="-120"/>
              </a:rPr>
              <a:t>wtimeout</a:t>
            </a:r>
            <a:r>
              <a:rPr lang="en-US" sz="2000" dirty="0">
                <a:solidFill>
                  <a:srgbClr val="1C2B27"/>
                </a:solidFill>
                <a:latin typeface="Calibri" pitchFamily="34" charset="0"/>
                <a:ea typeface="Calibri" pitchFamily="34" charset="-122"/>
                <a:cs typeface="Calibri" pitchFamily="34" charset="-120"/>
              </a:rPr>
              <a:t> no deshace la escritura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Failover no planificado: </a:t>
            </a:r>
            <a:r>
              <a:rPr lang="en-US" sz="2000" b="1" dirty="0">
                <a:solidFill>
                  <a:srgbClr val="1C2B27"/>
                </a:solidFill>
                <a:latin typeface="Calibri" pitchFamily="34" charset="0"/>
                <a:ea typeface="Calibri" pitchFamily="34" charset="-122"/>
                <a:cs typeface="Calibri" pitchFamily="34" charset="-120"/>
              </a:rPr>
              <a:t>10-15 s</a:t>
            </a:r>
            <a:r>
              <a:rPr lang="en-US" sz="2000" dirty="0">
                <a:solidFill>
                  <a:srgbClr val="1C2B27"/>
                </a:solidFill>
                <a:latin typeface="Calibri" pitchFamily="34" charset="0"/>
                <a:ea typeface="Calibri" pitchFamily="34" charset="-122"/>
                <a:cs typeface="Calibri" pitchFamily="34" charset="-120"/>
              </a:rPr>
              <a:t>; stepDown planificado: </a:t>
            </a:r>
            <a:r>
              <a:rPr lang="en-US" sz="2000" b="1" dirty="0">
                <a:solidFill>
                  <a:srgbClr val="1C2B27"/>
                </a:solidFill>
                <a:latin typeface="Calibri" pitchFamily="34" charset="0"/>
                <a:ea typeface="Calibri" pitchFamily="34" charset="-122"/>
                <a:cs typeface="Calibri" pitchFamily="34" charset="-120"/>
              </a:rPr>
              <a:t>1-2 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Mantenimiento </a:t>
            </a:r>
            <a:r>
              <a:rPr lang="en-US" sz="2000" b="1" dirty="0">
                <a:solidFill>
                  <a:srgbClr val="1C2B27"/>
                </a:solidFill>
                <a:latin typeface="Calibri" pitchFamily="34" charset="0"/>
                <a:ea typeface="Calibri" pitchFamily="34" charset="-122"/>
                <a:cs typeface="Calibri" pitchFamily="34" charset="-120"/>
              </a:rPr>
              <a:t>rolling</a:t>
            </a:r>
            <a:r>
              <a:rPr lang="en-US" sz="2000" dirty="0">
                <a:solidFill>
                  <a:srgbClr val="1C2B27"/>
                </a:solidFill>
                <a:latin typeface="Calibri" pitchFamily="34" charset="0"/>
                <a:ea typeface="Calibri" pitchFamily="34" charset="-122"/>
                <a:cs typeface="Calibri" pitchFamily="34" charset="-120"/>
              </a:rPr>
              <a:t>: secundarios uno a uno, stepDown, antiguo primario</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Pregunta rápida</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Una aplicación escribe con w: 1 y el primario cae. Al volver, en su directorio de datos aparece una carpeta rollback/. ¿Qué ha pasado y cómo se habría evitado?</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 / 32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Seguridad en capas</a:t>
            </a:r>
            <a:endParaRPr lang="en-US" sz="3200" dirty="0"/>
          </a:p>
        </p:txBody>
      </p:sp>
      <p:sp>
        <p:nvSpPr>
          <p:cNvPr id="3" name="Shape 1"/>
          <p:cNvSpPr/>
          <p:nvPr/>
        </p:nvSpPr>
        <p:spPr>
          <a:xfrm>
            <a:off x="548640"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1F7A4D"/>
          </a:solidFill>
          <a:ln w="12700">
            <a:solidFill>
              <a:srgbClr val="1F7A4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17320"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Red</a:t>
            </a:r>
            <a:endParaRPr lang="en-US" sz="1800" dirty="0"/>
          </a:p>
        </p:txBody>
      </p:sp>
      <p:sp>
        <p:nvSpPr>
          <p:cNvPr id="7" name="Text 5"/>
          <p:cNvSpPr txBox="1"/>
          <p:nvPr/>
        </p:nvSpPr>
        <p:spPr>
          <a:xfrm>
            <a:off x="777240" y="237744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bindIp, firewall, redes privadas, sin exposición a internet. La primera barrera y la más barata.</a:t>
            </a:r>
            <a:endParaRPr lang="en-US" sz="1600" dirty="0"/>
          </a:p>
        </p:txBody>
      </p:sp>
      <p:sp>
        <p:nvSpPr>
          <p:cNvPr id="8" name="Shape 6"/>
          <p:cNvSpPr/>
          <p:nvPr/>
        </p:nvSpPr>
        <p:spPr>
          <a:xfrm>
            <a:off x="4338218"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66818" y="1737360"/>
            <a:ext cx="502920" cy="502920"/>
          </a:xfrm>
          <a:prstGeom prst="ellipse">
            <a:avLst/>
          </a:prstGeom>
          <a:solidFill>
            <a:srgbClr val="F2B33D"/>
          </a:solidFill>
          <a:ln w="12700">
            <a:solidFill>
              <a:srgbClr val="F2B33D"/>
            </a:solidFill>
            <a:prstDash val="solid"/>
          </a:ln>
        </p:spPr>
      </p:sp>
      <p:sp>
        <p:nvSpPr>
          <p:cNvPr id="10" name="Text 8"/>
          <p:cNvSpPr txBox="1"/>
          <p:nvPr/>
        </p:nvSpPr>
        <p:spPr>
          <a:xfrm>
            <a:off x="4566818"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5206898"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Autenticación</a:t>
            </a:r>
            <a:endParaRPr lang="en-US" sz="1800" dirty="0"/>
          </a:p>
        </p:txBody>
      </p:sp>
      <p:sp>
        <p:nvSpPr>
          <p:cNvPr id="12" name="Text 10"/>
          <p:cNvSpPr txBox="1"/>
          <p:nvPr/>
        </p:nvSpPr>
        <p:spPr>
          <a:xfrm>
            <a:off x="4566818" y="237744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¿Quién eres? SCRAM, x.509, LDAP, Kerberos. Y membresía interna entre los nodos del cluster.</a:t>
            </a:r>
            <a:endParaRPr lang="en-US" sz="1600" dirty="0"/>
          </a:p>
        </p:txBody>
      </p:sp>
      <p:sp>
        <p:nvSpPr>
          <p:cNvPr id="13" name="Shape 11"/>
          <p:cNvSpPr/>
          <p:nvPr/>
        </p:nvSpPr>
        <p:spPr>
          <a:xfrm>
            <a:off x="8127797"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8356397" y="1737360"/>
            <a:ext cx="502920" cy="502920"/>
          </a:xfrm>
          <a:prstGeom prst="ellipse">
            <a:avLst/>
          </a:prstGeom>
          <a:solidFill>
            <a:srgbClr val="F2B33D"/>
          </a:solidFill>
          <a:ln w="12700">
            <a:solidFill>
              <a:srgbClr val="F2B33D"/>
            </a:solidFill>
            <a:prstDash val="solid"/>
          </a:ln>
        </p:spPr>
      </p:sp>
      <p:sp>
        <p:nvSpPr>
          <p:cNvPr id="15" name="Text 13"/>
          <p:cNvSpPr txBox="1"/>
          <p:nvPr/>
        </p:nvSpPr>
        <p:spPr>
          <a:xfrm>
            <a:off x="8356397"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8996477"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Autorización</a:t>
            </a:r>
            <a:endParaRPr lang="en-US" sz="1800" dirty="0"/>
          </a:p>
        </p:txBody>
      </p:sp>
      <p:sp>
        <p:nvSpPr>
          <p:cNvPr id="17" name="Text 15"/>
          <p:cNvSpPr txBox="1"/>
          <p:nvPr/>
        </p:nvSpPr>
        <p:spPr>
          <a:xfrm>
            <a:off x="8356397" y="237744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¿Qué puedes hacer? Roles predefinidos y personalizados, mínimo privilegio, restricciones de origen.</a:t>
            </a:r>
            <a:endParaRPr lang="en-US" sz="1600" dirty="0"/>
          </a:p>
        </p:txBody>
      </p:sp>
      <p:sp>
        <p:nvSpPr>
          <p:cNvPr id="18" name="Shape 16"/>
          <p:cNvSpPr/>
          <p:nvPr/>
        </p:nvSpPr>
        <p:spPr>
          <a:xfrm>
            <a:off x="548640"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777240" y="4206240"/>
            <a:ext cx="502920" cy="502920"/>
          </a:xfrm>
          <a:prstGeom prst="ellipse">
            <a:avLst/>
          </a:prstGeom>
          <a:solidFill>
            <a:srgbClr val="1F7A4D"/>
          </a:solidFill>
          <a:ln w="12700">
            <a:solidFill>
              <a:srgbClr val="1F7A4D"/>
            </a:solidFill>
            <a:prstDash val="solid"/>
          </a:ln>
        </p:spPr>
      </p:sp>
      <p:sp>
        <p:nvSpPr>
          <p:cNvPr id="20" name="Text 18"/>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1417320"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Cifrado en tránsito</a:t>
            </a:r>
            <a:endParaRPr lang="en-US" sz="1800" dirty="0"/>
          </a:p>
        </p:txBody>
      </p:sp>
      <p:sp>
        <p:nvSpPr>
          <p:cNvPr id="22" name="Text 20"/>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TLS entre clientes y servidores y entre los propios miembros del cluster.</a:t>
            </a:r>
            <a:endParaRPr lang="en-US" sz="1600" dirty="0"/>
          </a:p>
        </p:txBody>
      </p:sp>
      <p:sp>
        <p:nvSpPr>
          <p:cNvPr id="23" name="Shape 21"/>
          <p:cNvSpPr/>
          <p:nvPr/>
        </p:nvSpPr>
        <p:spPr>
          <a:xfrm>
            <a:off x="4338218"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4206240"/>
            <a:ext cx="502920" cy="502920"/>
          </a:xfrm>
          <a:prstGeom prst="ellipse">
            <a:avLst/>
          </a:prstGeom>
          <a:solidFill>
            <a:srgbClr val="1F7A4D"/>
          </a:solidFill>
          <a:ln w="12700">
            <a:solidFill>
              <a:srgbClr val="1F7A4D"/>
            </a:solidFill>
            <a:prstDash val="solid"/>
          </a:ln>
        </p:spPr>
      </p:sp>
      <p:sp>
        <p:nvSpPr>
          <p:cNvPr id="25" name="Text 23"/>
          <p:cNvSpPr txBox="1"/>
          <p:nvPr/>
        </p:nvSpPr>
        <p:spPr>
          <a:xfrm>
            <a:off x="4566818"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6" name="Text 24"/>
          <p:cNvSpPr txBox="1"/>
          <p:nvPr/>
        </p:nvSpPr>
        <p:spPr>
          <a:xfrm>
            <a:off x="5206898"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Cifrado en reposo</a:t>
            </a:r>
            <a:endParaRPr lang="en-US" sz="1800" dirty="0"/>
          </a:p>
        </p:txBody>
      </p:sp>
      <p:sp>
        <p:nvSpPr>
          <p:cNvPr id="27" name="Text 25"/>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Ficheros de datos, journal y backups ilegibles sin la clave. Enterprise o Percona Server.</a:t>
            </a:r>
            <a:endParaRPr lang="en-US" sz="1600" dirty="0"/>
          </a:p>
        </p:txBody>
      </p:sp>
      <p:sp>
        <p:nvSpPr>
          <p:cNvPr id="28" name="Shape 26"/>
          <p:cNvSpPr/>
          <p:nvPr/>
        </p:nvSpPr>
        <p:spPr>
          <a:xfrm>
            <a:off x="8127797"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8356397" y="4206240"/>
            <a:ext cx="502920" cy="502920"/>
          </a:xfrm>
          <a:prstGeom prst="ellipse">
            <a:avLst/>
          </a:prstGeom>
          <a:solidFill>
            <a:srgbClr val="1F7A4D"/>
          </a:solidFill>
          <a:ln w="12700">
            <a:solidFill>
              <a:srgbClr val="1F7A4D"/>
            </a:solidFill>
            <a:prstDash val="solid"/>
          </a:ln>
        </p:spPr>
      </p:sp>
      <p:sp>
        <p:nvSpPr>
          <p:cNvPr id="30" name="Text 28"/>
          <p:cNvSpPr txBox="1"/>
          <p:nvPr/>
        </p:nvSpPr>
        <p:spPr>
          <a:xfrm>
            <a:off x="8356397"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1" name="Text 29"/>
          <p:cNvSpPr txBox="1"/>
          <p:nvPr/>
        </p:nvSpPr>
        <p:spPr>
          <a:xfrm>
            <a:off x="8996477"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Auditoría</a:t>
            </a:r>
            <a:endParaRPr lang="en-US" sz="1800" dirty="0"/>
          </a:p>
        </p:txBody>
      </p:sp>
      <p:sp>
        <p:nvSpPr>
          <p:cNvPr id="32" name="Text 30"/>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600" dirty="0">
                <a:solidFill>
                  <a:srgbClr val="1C2B27"/>
                </a:solidFill>
                <a:latin typeface="Calibri" pitchFamily="34" charset="0"/>
                <a:ea typeface="Calibri" pitchFamily="34" charset="-122"/>
                <a:cs typeface="Calibri" pitchFamily="34" charset="-120"/>
              </a:rPr>
              <a:t>Registro de quién hizo qué y cuándo. Imprescindible para cumplimiento normativo.</a:t>
            </a:r>
            <a:endParaRPr lang="en-US" sz="1600" dirty="0"/>
          </a:p>
        </p:txBody>
      </p:sp>
      <p:sp>
        <p:nvSpPr>
          <p:cNvPr id="33"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34" name="Text 3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4 / 32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8</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Autenticación</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Cómo demuestran su identidad clientes y miembros del cluster</a:t>
            </a:r>
            <a:endParaRPr lang="en-US" sz="1800" dirty="0"/>
          </a:p>
        </p:txBody>
      </p:sp>
      <p:sp>
        <p:nvSpPr>
          <p:cNvPr id="7" name="Shape 5"/>
          <p:cNvSpPr/>
          <p:nvPr/>
        </p:nvSpPr>
        <p:spPr>
          <a:xfrm>
            <a:off x="2377440" y="374904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Mecanismos disponibles</a:t>
            </a:r>
            <a:endParaRPr lang="en-US" sz="1600" dirty="0"/>
          </a:p>
        </p:txBody>
      </p:sp>
      <p:sp>
        <p:nvSpPr>
          <p:cNvPr id="9" name="Shape 7"/>
          <p:cNvSpPr/>
          <p:nvPr/>
        </p:nvSpPr>
        <p:spPr>
          <a:xfrm>
            <a:off x="5557418" y="374904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SCRAM: desafío y respuesta</a:t>
            </a:r>
            <a:endParaRPr lang="en-US" sz="1600" dirty="0"/>
          </a:p>
        </p:txBody>
      </p:sp>
      <p:sp>
        <p:nvSpPr>
          <p:cNvPr id="11" name="Shape 9"/>
          <p:cNvSpPr/>
          <p:nvPr/>
        </p:nvSpPr>
        <p:spPr>
          <a:xfrm>
            <a:off x="8737397" y="374904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Certificados x.509</a:t>
            </a:r>
            <a:endParaRPr lang="en-US" sz="1600" dirty="0"/>
          </a:p>
        </p:txBody>
      </p:sp>
      <p:sp>
        <p:nvSpPr>
          <p:cNvPr id="13" name="Shape 11"/>
          <p:cNvSpPr/>
          <p:nvPr/>
        </p:nvSpPr>
        <p:spPr>
          <a:xfrm>
            <a:off x="2377440" y="466344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LDAP y Kerberos</a:t>
            </a:r>
            <a:endParaRPr lang="en-US" sz="1600" dirty="0"/>
          </a:p>
        </p:txBody>
      </p:sp>
      <p:sp>
        <p:nvSpPr>
          <p:cNvPr id="15" name="Shape 13"/>
          <p:cNvSpPr/>
          <p:nvPr/>
        </p:nvSpPr>
        <p:spPr>
          <a:xfrm>
            <a:off x="5557418" y="466344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Membresía interna</a:t>
            </a:r>
            <a:endParaRPr lang="en-US" sz="1600" dirty="0"/>
          </a:p>
        </p:txBody>
      </p:sp>
      <p:sp>
        <p:nvSpPr>
          <p:cNvPr id="17" name="Shape 15"/>
          <p:cNvSpPr/>
          <p:nvPr/>
        </p:nvSpPr>
        <p:spPr>
          <a:xfrm>
            <a:off x="8737397" y="466344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Rotación de claves de cluster</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3 · Seguridad</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5 / 32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Mecanismos de autenticación</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2377440"/>
                <a:gridCol w="2743200"/>
                <a:gridCol w="34747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Mecanismo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Edición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Base de datos del usuario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Cuándo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SCRAM-SHA-256</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Todas (por defecto)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Cualquiera (recomendado admin)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Usuarios y aplicaciones con contraseña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SCRAM-SHA-1</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Todas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Cualquiera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Solo por compatibilidad con drivers antiguos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x.509 (MONGODB-X509)</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Todas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$external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Aplicaciones y servicios con certificado; miembros del cluster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LDAP (PLAIN)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Enterprise, Percona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$external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Usuarios corporativos del directorio (AD, OpenLDAP)</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Kerberos (GSSAPI)</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Enterprise, Percona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$external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Entornos con Kerberos o Active Directory con SSO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OIDC</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Enterprise (7.0+)</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$external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Identidad federada (Entra ID, Okta...)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300" i="1" dirty="0">
                <a:solidFill>
                  <a:srgbClr val="5B6B66"/>
                </a:solidFill>
                <a:latin typeface="Calibri" pitchFamily="34" charset="0"/>
                <a:ea typeface="Calibri" pitchFamily="34" charset="-122"/>
                <a:cs typeface="Calibri" pitchFamily="34" charset="-120"/>
              </a:rPr>
              <a:t>$external es una base de datos virtual: el usuario se valida fuera de MongoDB y en MongoDB solo se guardan sus roles.</a:t>
            </a:r>
            <a:endParaRPr lang="en-US" sz="1300" dirty="0"/>
          </a:p>
        </p:txBody>
      </p:sp>
      <p:sp>
        <p:nvSpPr>
          <p:cNvPr id="5" name="Text 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6" name="Text 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6 / 32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SCRAM: desafío y respuesta</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Cliente</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Envía el usuario y un nonce aleatorio.</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1F7A4D"/>
          </a:solidFill>
          <a:ln w="12700">
            <a:solidFill>
              <a:srgbClr val="1F7A4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Servidor</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Responde con la sal, las iteraciones y su propio nonce.</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Prueba del cliente</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Deriva una clave de la contraseña (PBKDF2) y firma el intercambio.</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1F7A4D"/>
          </a:solidFill>
          <a:ln w="12700">
            <a:solidFill>
              <a:srgbClr val="1F7A4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Verificación</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servidor valida la prueba con storedKey, sin conocer la contraseña.</a:t>
            </a:r>
            <a:endParaRPr lang="en-US" sz="1600" dirty="0"/>
          </a:p>
        </p:txBody>
      </p:sp>
      <p:sp>
        <p:nvSpPr>
          <p:cNvPr id="23" name="Shape 21"/>
          <p:cNvSpPr/>
          <p:nvPr/>
        </p:nvSpPr>
        <p:spPr>
          <a:xfrm>
            <a:off x="10213574" y="2011680"/>
            <a:ext cx="822960" cy="822960"/>
          </a:xfrm>
          <a:prstGeom prst="ellipse">
            <a:avLst/>
          </a:prstGeom>
          <a:solidFill>
            <a:srgbClr val="F2B33D"/>
          </a:solidFill>
          <a:ln w="12700">
            <a:solidFill>
              <a:srgbClr val="F2B33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Prueba del servidor</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El servidor firma con serverKey: el cliente sabe que habla con el servidor legítimo.</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La contraseña nunca viaja ni se guarda. En system.users solo hay sal, iteraciones, storedKey y serverKey. La autenticación es mutua.</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7 / 32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Autenticación con certificados x.509</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Requiere </a:t>
            </a:r>
            <a:r>
              <a:rPr lang="en-US" sz="2000" b="1" dirty="0">
                <a:solidFill>
                  <a:srgbClr val="1C2B27"/>
                </a:solidFill>
                <a:latin typeface="Calibri" pitchFamily="34" charset="0"/>
                <a:ea typeface="Calibri" pitchFamily="34" charset="-122"/>
                <a:cs typeface="Calibri" pitchFamily="34" charset="-120"/>
              </a:rPr>
              <a:t>TLS</a:t>
            </a:r>
            <a:r>
              <a:rPr lang="en-US" sz="2000" dirty="0">
                <a:solidFill>
                  <a:srgbClr val="1C2B27"/>
                </a:solidFill>
                <a:latin typeface="Calibri" pitchFamily="34" charset="0"/>
                <a:ea typeface="Calibri" pitchFamily="34" charset="-122"/>
                <a:cs typeface="Calibri" pitchFamily="34" charset="-120"/>
              </a:rPr>
              <a:t>: el cliente presenta su certificado en la conexión</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El usuario es el </a:t>
            </a:r>
            <a:r>
              <a:rPr lang="en-US" sz="2000" b="1" dirty="0">
                <a:solidFill>
                  <a:srgbClr val="1C2B27"/>
                </a:solidFill>
                <a:latin typeface="Calibri" pitchFamily="34" charset="0"/>
                <a:ea typeface="Calibri" pitchFamily="34" charset="-122"/>
                <a:cs typeface="Calibri" pitchFamily="34" charset="-120"/>
              </a:rPr>
              <a:t>subject</a:t>
            </a:r>
            <a:r>
              <a:rPr lang="en-US" sz="2000" dirty="0">
                <a:solidFill>
                  <a:srgbClr val="1C2B27"/>
                </a:solidFill>
                <a:latin typeface="Calibri" pitchFamily="34" charset="0"/>
                <a:ea typeface="Calibri" pitchFamily="34" charset="-122"/>
                <a:cs typeface="Calibri" pitchFamily="34" charset="-120"/>
              </a:rPr>
              <a:t> del certificado, en formato RFC 2253</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Se crea en </a:t>
            </a:r>
            <a:r>
              <a:rPr lang="en-US" sz="2000" b="1" dirty="0">
                <a:solidFill>
                  <a:srgbClr val="1C2B27"/>
                </a:solidFill>
                <a:latin typeface="Calibri" pitchFamily="34" charset="0"/>
                <a:ea typeface="Calibri" pitchFamily="34" charset="-122"/>
                <a:cs typeface="Calibri" pitchFamily="34" charset="-120"/>
              </a:rPr>
              <a:t>$external</a:t>
            </a:r>
            <a:r>
              <a:rPr lang="en-US" sz="2000" dirty="0">
                <a:solidFill>
                  <a:srgbClr val="1C2B27"/>
                </a:solidFill>
                <a:latin typeface="Calibri" pitchFamily="34" charset="0"/>
                <a:ea typeface="Calibri" pitchFamily="34" charset="-122"/>
                <a:cs typeface="Calibri" pitchFamily="34" charset="-120"/>
              </a:rPr>
              <a:t>, sin contraseña, con sus roles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Conexión: </a:t>
            </a:r>
            <a:r>
              <a:rPr lang="en-US" sz="2000" b="1" dirty="0">
                <a:solidFill>
                  <a:srgbClr val="1C2B27"/>
                </a:solidFill>
                <a:latin typeface="Calibri" pitchFamily="34" charset="0"/>
                <a:ea typeface="Calibri" pitchFamily="34" charset="-122"/>
                <a:cs typeface="Calibri" pitchFamily="34" charset="-120"/>
              </a:rPr>
              <a:t>authMechanism=MONGODB-X509&amp;authSource=$external</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Los certificados de cliente deben diferir de los de miembros en </a:t>
            </a:r>
            <a:r>
              <a:rPr lang="en-US" sz="2000" b="1" dirty="0">
                <a:solidFill>
                  <a:srgbClr val="1C2B27"/>
                </a:solidFill>
                <a:latin typeface="Calibri" pitchFamily="34" charset="0"/>
                <a:ea typeface="Calibri" pitchFamily="34" charset="-122"/>
                <a:cs typeface="Calibri" pitchFamily="34" charset="-120"/>
              </a:rPr>
              <a:t>O, OU o DC</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Caducan y se pueden revocar (CRL, OCSP): ventaja frente a contraseñas eternas</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X</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Ejemplo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db.getSiblingDB("$external").runCommand({</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  createUser: "CN=facturacion,OU=Aplicaciones,O=Empresa",</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  roles: [ { role: "readWrite", db: "tienda" } ]</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8 / 32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Autenticación externa: LDAP y Kerberos</a:t>
            </a:r>
            <a:endParaRPr lang="en-US" sz="3200" dirty="0"/>
          </a:p>
        </p:txBody>
      </p:sp>
      <p:sp>
        <p:nvSpPr>
          <p:cNvPr id="3" name="Shape 1"/>
          <p:cNvSpPr/>
          <p:nvPr/>
        </p:nvSpPr>
        <p:spPr>
          <a:xfrm>
            <a:off x="548640" y="1508760"/>
            <a:ext cx="5364328" cy="4617720"/>
          </a:xfrm>
          <a:prstGeom prst="roundRect">
            <a:avLst>
              <a:gd name="adj" fmla="val 2376"/>
            </a:avLst>
          </a:prstGeom>
          <a:solidFill>
            <a:srgbClr val="E8F3EC"/>
          </a:solidFill>
          <a:ln w="12700">
            <a:solidFill>
              <a:srgbClr val="E8F3EC"/>
            </a:solidFill>
            <a:prstDash val="solid"/>
          </a:ln>
        </p:spPr>
      </p:sp>
      <p:sp>
        <p:nvSpPr>
          <p:cNvPr id="4" name="Shape 2"/>
          <p:cNvSpPr/>
          <p:nvPr/>
        </p:nvSpPr>
        <p:spPr>
          <a:xfrm>
            <a:off x="822960" y="1783080"/>
            <a:ext cx="4815688" cy="502920"/>
          </a:xfrm>
          <a:prstGeom prst="roundRect">
            <a:avLst>
              <a:gd name="adj" fmla="val 14545"/>
            </a:avLst>
          </a:prstGeom>
          <a:solidFill>
            <a:srgbClr val="1F7A4D"/>
          </a:solidFill>
          <a:ln w="12700">
            <a:solidFill>
              <a:srgbClr val="1F7A4D"/>
            </a:solidFill>
            <a:prstDash val="solid"/>
          </a:ln>
        </p:spPr>
      </p:sp>
      <p:sp>
        <p:nvSpPr>
          <p:cNvPr id="5" name="Text 3"/>
          <p:cNvSpPr txBox="1"/>
          <p:nvPr/>
        </p:nvSpPr>
        <p:spPr>
          <a:xfrm>
            <a:off x="960120"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LDAP</a:t>
            </a:r>
            <a:endParaRPr lang="en-US" sz="1800" dirty="0"/>
          </a:p>
        </p:txBody>
      </p:sp>
      <p:sp>
        <p:nvSpPr>
          <p:cNvPr id="6" name="Text 4"/>
          <p:cNvSpPr txBox="1"/>
          <p:nvPr/>
        </p:nvSpPr>
        <p:spPr>
          <a:xfrm>
            <a:off x="822960"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Valida usuario y contraseña contra AD u OpenLDAP</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Mecanismo </a:t>
            </a:r>
            <a:r>
              <a:rPr lang="en-US" sz="1800" b="1" dirty="0">
                <a:solidFill>
                  <a:srgbClr val="1C2B27"/>
                </a:solidFill>
                <a:latin typeface="Calibri" pitchFamily="34" charset="0"/>
                <a:ea typeface="Calibri" pitchFamily="34" charset="-122"/>
                <a:cs typeface="Calibri" pitchFamily="34" charset="-120"/>
              </a:rPr>
              <a:t>PLAIN</a:t>
            </a:r>
            <a:r>
              <a:rPr lang="en-US" sz="1800" dirty="0">
                <a:solidFill>
                  <a:srgbClr val="1C2B27"/>
                </a:solidFill>
                <a:latin typeface="Calibri" pitchFamily="34" charset="0"/>
                <a:ea typeface="Calibri" pitchFamily="34" charset="-122"/>
                <a:cs typeface="Calibri" pitchFamily="34" charset="-120"/>
              </a:rPr>
              <a:t>: la contraseña llega al servidor, </a:t>
            </a:r>
            <a:r>
              <a:rPr lang="en-US" sz="1800" b="1" dirty="0">
                <a:solidFill>
                  <a:srgbClr val="1C2B27"/>
                </a:solidFill>
                <a:latin typeface="Calibri" pitchFamily="34" charset="0"/>
                <a:ea typeface="Calibri" pitchFamily="34" charset="-122"/>
                <a:cs typeface="Calibri" pitchFamily="34" charset="-120"/>
              </a:rPr>
              <a:t>TLS obligatorio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Vía </a:t>
            </a:r>
            <a:r>
              <a:rPr lang="en-US" sz="1800" b="1" dirty="0">
                <a:solidFill>
                  <a:srgbClr val="1C2B27"/>
                </a:solidFill>
                <a:latin typeface="Calibri" pitchFamily="34" charset="0"/>
                <a:ea typeface="Calibri" pitchFamily="34" charset="-122"/>
                <a:cs typeface="Calibri" pitchFamily="34" charset="-120"/>
              </a:rPr>
              <a:t>saslauthd</a:t>
            </a:r>
            <a:r>
              <a:rPr lang="en-US" sz="1800" dirty="0">
                <a:solidFill>
                  <a:srgbClr val="1C2B27"/>
                </a:solidFill>
                <a:latin typeface="Calibri" pitchFamily="34" charset="0"/>
                <a:ea typeface="Calibri" pitchFamily="34" charset="-122"/>
                <a:cs typeface="Calibri" pitchFamily="34" charset="-120"/>
              </a:rPr>
              <a:t> o integración nativa (security.ldap)</a:t>
            </a:r>
            <a:endParaRPr lang="en-US" sz="1800" dirty="0"/>
          </a:p>
          <a:p>
            <a:pPr marL="254000" indent="-254000">
              <a:spcAft>
                <a:spcPts val="800"/>
              </a:spcAft>
              <a:buSzPct val="100000"/>
              <a:buChar char="●"/>
            </a:pPr>
            <a:r>
              <a:rPr lang="en-US" sz="1800" b="1" dirty="0">
                <a:solidFill>
                  <a:srgbClr val="1C2B27"/>
                </a:solidFill>
                <a:latin typeface="Calibri" pitchFamily="34" charset="0"/>
                <a:ea typeface="Calibri" pitchFamily="34" charset="-122"/>
                <a:cs typeface="Calibri" pitchFamily="34" charset="-120"/>
              </a:rPr>
              <a:t>Autorización LDAP</a:t>
            </a:r>
            <a:r>
              <a:rPr lang="en-US" sz="1800" dirty="0">
                <a:solidFill>
                  <a:srgbClr val="1C2B27"/>
                </a:solidFill>
                <a:latin typeface="Calibri" pitchFamily="34" charset="0"/>
                <a:ea typeface="Calibri" pitchFamily="34" charset="-122"/>
                <a:cs typeface="Calibri" pitchFamily="34" charset="-120"/>
              </a:rPr>
              <a:t>: roles de MongoDB a partir de grupos del directorio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Altas y bajas centralizadas en el directorio</a:t>
            </a:r>
            <a:endParaRPr lang="en-US" sz="1800" dirty="0"/>
          </a:p>
        </p:txBody>
      </p:sp>
      <p:sp>
        <p:nvSpPr>
          <p:cNvPr id="7" name="Shape 5"/>
          <p:cNvSpPr/>
          <p:nvPr/>
        </p:nvSpPr>
        <p:spPr>
          <a:xfrm>
            <a:off x="6278728" y="1508760"/>
            <a:ext cx="5364328" cy="4617720"/>
          </a:xfrm>
          <a:prstGeom prst="roundRect">
            <a:avLst>
              <a:gd name="adj" fmla="val 2376"/>
            </a:avLst>
          </a:prstGeom>
          <a:solidFill>
            <a:srgbClr val="F4F9F6"/>
          </a:solidFill>
          <a:ln w="12700">
            <a:solidFill>
              <a:srgbClr val="D5DDD9"/>
            </a:solidFill>
            <a:prstDash val="solid"/>
          </a:ln>
        </p:spPr>
      </p:sp>
      <p:sp>
        <p:nvSpPr>
          <p:cNvPr id="8" name="Shape 6"/>
          <p:cNvSpPr/>
          <p:nvPr/>
        </p:nvSpPr>
        <p:spPr>
          <a:xfrm>
            <a:off x="6553048" y="1783080"/>
            <a:ext cx="4815688" cy="502920"/>
          </a:xfrm>
          <a:prstGeom prst="roundRect">
            <a:avLst>
              <a:gd name="adj" fmla="val 14545"/>
            </a:avLst>
          </a:prstGeom>
          <a:solidFill>
            <a:srgbClr val="0F2A25"/>
          </a:solidFill>
          <a:ln w="12700">
            <a:solidFill>
              <a:srgbClr val="0F2A25"/>
            </a:solidFill>
            <a:prstDash val="solid"/>
          </a:ln>
        </p:spPr>
      </p:sp>
      <p:sp>
        <p:nvSpPr>
          <p:cNvPr id="9" name="Text 7"/>
          <p:cNvSpPr txBox="1"/>
          <p:nvPr/>
        </p:nvSpPr>
        <p:spPr>
          <a:xfrm>
            <a:off x="6690208"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Kerberos</a:t>
            </a:r>
            <a:endParaRPr lang="en-US" sz="1800" dirty="0"/>
          </a:p>
        </p:txBody>
      </p:sp>
      <p:sp>
        <p:nvSpPr>
          <p:cNvPr id="10" name="Text 8"/>
          <p:cNvSpPr txBox="1"/>
          <p:nvPr/>
        </p:nvSpPr>
        <p:spPr>
          <a:xfrm>
            <a:off x="6553048"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Mecanismo </a:t>
            </a:r>
            <a:r>
              <a:rPr lang="en-US" sz="1800" b="1" dirty="0">
                <a:solidFill>
                  <a:srgbClr val="1C2B27"/>
                </a:solidFill>
                <a:latin typeface="Calibri" pitchFamily="34" charset="0"/>
                <a:ea typeface="Calibri" pitchFamily="34" charset="-122"/>
                <a:cs typeface="Calibri" pitchFamily="34" charset="-120"/>
              </a:rPr>
              <a:t>GSSAPI</a:t>
            </a:r>
            <a:r>
              <a:rPr lang="en-US" sz="1800" dirty="0">
                <a:solidFill>
                  <a:srgbClr val="1C2B27"/>
                </a:solidFill>
                <a:latin typeface="Calibri" pitchFamily="34" charset="0"/>
                <a:ea typeface="Calibri" pitchFamily="34" charset="-122"/>
                <a:cs typeface="Calibri" pitchFamily="34" charset="-120"/>
              </a:rPr>
              <a:t>: tickets, sin contraseñas en la conexión</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Inicio de sesión único en entornos con Active Directory</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Requiere keytab para el servicio mongodb y principals por usuario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Usuarios en $external con el nombre del principal</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Más complejo de desplegar; muy robusto una vez en marcha</a:t>
            </a:r>
            <a:endParaRPr lang="en-US" sz="1800" dirty="0"/>
          </a:p>
        </p:txBody>
      </p:sp>
      <p:sp>
        <p:nvSpPr>
          <p:cNvPr id="11"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2" name="Text 1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9 / 32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Membresía interna: cómo se autentican los nodos</a:t>
            </a:r>
            <a:endParaRPr lang="en-US" sz="3200" dirty="0"/>
          </a:p>
        </p:txBody>
      </p:sp>
      <p:sp>
        <p:nvSpPr>
          <p:cNvPr id="3" name="Shape 1"/>
          <p:cNvSpPr/>
          <p:nvPr/>
        </p:nvSpPr>
        <p:spPr>
          <a:xfrm>
            <a:off x="548640" y="1508760"/>
            <a:ext cx="5364328" cy="4617720"/>
          </a:xfrm>
          <a:prstGeom prst="roundRect">
            <a:avLst>
              <a:gd name="adj" fmla="val 2376"/>
            </a:avLst>
          </a:prstGeom>
          <a:solidFill>
            <a:srgbClr val="E8F3EC"/>
          </a:solidFill>
          <a:ln w="12700">
            <a:solidFill>
              <a:srgbClr val="E8F3EC"/>
            </a:solidFill>
            <a:prstDash val="solid"/>
          </a:ln>
        </p:spPr>
      </p:sp>
      <p:sp>
        <p:nvSpPr>
          <p:cNvPr id="4" name="Shape 2"/>
          <p:cNvSpPr/>
          <p:nvPr/>
        </p:nvSpPr>
        <p:spPr>
          <a:xfrm>
            <a:off x="822960" y="1783080"/>
            <a:ext cx="4815688" cy="502920"/>
          </a:xfrm>
          <a:prstGeom prst="roundRect">
            <a:avLst>
              <a:gd name="adj" fmla="val 14545"/>
            </a:avLst>
          </a:prstGeom>
          <a:solidFill>
            <a:srgbClr val="1F7A4D"/>
          </a:solidFill>
          <a:ln w="12700">
            <a:solidFill>
              <a:srgbClr val="1F7A4D"/>
            </a:solidFill>
            <a:prstDash val="solid"/>
          </a:ln>
        </p:spPr>
      </p:sp>
      <p:sp>
        <p:nvSpPr>
          <p:cNvPr id="5" name="Text 3"/>
          <p:cNvSpPr txBox="1"/>
          <p:nvPr/>
        </p:nvSpPr>
        <p:spPr>
          <a:xfrm>
            <a:off x="960120"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keyFile</a:t>
            </a:r>
            <a:endParaRPr lang="en-US" sz="1800" dirty="0"/>
          </a:p>
        </p:txBody>
      </p:sp>
      <p:sp>
        <p:nvSpPr>
          <p:cNvPr id="6" name="Text 4"/>
          <p:cNvSpPr txBox="1"/>
          <p:nvPr/>
        </p:nvSpPr>
        <p:spPr>
          <a:xfrm>
            <a:off x="822960"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Secreto compartido: fichero de 6 a 1024 caracteres base64</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El mismo fichero en </a:t>
            </a:r>
            <a:r>
              <a:rPr lang="en-US" sz="1800" b="1" dirty="0">
                <a:solidFill>
                  <a:srgbClr val="1C2B27"/>
                </a:solidFill>
                <a:latin typeface="Calibri" pitchFamily="34" charset="0"/>
                <a:ea typeface="Calibri" pitchFamily="34" charset="-122"/>
                <a:cs typeface="Calibri" pitchFamily="34" charset="-120"/>
              </a:rPr>
              <a:t>todos</a:t>
            </a:r>
            <a:r>
              <a:rPr lang="en-US" sz="1800" dirty="0">
                <a:solidFill>
                  <a:srgbClr val="1C2B27"/>
                </a:solidFill>
                <a:latin typeface="Calibri" pitchFamily="34" charset="0"/>
                <a:ea typeface="Calibri" pitchFamily="34" charset="-122"/>
                <a:cs typeface="Calibri" pitchFamily="34" charset="-120"/>
              </a:rPr>
              <a:t> los miembros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Permisos </a:t>
            </a:r>
            <a:r>
              <a:rPr lang="en-US" sz="1800" b="1" dirty="0">
                <a:solidFill>
                  <a:srgbClr val="1C2B27"/>
                </a:solidFill>
                <a:latin typeface="Calibri" pitchFamily="34" charset="0"/>
                <a:ea typeface="Calibri" pitchFamily="34" charset="-122"/>
                <a:cs typeface="Calibri" pitchFamily="34" charset="-120"/>
              </a:rPr>
              <a:t>400</a:t>
            </a:r>
            <a:r>
              <a:rPr lang="en-US" sz="1800" dirty="0">
                <a:solidFill>
                  <a:srgbClr val="1C2B27"/>
                </a:solidFill>
                <a:latin typeface="Calibri" pitchFamily="34" charset="0"/>
                <a:ea typeface="Calibri" pitchFamily="34" charset="-122"/>
                <a:cs typeface="Calibri" pitchFamily="34" charset="-120"/>
              </a:rPr>
              <a:t>, propiedad del usuario de mongod</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Activarlo activa también la </a:t>
            </a:r>
            <a:r>
              <a:rPr lang="en-US" sz="1800" b="1" dirty="0">
                <a:solidFill>
                  <a:srgbClr val="1C2B27"/>
                </a:solidFill>
                <a:latin typeface="Calibri" pitchFamily="34" charset="0"/>
                <a:ea typeface="Calibri" pitchFamily="34" charset="-122"/>
                <a:cs typeface="Calibri" pitchFamily="34" charset="-120"/>
              </a:rPr>
              <a:t>autorización</a:t>
            </a:r>
            <a:r>
              <a:rPr lang="en-US" sz="1800" dirty="0">
                <a:solidFill>
                  <a:srgbClr val="1C2B27"/>
                </a:solidFill>
                <a:latin typeface="Calibri" pitchFamily="34" charset="0"/>
                <a:ea typeface="Calibri" pitchFamily="34" charset="-122"/>
                <a:cs typeface="Calibri" pitchFamily="34" charset="-120"/>
              </a:rPr>
              <a:t> de clientes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Sencillo; adecuado para laboratorio y entornos pequeños</a:t>
            </a:r>
            <a:endParaRPr lang="en-US" sz="1800" dirty="0"/>
          </a:p>
        </p:txBody>
      </p:sp>
      <p:sp>
        <p:nvSpPr>
          <p:cNvPr id="7" name="Shape 5"/>
          <p:cNvSpPr/>
          <p:nvPr/>
        </p:nvSpPr>
        <p:spPr>
          <a:xfrm>
            <a:off x="6278728" y="1508760"/>
            <a:ext cx="5364328" cy="4617720"/>
          </a:xfrm>
          <a:prstGeom prst="roundRect">
            <a:avLst>
              <a:gd name="adj" fmla="val 2376"/>
            </a:avLst>
          </a:prstGeom>
          <a:solidFill>
            <a:srgbClr val="F4F9F6"/>
          </a:solidFill>
          <a:ln w="12700">
            <a:solidFill>
              <a:srgbClr val="D5DDD9"/>
            </a:solidFill>
            <a:prstDash val="solid"/>
          </a:ln>
        </p:spPr>
      </p:sp>
      <p:sp>
        <p:nvSpPr>
          <p:cNvPr id="8" name="Shape 6"/>
          <p:cNvSpPr/>
          <p:nvPr/>
        </p:nvSpPr>
        <p:spPr>
          <a:xfrm>
            <a:off x="6553048" y="1783080"/>
            <a:ext cx="4815688" cy="502920"/>
          </a:xfrm>
          <a:prstGeom prst="roundRect">
            <a:avLst>
              <a:gd name="adj" fmla="val 14545"/>
            </a:avLst>
          </a:prstGeom>
          <a:solidFill>
            <a:srgbClr val="0F2A25"/>
          </a:solidFill>
          <a:ln w="12700">
            <a:solidFill>
              <a:srgbClr val="0F2A25"/>
            </a:solidFill>
            <a:prstDash val="solid"/>
          </a:ln>
        </p:spPr>
      </p:sp>
      <p:sp>
        <p:nvSpPr>
          <p:cNvPr id="9" name="Text 7"/>
          <p:cNvSpPr txBox="1"/>
          <p:nvPr/>
        </p:nvSpPr>
        <p:spPr>
          <a:xfrm>
            <a:off x="6690208"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x.509 (recomendado en producción)</a:t>
            </a:r>
            <a:endParaRPr lang="en-US" sz="1800" dirty="0"/>
          </a:p>
        </p:txBody>
      </p:sp>
      <p:sp>
        <p:nvSpPr>
          <p:cNvPr id="10" name="Text 8"/>
          <p:cNvSpPr txBox="1"/>
          <p:nvPr/>
        </p:nvSpPr>
        <p:spPr>
          <a:xfrm>
            <a:off x="6553048"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Cada miembro tiene su </a:t>
            </a:r>
            <a:r>
              <a:rPr lang="en-US" sz="1800" b="1" dirty="0">
                <a:solidFill>
                  <a:srgbClr val="1C2B27"/>
                </a:solidFill>
                <a:latin typeface="Calibri" pitchFamily="34" charset="0"/>
                <a:ea typeface="Calibri" pitchFamily="34" charset="-122"/>
                <a:cs typeface="Calibri" pitchFamily="34" charset="-120"/>
              </a:rPr>
              <a:t>propio certificado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security.clusterAuthMode: </a:t>
            </a:r>
            <a:r>
              <a:rPr lang="en-US" sz="1800" b="1" dirty="0">
                <a:solidFill>
                  <a:srgbClr val="1C2B27"/>
                </a:solidFill>
                <a:latin typeface="Calibri" pitchFamily="34" charset="0"/>
                <a:ea typeface="Calibri" pitchFamily="34" charset="-122"/>
                <a:cs typeface="Calibri" pitchFamily="34" charset="-120"/>
              </a:rPr>
              <a:t>x509</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Los certificados de miembros comparten O, OU y DC</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Caducan y se revocan: un nodo comprometido se puede excluir</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Requiere TLS y una PKI con renovación ordenada</a:t>
            </a:r>
            <a:endParaRPr lang="en-US" sz="1800" dirty="0"/>
          </a:p>
        </p:txBody>
      </p:sp>
      <p:sp>
        <p:nvSpPr>
          <p:cNvPr id="11"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2" name="Text 1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10 / 32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Rotar las credenciales del cluster sin parar</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keyFile con dos claves</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Fichero YAML con la clave antigua y la nueva, desplegado en todos los nodos (rolling).</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Solo la clave nueva</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Segundo reinicio rolling con la clave nueva únicamente.</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1F7A4D"/>
          </a:solidFill>
          <a:ln w="12700">
            <a:solidFill>
              <a:srgbClr val="1F7A4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Hacia x.509</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clusterAuthMode: sendKeyFile, con certificados y TLS ya desplegados.</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1F7A4D"/>
          </a:solidFill>
          <a:ln w="12700">
            <a:solidFill>
              <a:srgbClr val="1F7A4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sendX509</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Los nodos se presentan con certificado y aún aceptan keyFile.</a:t>
            </a:r>
            <a:endParaRPr lang="en-US" sz="1600" dirty="0"/>
          </a:p>
        </p:txBody>
      </p:sp>
      <p:sp>
        <p:nvSpPr>
          <p:cNvPr id="23" name="Shape 21"/>
          <p:cNvSpPr/>
          <p:nvPr/>
        </p:nvSpPr>
        <p:spPr>
          <a:xfrm>
            <a:off x="10213574" y="2011680"/>
            <a:ext cx="822960" cy="822960"/>
          </a:xfrm>
          <a:prstGeom prst="ellipse">
            <a:avLst/>
          </a:prstGeom>
          <a:solidFill>
            <a:srgbClr val="F2B33D"/>
          </a:solidFill>
          <a:ln w="12700">
            <a:solidFill>
              <a:srgbClr val="F2B33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x509</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Solo certificados. Se retira el keyFile.</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Cada paso es un reinicio rolling o un setParameter en caliente. En ningún momento hay que parar el replica set.</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11 / 32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9</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Usuarios, roles y límites</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Mínimo privilegio y control del consumo de recursos</a:t>
            </a:r>
            <a:endParaRPr lang="en-US" sz="1800" dirty="0"/>
          </a:p>
        </p:txBody>
      </p:sp>
      <p:sp>
        <p:nvSpPr>
          <p:cNvPr id="7" name="Shape 5"/>
          <p:cNvSpPr/>
          <p:nvPr/>
        </p:nvSpPr>
        <p:spPr>
          <a:xfrm>
            <a:off x="2377440" y="374904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Modelo de privilegios</a:t>
            </a:r>
            <a:endParaRPr lang="en-US" sz="1600" dirty="0"/>
          </a:p>
        </p:txBody>
      </p:sp>
      <p:sp>
        <p:nvSpPr>
          <p:cNvPr id="9" name="Shape 7"/>
          <p:cNvSpPr/>
          <p:nvPr/>
        </p:nvSpPr>
        <p:spPr>
          <a:xfrm>
            <a:off x="5557418" y="374904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Roles predefinidos</a:t>
            </a:r>
            <a:endParaRPr lang="en-US" sz="1600" dirty="0"/>
          </a:p>
        </p:txBody>
      </p:sp>
      <p:sp>
        <p:nvSpPr>
          <p:cNvPr id="11" name="Shape 9"/>
          <p:cNvSpPr/>
          <p:nvPr/>
        </p:nvSpPr>
        <p:spPr>
          <a:xfrm>
            <a:off x="8737397" y="374904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Roles personalizados</a:t>
            </a:r>
            <a:endParaRPr lang="en-US" sz="1600" dirty="0"/>
          </a:p>
        </p:txBody>
      </p:sp>
      <p:sp>
        <p:nvSpPr>
          <p:cNvPr id="13" name="Shape 11"/>
          <p:cNvSpPr/>
          <p:nvPr/>
        </p:nvSpPr>
        <p:spPr>
          <a:xfrm>
            <a:off x="2377440" y="466344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Gestión de usuarios</a:t>
            </a:r>
            <a:endParaRPr lang="en-US" sz="1600" dirty="0"/>
          </a:p>
        </p:txBody>
      </p:sp>
      <p:sp>
        <p:nvSpPr>
          <p:cNvPr id="15" name="Shape 13"/>
          <p:cNvSpPr/>
          <p:nvPr/>
        </p:nvSpPr>
        <p:spPr>
          <a:xfrm>
            <a:off x="5557418" y="466344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Buenas prácticas</a:t>
            </a:r>
            <a:endParaRPr lang="en-US" sz="1600" dirty="0"/>
          </a:p>
        </p:txBody>
      </p:sp>
      <p:sp>
        <p:nvSpPr>
          <p:cNvPr id="17" name="Shape 15"/>
          <p:cNvSpPr/>
          <p:nvPr/>
        </p:nvSpPr>
        <p:spPr>
          <a:xfrm>
            <a:off x="8737397" y="466344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Límites de recursos</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3 · Seguridad</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12 / 32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El modelo de privilegios</a:t>
            </a:r>
            <a:endParaRPr lang="en-US" sz="3200" dirty="0"/>
          </a:p>
        </p:txBody>
      </p:sp>
      <p:sp>
        <p:nvSpPr>
          <p:cNvPr id="3" name="Shape 1"/>
          <p:cNvSpPr/>
          <p:nvPr/>
        </p:nvSpPr>
        <p:spPr>
          <a:xfrm>
            <a:off x="548640"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1F7A4D"/>
          </a:solidFill>
          <a:ln w="12700">
            <a:solidFill>
              <a:srgbClr val="1F7A4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t>
            </a:r>
            <a:endParaRPr lang="en-US" sz="1500" dirty="0"/>
          </a:p>
        </p:txBody>
      </p:sp>
      <p:sp>
        <p:nvSpPr>
          <p:cNvPr id="6" name="Text 4"/>
          <p:cNvSpPr txBox="1"/>
          <p:nvPr/>
        </p:nvSpPr>
        <p:spPr>
          <a:xfrm>
            <a:off x="1417320"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Recurso</a:t>
            </a:r>
            <a:endParaRPr lang="en-US" sz="1800" dirty="0"/>
          </a:p>
        </p:txBody>
      </p:sp>
      <p:sp>
        <p:nvSpPr>
          <p:cNvPr id="7" name="Text 5"/>
          <p:cNvSpPr txBox="1"/>
          <p:nvPr/>
        </p:nvSpPr>
        <p:spPr>
          <a:xfrm>
            <a:off x="777240"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Sobre qué: { db: "tienda", collection: "pedidos" }, una base de datos entera, todas, o { cluster: true }.</a:t>
            </a:r>
            <a:endParaRPr lang="en-US" sz="1500" dirty="0"/>
          </a:p>
        </p:txBody>
      </p:sp>
      <p:sp>
        <p:nvSpPr>
          <p:cNvPr id="8" name="Shape 6"/>
          <p:cNvSpPr/>
          <p:nvPr/>
        </p:nvSpPr>
        <p:spPr>
          <a:xfrm>
            <a:off x="4338218"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66818" y="1737360"/>
            <a:ext cx="502920" cy="502920"/>
          </a:xfrm>
          <a:prstGeom prst="ellipse">
            <a:avLst/>
          </a:prstGeom>
          <a:solidFill>
            <a:srgbClr val="1F7A4D"/>
          </a:solidFill>
          <a:ln w="12700">
            <a:solidFill>
              <a:srgbClr val="1F7A4D"/>
            </a:solidFill>
            <a:prstDash val="solid"/>
          </a:ln>
        </p:spPr>
      </p:sp>
      <p:sp>
        <p:nvSpPr>
          <p:cNvPr id="10" name="Text 8"/>
          <p:cNvSpPr txBox="1"/>
          <p:nvPr/>
        </p:nvSpPr>
        <p:spPr>
          <a:xfrm>
            <a:off x="4566818"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11" name="Text 9"/>
          <p:cNvSpPr txBox="1"/>
          <p:nvPr/>
        </p:nvSpPr>
        <p:spPr>
          <a:xfrm>
            <a:off x="5206898"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Acción</a:t>
            </a:r>
            <a:endParaRPr lang="en-US" sz="1800" dirty="0"/>
          </a:p>
        </p:txBody>
      </p:sp>
      <p:sp>
        <p:nvSpPr>
          <p:cNvPr id="12" name="Text 10"/>
          <p:cNvSpPr txBox="1"/>
          <p:nvPr/>
        </p:nvSpPr>
        <p:spPr>
          <a:xfrm>
            <a:off x="4566818"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Qué operación: find, insert, update, remove, createIndex, dropCollection, serverStatus...</a:t>
            </a:r>
            <a:endParaRPr lang="en-US" sz="1500" dirty="0"/>
          </a:p>
        </p:txBody>
      </p:sp>
      <p:sp>
        <p:nvSpPr>
          <p:cNvPr id="13" name="Shape 11"/>
          <p:cNvSpPr/>
          <p:nvPr/>
        </p:nvSpPr>
        <p:spPr>
          <a:xfrm>
            <a:off x="8127797"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8356397" y="1737360"/>
            <a:ext cx="502920" cy="502920"/>
          </a:xfrm>
          <a:prstGeom prst="ellipse">
            <a:avLst/>
          </a:prstGeom>
          <a:solidFill>
            <a:srgbClr val="F2B33D"/>
          </a:solidFill>
          <a:ln w="12700">
            <a:solidFill>
              <a:srgbClr val="F2B33D"/>
            </a:solidFill>
            <a:prstDash val="solid"/>
          </a:ln>
        </p:spPr>
      </p:sp>
      <p:sp>
        <p:nvSpPr>
          <p:cNvPr id="15" name="Text 13"/>
          <p:cNvSpPr txBox="1"/>
          <p:nvPr/>
        </p:nvSpPr>
        <p:spPr>
          <a:xfrm>
            <a:off x="8356397"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P</a:t>
            </a:r>
            <a:endParaRPr lang="en-US" sz="1500" dirty="0"/>
          </a:p>
        </p:txBody>
      </p:sp>
      <p:sp>
        <p:nvSpPr>
          <p:cNvPr id="16" name="Text 14"/>
          <p:cNvSpPr txBox="1"/>
          <p:nvPr/>
        </p:nvSpPr>
        <p:spPr>
          <a:xfrm>
            <a:off x="8996477"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Privilegio</a:t>
            </a:r>
            <a:endParaRPr lang="en-US" sz="1800" dirty="0"/>
          </a:p>
        </p:txBody>
      </p:sp>
      <p:sp>
        <p:nvSpPr>
          <p:cNvPr id="17" name="Text 15"/>
          <p:cNvSpPr txBox="1"/>
          <p:nvPr/>
        </p:nvSpPr>
        <p:spPr>
          <a:xfrm>
            <a:off x="8356397"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Un recurso más una lista de acciones permitidas sobre él.</a:t>
            </a:r>
            <a:endParaRPr lang="en-US" sz="1500" dirty="0"/>
          </a:p>
        </p:txBody>
      </p:sp>
      <p:sp>
        <p:nvSpPr>
          <p:cNvPr id="18" name="Shape 16"/>
          <p:cNvSpPr/>
          <p:nvPr/>
        </p:nvSpPr>
        <p:spPr>
          <a:xfrm>
            <a:off x="548640"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777240" y="4206240"/>
            <a:ext cx="502920" cy="502920"/>
          </a:xfrm>
          <a:prstGeom prst="ellipse">
            <a:avLst/>
          </a:prstGeom>
          <a:solidFill>
            <a:srgbClr val="1F7A4D"/>
          </a:solidFill>
          <a:ln w="12700">
            <a:solidFill>
              <a:srgbClr val="1F7A4D"/>
            </a:solidFill>
            <a:prstDash val="solid"/>
          </a:ln>
        </p:spPr>
      </p:sp>
      <p:sp>
        <p:nvSpPr>
          <p:cNvPr id="20" name="Text 18"/>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t>
            </a:r>
            <a:endParaRPr lang="en-US" sz="1500" dirty="0"/>
          </a:p>
        </p:txBody>
      </p:sp>
      <p:sp>
        <p:nvSpPr>
          <p:cNvPr id="21" name="Text 19"/>
          <p:cNvSpPr txBox="1"/>
          <p:nvPr/>
        </p:nvSpPr>
        <p:spPr>
          <a:xfrm>
            <a:off x="1417320"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Rol</a:t>
            </a:r>
            <a:endParaRPr lang="en-US" sz="1800" dirty="0"/>
          </a:p>
        </p:txBody>
      </p:sp>
      <p:sp>
        <p:nvSpPr>
          <p:cNvPr id="22" name="Text 20"/>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Conjunto de privilegios, y puede heredar otros roles. Se define en una base de datos.</a:t>
            </a:r>
            <a:endParaRPr lang="en-US" sz="1500" dirty="0"/>
          </a:p>
        </p:txBody>
      </p:sp>
      <p:sp>
        <p:nvSpPr>
          <p:cNvPr id="23" name="Shape 21"/>
          <p:cNvSpPr/>
          <p:nvPr/>
        </p:nvSpPr>
        <p:spPr>
          <a:xfrm>
            <a:off x="4338218"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4206240"/>
            <a:ext cx="502920" cy="502920"/>
          </a:xfrm>
          <a:prstGeom prst="ellipse">
            <a:avLst/>
          </a:prstGeom>
          <a:solidFill>
            <a:srgbClr val="1F7A4D"/>
          </a:solidFill>
          <a:ln w="12700">
            <a:solidFill>
              <a:srgbClr val="1F7A4D"/>
            </a:solidFill>
            <a:prstDash val="solid"/>
          </a:ln>
        </p:spPr>
      </p:sp>
      <p:sp>
        <p:nvSpPr>
          <p:cNvPr id="25" name="Text 23"/>
          <p:cNvSpPr txBox="1"/>
          <p:nvPr/>
        </p:nvSpPr>
        <p:spPr>
          <a:xfrm>
            <a:off x="4566818"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a:t>
            </a:r>
            <a:endParaRPr lang="en-US" sz="1500" dirty="0"/>
          </a:p>
        </p:txBody>
      </p:sp>
      <p:sp>
        <p:nvSpPr>
          <p:cNvPr id="26" name="Text 24"/>
          <p:cNvSpPr txBox="1"/>
          <p:nvPr/>
        </p:nvSpPr>
        <p:spPr>
          <a:xfrm>
            <a:off x="5206898"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Usuario</a:t>
            </a:r>
            <a:endParaRPr lang="en-US" sz="1800" dirty="0"/>
          </a:p>
        </p:txBody>
      </p:sp>
      <p:sp>
        <p:nvSpPr>
          <p:cNvPr id="27" name="Text 25"/>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Identidad con uno o varios roles. Sus privilegios son la unión de los de todos sus roles.</a:t>
            </a:r>
            <a:endParaRPr lang="en-US" sz="1500" dirty="0"/>
          </a:p>
        </p:txBody>
      </p:sp>
      <p:sp>
        <p:nvSpPr>
          <p:cNvPr id="28" name="Shape 26"/>
          <p:cNvSpPr/>
          <p:nvPr/>
        </p:nvSpPr>
        <p:spPr>
          <a:xfrm>
            <a:off x="8127797"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8356397" y="4206240"/>
            <a:ext cx="502920" cy="502920"/>
          </a:xfrm>
          <a:prstGeom prst="ellipse">
            <a:avLst/>
          </a:prstGeom>
          <a:solidFill>
            <a:srgbClr val="F2B33D"/>
          </a:solidFill>
          <a:ln w="12700">
            <a:solidFill>
              <a:srgbClr val="F2B33D"/>
            </a:solidFill>
            <a:prstDash val="solid"/>
          </a:ln>
        </p:spPr>
      </p:sp>
      <p:sp>
        <p:nvSpPr>
          <p:cNvPr id="30" name="Text 28"/>
          <p:cNvSpPr txBox="1"/>
          <p:nvPr/>
        </p:nvSpPr>
        <p:spPr>
          <a:xfrm>
            <a:off x="8356397" y="420624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a:t>
            </a:r>
            <a:endParaRPr lang="en-US" sz="1500" dirty="0"/>
          </a:p>
        </p:txBody>
      </p:sp>
      <p:sp>
        <p:nvSpPr>
          <p:cNvPr id="31" name="Text 29"/>
          <p:cNvSpPr txBox="1"/>
          <p:nvPr/>
        </p:nvSpPr>
        <p:spPr>
          <a:xfrm>
            <a:off x="8996477"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Sin denegaciones</a:t>
            </a:r>
            <a:endParaRPr lang="en-US" sz="1800" dirty="0"/>
          </a:p>
        </p:txBody>
      </p:sp>
      <p:sp>
        <p:nvSpPr>
          <p:cNvPr id="32" name="Text 30"/>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Solo hay permisos que se conceden; nada se deniega. Si no se concede, no se puede.</a:t>
            </a:r>
            <a:endParaRPr lang="en-US" sz="1500" dirty="0"/>
          </a:p>
        </p:txBody>
      </p:sp>
      <p:sp>
        <p:nvSpPr>
          <p:cNvPr id="33"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34" name="Text 3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13 / 32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Roles predefinidos más usados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2743200"/>
                <a:gridCol w="5120640"/>
              </a:tblGrid>
              <a:tr h="492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Rol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Ámbito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 qué</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read / readWrite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Una base de datos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Aplicaciones y usuarios de consulta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dbAdmin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Una base de datos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Índices, estadísticas, validación; sin leer datos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userAdmin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Una base de datos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Gestionar usuarios y roles de esa base de datos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clusterMonitor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Cluster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Monitorización: serverStatus, rs.status, métricas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clusterManager / clusterAdmin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Cluster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Operaciones de replicación y sharding / todo lo de cluster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backup / restore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Cluster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Herramientas de copia y restauración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readAnyDatabase, userAdminAnyDatabase...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Todas las BD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Versiones globales de los roles anteriores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492760">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root</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Todo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Superusuario: solo para emergencias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14 / 32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Roles personalizados</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mongosh · base de datos admin</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use admin
db.createRole({
  role: "atencionCliente",
  privileges: [
    { resource: { db: "tienda", collection: "pedidos" },
      actions: [ "find", "update" ] },
    { resource: { db: "tienda", collection: "clientes" },
      actions: [ "find" ] }
  ],
  roles: []            // puede heredar otros roles
})
db.grantPrivilegesToRole("atencionCliente", [
  { resource: { db: "tienda", collection: "productos" },
    actions: [ "find" ] }
])
db.getRole("atencionCliente", { showPrivileges: true })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Se crean cuando ningún rol predefinido encaja con el </a:t>
            </a:r>
            <a:r>
              <a:rPr lang="en-US" sz="1600" b="1" dirty="0">
                <a:solidFill>
                  <a:srgbClr val="1C2B27"/>
                </a:solidFill>
                <a:latin typeface="Calibri" pitchFamily="34" charset="0"/>
                <a:ea typeface="Calibri" pitchFamily="34" charset="-122"/>
                <a:cs typeface="Calibri" pitchFamily="34" charset="-120"/>
              </a:rPr>
              <a:t>mínimo privilegio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Definidos en </a:t>
            </a:r>
            <a:r>
              <a:rPr lang="en-US" sz="1600" b="1" dirty="0">
                <a:solidFill>
                  <a:srgbClr val="1C2B27"/>
                </a:solidFill>
                <a:latin typeface="Calibri" pitchFamily="34" charset="0"/>
                <a:ea typeface="Calibri" pitchFamily="34" charset="-122"/>
                <a:cs typeface="Calibri" pitchFamily="34" charset="-120"/>
              </a:rPr>
              <a:t>admin</a:t>
            </a:r>
            <a:r>
              <a:rPr lang="en-US" sz="1600" dirty="0">
                <a:solidFill>
                  <a:srgbClr val="1C2B27"/>
                </a:solidFill>
                <a:latin typeface="Calibri" pitchFamily="34" charset="0"/>
                <a:ea typeface="Calibri" pitchFamily="34" charset="-122"/>
                <a:cs typeface="Calibri" pitchFamily="34" charset="-120"/>
              </a:rPr>
              <a:t> pueden abarcar cualquier base de datos</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Cambiar un rol afecta </a:t>
            </a:r>
            <a:r>
              <a:rPr lang="en-US" sz="1600" b="1" dirty="0">
                <a:solidFill>
                  <a:srgbClr val="1C2B27"/>
                </a:solidFill>
                <a:latin typeface="Calibri" pitchFamily="34" charset="0"/>
                <a:ea typeface="Calibri" pitchFamily="34" charset="-122"/>
                <a:cs typeface="Calibri" pitchFamily="34" charset="-120"/>
              </a:rPr>
              <a:t>al instante</a:t>
            </a:r>
            <a:r>
              <a:rPr lang="en-US" sz="1600" dirty="0">
                <a:solidFill>
                  <a:srgbClr val="1C2B27"/>
                </a:solidFill>
                <a:latin typeface="Calibri" pitchFamily="34" charset="0"/>
                <a:ea typeface="Calibri" pitchFamily="34" charset="-122"/>
                <a:cs typeface="Calibri" pitchFamily="34" charset="-120"/>
              </a:rPr>
              <a:t> a todos sus usuarios</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grantPrivilegesToRole, revokePrivilegesFromRole, grantRolesToRole</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15 / 32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Gestión de usuarios</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mongosh · base de datos admin</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200" dirty="0">
                <a:solidFill>
                  <a:srgbClr val="D8F3E3"/>
                </a:solidFill>
                <a:latin typeface="Courier New" pitchFamily="34" charset="0"/>
                <a:ea typeface="Courier New" pitchFamily="34" charset="-122"/>
                <a:cs typeface="Courier New" pitchFamily="34" charset="-120"/>
              </a:rPr>
              <a:t>db.createUser({
  user: "app_tienda",
  pwd: passwordPrompt(),   // sin contraseña en el historial
  roles: [ { role: "readWrite", db: "tienda" } ],
  mechanisms: [ "SCRAM-SHA-256" ],
  authenticationRestrictions: [ { clientSource: [ "10.0.2.0/24" ] } ]
})
db.updateUser("app_tienda", { pwd: passwordPrompt() })
db.grantRolesToUser("app_tienda", [ { role: "read", db: "informes" } ])
db.revokeRolesFromUser("app_tienda", [ { role: "read", db: "informes" } ])
db.getUsers({ showCredentials: false })
db.runCommand({ usersInfo: { forAllDBs: true } })
db.dropUser("app_tienda")
</a:t>
            </a:r>
            <a:endParaRPr lang="en-US" sz="12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passwordPrompt()</a:t>
            </a:r>
            <a:r>
              <a:rPr lang="en-US" sz="1600" dirty="0">
                <a:solidFill>
                  <a:srgbClr val="1C2B27"/>
                </a:solidFill>
                <a:latin typeface="Calibri" pitchFamily="34" charset="0"/>
                <a:ea typeface="Calibri" pitchFamily="34" charset="-122"/>
                <a:cs typeface="Calibri" pitchFamily="34" charset="-120"/>
              </a:rPr>
              <a:t> evita contraseñas en el historial</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mechanisms</a:t>
            </a:r>
            <a:r>
              <a:rPr lang="en-US" sz="1600" dirty="0">
                <a:solidFill>
                  <a:srgbClr val="1C2B27"/>
                </a:solidFill>
                <a:latin typeface="Calibri" pitchFamily="34" charset="0"/>
                <a:ea typeface="Calibri" pitchFamily="34" charset="-122"/>
                <a:cs typeface="Calibri" pitchFamily="34" charset="-120"/>
              </a:rPr>
              <a:t>: restringe a SCRAM-SHA-256</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authenticationRestrictions</a:t>
            </a:r>
            <a:r>
              <a:rPr lang="en-US" sz="1600" dirty="0">
                <a:solidFill>
                  <a:srgbClr val="1C2B27"/>
                </a:solidFill>
                <a:latin typeface="Calibri" pitchFamily="34" charset="0"/>
                <a:ea typeface="Calibri" pitchFamily="34" charset="-122"/>
                <a:cs typeface="Calibri" pitchFamily="34" charset="-120"/>
              </a:rPr>
              <a:t>: origen permitido (clientSource, serverAddress)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usersInfo forAllDBs</a:t>
            </a:r>
            <a:r>
              <a:rPr lang="en-US" sz="1600" dirty="0">
                <a:solidFill>
                  <a:srgbClr val="1C2B27"/>
                </a:solidFill>
                <a:latin typeface="Calibri" pitchFamily="34" charset="0"/>
                <a:ea typeface="Calibri" pitchFamily="34" charset="-122"/>
                <a:cs typeface="Calibri" pitchFamily="34" charset="-120"/>
              </a:rPr>
              <a:t>: inventario completo para auditorías</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16 / 32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Buenas prácticas con usuarios</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Un usuario por persona y por aplicación</a:t>
            </a:r>
            <a:r>
              <a:rPr lang="en-US" sz="2000" dirty="0">
                <a:solidFill>
                  <a:srgbClr val="1C2B27"/>
                </a:solidFill>
                <a:latin typeface="Calibri" pitchFamily="34" charset="0"/>
                <a:ea typeface="Calibri" pitchFamily="34" charset="-122"/>
                <a:cs typeface="Calibri" pitchFamily="34" charset="-120"/>
              </a:rPr>
              <a:t>: nunca cuentas compartidas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Usuarios centralizados en </a:t>
            </a:r>
            <a:r>
              <a:rPr lang="en-US" sz="2000" b="1" dirty="0">
                <a:solidFill>
                  <a:srgbClr val="1C2B27"/>
                </a:solidFill>
                <a:latin typeface="Calibri" pitchFamily="34" charset="0"/>
                <a:ea typeface="Calibri" pitchFamily="34" charset="-122"/>
                <a:cs typeface="Calibri" pitchFamily="34" charset="-120"/>
              </a:rPr>
              <a:t>admin</a:t>
            </a:r>
            <a:r>
              <a:rPr lang="en-US" sz="2000" dirty="0">
                <a:solidFill>
                  <a:srgbClr val="1C2B27"/>
                </a:solidFill>
                <a:latin typeface="Calibri" pitchFamily="34" charset="0"/>
                <a:ea typeface="Calibri" pitchFamily="34" charset="-122"/>
                <a:cs typeface="Calibri" pitchFamily="34" charset="-120"/>
              </a:rPr>
              <a:t> (o en $external con LDAP/x.509)</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Mínimo privilegio</a:t>
            </a:r>
            <a:r>
              <a:rPr lang="en-US" sz="2000" dirty="0">
                <a:solidFill>
                  <a:srgbClr val="1C2B27"/>
                </a:solidFill>
                <a:latin typeface="Calibri" pitchFamily="34" charset="0"/>
                <a:ea typeface="Calibri" pitchFamily="34" charset="-122"/>
                <a:cs typeface="Calibri" pitchFamily="34" charset="-120"/>
              </a:rPr>
              <a:t>: roles predefinidos acotados o roles personalizados</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root</a:t>
            </a:r>
            <a:r>
              <a:rPr lang="en-US" sz="2000" dirty="0">
                <a:solidFill>
                  <a:srgbClr val="1C2B27"/>
                </a:solidFill>
                <a:latin typeface="Calibri" pitchFamily="34" charset="0"/>
                <a:ea typeface="Calibri" pitchFamily="34" charset="-122"/>
                <a:cs typeface="Calibri" pitchFamily="34" charset="-120"/>
              </a:rPr>
              <a:t> solo para emergencias, con la contraseña custodiada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Contraseñas largas y únicas; en aplicaciones, en un </a:t>
            </a:r>
            <a:r>
              <a:rPr lang="en-US" sz="2000" b="1" dirty="0">
                <a:solidFill>
                  <a:srgbClr val="1C2B27"/>
                </a:solidFill>
                <a:latin typeface="Calibri" pitchFamily="34" charset="0"/>
                <a:ea typeface="Calibri" pitchFamily="34" charset="-122"/>
                <a:cs typeface="Calibri" pitchFamily="34" charset="-120"/>
              </a:rPr>
              <a:t>gestor de secretos</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Revisión periódica</a:t>
            </a:r>
            <a:r>
              <a:rPr lang="en-US" sz="2000" dirty="0">
                <a:solidFill>
                  <a:srgbClr val="1C2B27"/>
                </a:solidFill>
                <a:latin typeface="Calibri" pitchFamily="34" charset="0"/>
                <a:ea typeface="Calibri" pitchFamily="34" charset="-122"/>
                <a:cs typeface="Calibri" pitchFamily="34" charset="-120"/>
              </a:rPr>
              <a:t>: usuarios huérfanos, roles excesivos, accesos sin uso</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Una estructura típica</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admin_emergencia (root, sellado)</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dba_nombre (clusterAdmin + userAdminAnyDatabase)</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monitor (clusterMonitor)</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backup (backup + restore)</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app_tienda (readWrite en tienda, restringido por IP)</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analista_nombre (read en tienda)</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17 / 32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Límites de recursos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474720"/>
                <a:gridCol w="2926080"/>
                <a:gridCol w="4572000"/>
              </a:tblGrid>
              <a:tr h="554355">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Mecanismo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Nivel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Qué limita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authenticationRestrictions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Usuario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Desde qué IP o hacia qué IP puede autenticarse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maxTimeMS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Operación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Tiempo máximo de ejecución de una consulta o comando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defaultMaxTimeMS (8.0)</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Cluster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Límite por defecto para todas las lecturas sin maxTimeMS propio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net.maxIncomingConnections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Instancia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Conexiones entrantes simultáneas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Pools de los drivers (maxPoolSize)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Aplicación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Conexiones por instancia de aplicación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ulimit nofile / nproc</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Sistema operativo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Descriptores y procesos del proceso mongod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54355">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cacheSizeGB y límites del contenedor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Instancia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Memoria disponible para el motor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18 / 32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08</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Usuarios, roles, restricciones y límites de recursos</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usuarios de aplicación, analista y monitorización con roles predefinidos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Diseñar un rol personalizado de mínimo privilegio y ampliarlo sin tocar usuarios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Ver qué guarda SCRAM en system.users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Restringir un usuario por IP de origen y encontrar el rastro en los logs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Cortar consultas con maxTimeMS y con defaultMaxTimeMS</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35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dia3/lab08-usuarios-roles/README.md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19 / 32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10</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Cifrado en tránsito: TLS</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Cifrar las conexiones de clientes y miembros sin parar el servicio</a:t>
            </a:r>
            <a:endParaRPr lang="en-US" sz="1800" dirty="0"/>
          </a:p>
        </p:txBody>
      </p:sp>
      <p:sp>
        <p:nvSpPr>
          <p:cNvPr id="7" name="Shape 5"/>
          <p:cNvSpPr/>
          <p:nvPr/>
        </p:nvSpPr>
        <p:spPr>
          <a:xfrm>
            <a:off x="2377440" y="3749040"/>
            <a:ext cx="2110664"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Configuración de TLS</a:t>
            </a:r>
            <a:endParaRPr lang="en-US" sz="1600" dirty="0"/>
          </a:p>
        </p:txBody>
      </p:sp>
      <p:sp>
        <p:nvSpPr>
          <p:cNvPr id="9" name="Shape 7"/>
          <p:cNvSpPr/>
          <p:nvPr/>
        </p:nvSpPr>
        <p:spPr>
          <a:xfrm>
            <a:off x="4762424" y="3749040"/>
            <a:ext cx="2110664"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4945304"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Requisitos de los certificados</a:t>
            </a:r>
            <a:endParaRPr lang="en-US" sz="1600" dirty="0"/>
          </a:p>
        </p:txBody>
      </p:sp>
      <p:sp>
        <p:nvSpPr>
          <p:cNvPr id="11" name="Shape 9"/>
          <p:cNvSpPr/>
          <p:nvPr/>
        </p:nvSpPr>
        <p:spPr>
          <a:xfrm>
            <a:off x="7147408" y="3749040"/>
            <a:ext cx="2110664"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7330288"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Migración rolling a TLS</a:t>
            </a:r>
            <a:endParaRPr lang="en-US" sz="1600" dirty="0"/>
          </a:p>
        </p:txBody>
      </p:sp>
      <p:sp>
        <p:nvSpPr>
          <p:cNvPr id="13" name="Shape 11"/>
          <p:cNvSpPr/>
          <p:nvPr/>
        </p:nvSpPr>
        <p:spPr>
          <a:xfrm>
            <a:off x="9532391" y="3749040"/>
            <a:ext cx="2110664"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9715271"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Rotación de certificados</a:t>
            </a:r>
            <a:endParaRPr lang="en-US" sz="1600" dirty="0"/>
          </a:p>
        </p:txBody>
      </p:sp>
      <p:sp>
        <p:nvSpPr>
          <p:cNvPr id="15" name="Text 1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3 · Seguridad</a:t>
            </a:r>
            <a:endParaRPr lang="en-US" sz="1000" dirty="0"/>
          </a:p>
        </p:txBody>
      </p:sp>
      <p:sp>
        <p:nvSpPr>
          <p:cNvPr id="16" name="Text 14"/>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20 / 32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Configuración de TLS</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mongod.conf</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400" dirty="0">
                <a:solidFill>
                  <a:srgbClr val="D8F3E3"/>
                </a:solidFill>
                <a:latin typeface="Courier New" pitchFamily="34" charset="0"/>
                <a:ea typeface="Courier New" pitchFamily="34" charset="-122"/>
                <a:cs typeface="Courier New" pitchFamily="34" charset="-120"/>
              </a:rPr>
              <a:t>net:
  port: 27017
  bindIp: 0.0.0.0
  tls:
    mode: requireTLS
    certificateKeyFile: /etc/mongodb/tls/mongo1.pem
    CAFile: /etc/mongodb/tls/ca.pem
    clusterFile: /etc/mongodb/tls/mongo1-cluster.pem
    allowConnectionsWithoutCertificates: true
    disabledProtocols: TLS1_0,TLS1_1
# Cliente
mongosh "mongodb://.../?replicaSet=rs0&amp;tls=true
         &amp;tlsCAFile=/etc/ssl/ca.pem"
</a:t>
            </a:r>
            <a:endParaRPr lang="en-US" sz="14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mode</a:t>
            </a:r>
            <a:r>
              <a:rPr lang="en-US" sz="1600" dirty="0">
                <a:solidFill>
                  <a:srgbClr val="1C2B27"/>
                </a:solidFill>
                <a:latin typeface="Calibri" pitchFamily="34" charset="0"/>
                <a:ea typeface="Calibri" pitchFamily="34" charset="-122"/>
                <a:cs typeface="Calibri" pitchFamily="34" charset="-120"/>
              </a:rPr>
              <a:t>: disabled, allowTLS, preferTLS, requireTLS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certificateKeyFile</a:t>
            </a:r>
            <a:r>
              <a:rPr lang="en-US" sz="1600" dirty="0">
                <a:solidFill>
                  <a:srgbClr val="1C2B27"/>
                </a:solidFill>
                <a:latin typeface="Calibri" pitchFamily="34" charset="0"/>
                <a:ea typeface="Calibri" pitchFamily="34" charset="-122"/>
                <a:cs typeface="Calibri" pitchFamily="34" charset="-120"/>
              </a:rPr>
              <a:t>: clave privada + certificado del servidor</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CAFile</a:t>
            </a:r>
            <a:r>
              <a:rPr lang="en-US" sz="1600" dirty="0">
                <a:solidFill>
                  <a:srgbClr val="1C2B27"/>
                </a:solidFill>
                <a:latin typeface="Calibri" pitchFamily="34" charset="0"/>
                <a:ea typeface="Calibri" pitchFamily="34" charset="-122"/>
                <a:cs typeface="Calibri" pitchFamily="34" charset="-120"/>
              </a:rPr>
              <a:t>: CA para validar a clientes y otros miembros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clusterFile</a:t>
            </a:r>
            <a:r>
              <a:rPr lang="en-US" sz="1600" dirty="0">
                <a:solidFill>
                  <a:srgbClr val="1C2B27"/>
                </a:solidFill>
                <a:latin typeface="Calibri" pitchFamily="34" charset="0"/>
                <a:ea typeface="Calibri" pitchFamily="34" charset="-122"/>
                <a:cs typeface="Calibri" pitchFamily="34" charset="-120"/>
              </a:rPr>
              <a:t>: certificado para hablar con otros miembros (opcional)</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allowConnectionsWithoutCertificates</a:t>
            </a:r>
            <a:r>
              <a:rPr lang="en-US" sz="1600" dirty="0">
                <a:solidFill>
                  <a:srgbClr val="1C2B27"/>
                </a:solidFill>
                <a:latin typeface="Calibri" pitchFamily="34" charset="0"/>
                <a:ea typeface="Calibri" pitchFamily="34" charset="-122"/>
                <a:cs typeface="Calibri" pitchFamily="34" charset="-120"/>
              </a:rPr>
              <a:t>: clientes sin certificado propio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Protocolos antiguos deshabilitados (TLS 1.2+)</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21 / 32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Requisitos de los certificados</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Subject Alternative Name</a:t>
            </a:r>
            <a:r>
              <a:rPr lang="en-US" sz="2000" dirty="0">
                <a:solidFill>
                  <a:srgbClr val="1C2B27"/>
                </a:solidFill>
                <a:latin typeface="Calibri" pitchFamily="34" charset="0"/>
                <a:ea typeface="Calibri" pitchFamily="34" charset="-122"/>
                <a:cs typeface="Calibri" pitchFamily="34" charset="-120"/>
              </a:rPr>
              <a:t> con el nombre de host exacto que usan los clientes y rs.conf()</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Extended Key Usage</a:t>
            </a:r>
            <a:r>
              <a:rPr lang="en-US" sz="2000" dirty="0">
                <a:solidFill>
                  <a:srgbClr val="1C2B27"/>
                </a:solidFill>
                <a:latin typeface="Calibri" pitchFamily="34" charset="0"/>
                <a:ea typeface="Calibri" pitchFamily="34" charset="-122"/>
                <a:cs typeface="Calibri" pitchFamily="34" charset="-120"/>
              </a:rPr>
              <a:t>: serverAuth y, para miembros, también clientAuth</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Firmados por una </a:t>
            </a:r>
            <a:r>
              <a:rPr lang="en-US" sz="2000" b="1" dirty="0">
                <a:solidFill>
                  <a:srgbClr val="1C2B27"/>
                </a:solidFill>
                <a:latin typeface="Calibri" pitchFamily="34" charset="0"/>
                <a:ea typeface="Calibri" pitchFamily="34" charset="-122"/>
                <a:cs typeface="Calibri" pitchFamily="34" charset="-120"/>
              </a:rPr>
              <a:t>CA</a:t>
            </a:r>
            <a:r>
              <a:rPr lang="en-US" sz="2000" dirty="0">
                <a:solidFill>
                  <a:srgbClr val="1C2B27"/>
                </a:solidFill>
                <a:latin typeface="Calibri" pitchFamily="34" charset="0"/>
                <a:ea typeface="Calibri" pitchFamily="34" charset="-122"/>
                <a:cs typeface="Calibri" pitchFamily="34" charset="-120"/>
              </a:rPr>
              <a:t> de confianza (corporativa o pública)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Fichero </a:t>
            </a:r>
            <a:r>
              <a:rPr lang="en-US" sz="2000" b="1" dirty="0">
                <a:solidFill>
                  <a:srgbClr val="1C2B27"/>
                </a:solidFill>
                <a:latin typeface="Calibri" pitchFamily="34" charset="0"/>
                <a:ea typeface="Calibri" pitchFamily="34" charset="-122"/>
                <a:cs typeface="Calibri" pitchFamily="34" charset="-120"/>
              </a:rPr>
              <a:t>PEM</a:t>
            </a:r>
            <a:r>
              <a:rPr lang="en-US" sz="2000" dirty="0">
                <a:solidFill>
                  <a:srgbClr val="1C2B27"/>
                </a:solidFill>
                <a:latin typeface="Calibri" pitchFamily="34" charset="0"/>
                <a:ea typeface="Calibri" pitchFamily="34" charset="-122"/>
                <a:cs typeface="Calibri" pitchFamily="34" charset="-120"/>
              </a:rPr>
              <a:t>: clave privada + certificado, legible solo por el usuario de mongod</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Caducidad</a:t>
            </a:r>
            <a:r>
              <a:rPr lang="en-US" sz="2000" dirty="0">
                <a:solidFill>
                  <a:srgbClr val="1C2B27"/>
                </a:solidFill>
                <a:latin typeface="Calibri" pitchFamily="34" charset="0"/>
                <a:ea typeface="Calibri" pitchFamily="34" charset="-122"/>
                <a:cs typeface="Calibri" pitchFamily="34" charset="-120"/>
              </a:rPr>
              <a:t> vigilada: un certificado caducado para el cluster entero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Rotación en caliente: </a:t>
            </a:r>
            <a:r>
              <a:rPr lang="en-US" sz="2000" b="1" dirty="0">
                <a:solidFill>
                  <a:srgbClr val="1C2B27"/>
                </a:solidFill>
                <a:latin typeface="Calibri" pitchFamily="34" charset="0"/>
                <a:ea typeface="Calibri" pitchFamily="34" charset="-122"/>
                <a:cs typeface="Calibri" pitchFamily="34" charset="-120"/>
              </a:rPr>
              <a:t>db.adminCommand({ rotateCertificates: 1 })</a:t>
            </a:r>
            <a:r>
              <a:rPr lang="en-US" sz="2000" dirty="0">
                <a:solidFill>
                  <a:srgbClr val="1C2B27"/>
                </a:solidFill>
                <a:latin typeface="Calibri" pitchFamily="34" charset="0"/>
                <a:ea typeface="Calibri" pitchFamily="34" charset="-122"/>
                <a:cs typeface="Calibri" pitchFamily="34" charset="-120"/>
              </a:rPr>
              <a:t> (5.0+)</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El incidente clásico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Todos los certificados se emitieron el mismo día con un año de validez. Un año después, a la misma hora, ningún nodo acepta conexiones de los demás ni de los clientes. Poned una alerta sobre la fecha de caducidad que muestra serverStatus().security.</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22 / 32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Migración de un replica set a TLS sin parada</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Certificados</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Emitir y desplegar certificados en todos los nodos y la CA en los clientes.</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allowTLS</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Reinicio rolling. Los nodos aceptan TLS y sin TLS; entre ellos, sin TLS.</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preferTLS</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setParameter en caliente. Entre miembros ya se usa TLS. Migrar clientes a tls=true.</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F2B33D"/>
          </a:solidFill>
          <a:ln w="12700">
            <a:solidFill>
              <a:srgbClr val="F2B33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requireTLS</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setParameter en caliente cuando todos los clientes usan TLS. Sin TLS, se rechaza.</a:t>
            </a:r>
            <a:endParaRPr lang="en-US" sz="1600" dirty="0"/>
          </a:p>
        </p:txBody>
      </p:sp>
      <p:sp>
        <p:nvSpPr>
          <p:cNvPr id="23" name="Shape 21"/>
          <p:cNvSpPr/>
          <p:nvPr/>
        </p:nvSpPr>
        <p:spPr>
          <a:xfrm>
            <a:off x="10213574" y="2011680"/>
            <a:ext cx="822960" cy="822960"/>
          </a:xfrm>
          <a:prstGeom prst="ellipse">
            <a:avLst/>
          </a:prstGeom>
          <a:solidFill>
            <a:srgbClr val="1F7A4D"/>
          </a:solidFill>
          <a:ln w="12700">
            <a:solidFill>
              <a:srgbClr val="1F7A4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Persistir</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Fijar requireTLS en la configuración y verificar en el siguiente rolling.</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db.adminCommand({ setParameter: 1, tlsMode: "preferTLS" }) en cada nodo. Entre fase y fase, comprobar conexiones y logs.</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23 / 32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09</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Migración rolling a TLS y autenticación x.509</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Generar una CA privada y certificados para nodos y cliente</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Reiniciar el replica set en allowTLS con la aplicación funcionando</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Pasar a preferTLS y requireTLS en caliente con setParameter</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Hacer el cambio permanente y comprobar que sin TLS se rechaza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un usuario x.509 y conectarse con certificado, sin contraseña</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40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dia3/lab09-tls-x509/README.md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24 / 32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11</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14630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Auditoría y cifrado en reposo</a:t>
            </a:r>
            <a:endParaRPr lang="en-US" sz="3600" dirty="0"/>
          </a:p>
        </p:txBody>
      </p:sp>
      <p:sp>
        <p:nvSpPr>
          <p:cNvPr id="6" name="Text 4"/>
          <p:cNvSpPr txBox="1"/>
          <p:nvPr/>
        </p:nvSpPr>
        <p:spPr>
          <a:xfrm>
            <a:off x="2377440" y="32004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Quién hizo qué, y datos ilegibles sin la clave</a:t>
            </a:r>
            <a:endParaRPr lang="en-US" sz="1800" dirty="0"/>
          </a:p>
        </p:txBody>
      </p:sp>
      <p:sp>
        <p:nvSpPr>
          <p:cNvPr id="7" name="Shape 5"/>
          <p:cNvSpPr/>
          <p:nvPr/>
        </p:nvSpPr>
        <p:spPr>
          <a:xfrm>
            <a:off x="2377440" y="406908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Auditoría</a:t>
            </a:r>
            <a:endParaRPr lang="en-US" sz="1600" dirty="0"/>
          </a:p>
        </p:txBody>
      </p:sp>
      <p:sp>
        <p:nvSpPr>
          <p:cNvPr id="9" name="Shape 7"/>
          <p:cNvSpPr/>
          <p:nvPr/>
        </p:nvSpPr>
        <p:spPr>
          <a:xfrm>
            <a:off x="5557418" y="406908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Filtros de auditoría</a:t>
            </a:r>
            <a:endParaRPr lang="en-US" sz="1600" dirty="0"/>
          </a:p>
        </p:txBody>
      </p:sp>
      <p:sp>
        <p:nvSpPr>
          <p:cNvPr id="11" name="Shape 9"/>
          <p:cNvSpPr/>
          <p:nvPr/>
        </p:nvSpPr>
        <p:spPr>
          <a:xfrm>
            <a:off x="8737397" y="406908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40690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Cifrado en reposo</a:t>
            </a:r>
            <a:endParaRPr lang="en-US" sz="1600" dirty="0"/>
          </a:p>
        </p:txBody>
      </p:sp>
      <p:sp>
        <p:nvSpPr>
          <p:cNvPr id="13" name="Shape 11"/>
          <p:cNvSpPr/>
          <p:nvPr/>
        </p:nvSpPr>
        <p:spPr>
          <a:xfrm>
            <a:off x="2377440" y="498348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Gestión y rotación de claves</a:t>
            </a:r>
            <a:endParaRPr lang="en-US" sz="1600" dirty="0"/>
          </a:p>
        </p:txBody>
      </p:sp>
      <p:sp>
        <p:nvSpPr>
          <p:cNvPr id="15" name="Shape 13"/>
          <p:cNvSpPr/>
          <p:nvPr/>
        </p:nvSpPr>
        <p:spPr>
          <a:xfrm>
            <a:off x="5557418" y="498348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98348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Qué protege cada medida</a:t>
            </a:r>
            <a:endParaRPr lang="en-US" sz="16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3 · Seguridad</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25 / 32</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Auditoría</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mongod.conf (Enterprise / Percona Server)</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200" dirty="0">
                <a:solidFill>
                  <a:srgbClr val="D8F3E3"/>
                </a:solidFill>
                <a:latin typeface="Courier New" pitchFamily="34" charset="0"/>
                <a:ea typeface="Courier New" pitchFamily="34" charset="-122"/>
                <a:cs typeface="Courier New" pitchFamily="34" charset="-120"/>
              </a:rPr>
              <a:t>auditLog:
  destination: file          # file | syslog | console
  format: JSON               # JSON | BSON
  path: /var/log/mongodb/audit.json
  filter: '{ $or: [
      { atype: { $in: [ "authenticate", "createUser",
                        "dropUser", "grantRolesToUser",
                        "dropCollection", "dropDatabase" ] } },
      { atype: "authCheck", "param.ns": "rrhh.nominas" }
  ] }'
setParameter:
  auditAuthorizationSuccess: true
# Un evento:
{ "atype": "authenticate", "ts": { "$date": "..." },
  "remote": { "ip": "10.0.2.15", "port": 51234 },
  "users": [ { "user": "rrhh_lector", "db": "admin" } ],
  "param": { "mechanism": "SCRAM-SHA-256" }, "result": 18 }
</a:t>
            </a:r>
            <a:endParaRPr lang="en-US" sz="12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Registra </a:t>
            </a:r>
            <a:r>
              <a:rPr lang="en-US" sz="1600" b="1" dirty="0">
                <a:solidFill>
                  <a:srgbClr val="1C2B27"/>
                </a:solidFill>
                <a:latin typeface="Calibri" pitchFamily="34" charset="0"/>
                <a:ea typeface="Calibri" pitchFamily="34" charset="-122"/>
                <a:cs typeface="Calibri" pitchFamily="34" charset="-120"/>
              </a:rPr>
              <a:t>quién</a:t>
            </a:r>
            <a:r>
              <a:rPr lang="en-US" sz="1600" dirty="0">
                <a:solidFill>
                  <a:srgbClr val="1C2B27"/>
                </a:solidFill>
                <a:latin typeface="Calibri" pitchFamily="34" charset="0"/>
                <a:ea typeface="Calibri" pitchFamily="34" charset="-122"/>
                <a:cs typeface="Calibri" pitchFamily="34" charset="-120"/>
              </a:rPr>
              <a:t>, </a:t>
            </a:r>
            <a:r>
              <a:rPr lang="en-US" sz="1600" b="1" dirty="0">
                <a:solidFill>
                  <a:srgbClr val="1C2B27"/>
                </a:solidFill>
                <a:latin typeface="Calibri" pitchFamily="34" charset="0"/>
                <a:ea typeface="Calibri" pitchFamily="34" charset="-122"/>
                <a:cs typeface="Calibri" pitchFamily="34" charset="-120"/>
              </a:rPr>
              <a:t>desde dónde</a:t>
            </a:r>
            <a:r>
              <a:rPr lang="en-US" sz="1600" dirty="0">
                <a:solidFill>
                  <a:srgbClr val="1C2B27"/>
                </a:solidFill>
                <a:latin typeface="Calibri" pitchFamily="34" charset="0"/>
                <a:ea typeface="Calibri" pitchFamily="34" charset="-122"/>
                <a:cs typeface="Calibri" pitchFamily="34" charset="-120"/>
              </a:rPr>
              <a:t>, </a:t>
            </a:r>
            <a:r>
              <a:rPr lang="en-US" sz="1600" b="1" dirty="0">
                <a:solidFill>
                  <a:srgbClr val="1C2B27"/>
                </a:solidFill>
                <a:latin typeface="Calibri" pitchFamily="34" charset="0"/>
                <a:ea typeface="Calibri" pitchFamily="34" charset="-122"/>
                <a:cs typeface="Calibri" pitchFamily="34" charset="-120"/>
              </a:rPr>
              <a:t>cuándo</a:t>
            </a:r>
            <a:r>
              <a:rPr lang="en-US" sz="1600" dirty="0">
                <a:solidFill>
                  <a:srgbClr val="1C2B27"/>
                </a:solidFill>
                <a:latin typeface="Calibri" pitchFamily="34" charset="0"/>
                <a:ea typeface="Calibri" pitchFamily="34" charset="-122"/>
                <a:cs typeface="Calibri" pitchFamily="34" charset="-120"/>
              </a:rPr>
              <a:t>, </a:t>
            </a:r>
            <a:r>
              <a:rPr lang="en-US" sz="1600" b="1" dirty="0">
                <a:solidFill>
                  <a:srgbClr val="1C2B27"/>
                </a:solidFill>
                <a:latin typeface="Calibri" pitchFamily="34" charset="0"/>
                <a:ea typeface="Calibri" pitchFamily="34" charset="-122"/>
                <a:cs typeface="Calibri" pitchFamily="34" charset="-120"/>
              </a:rPr>
              <a:t>qué</a:t>
            </a:r>
            <a:r>
              <a:rPr lang="en-US" sz="1600" dirty="0">
                <a:solidFill>
                  <a:srgbClr val="1C2B27"/>
                </a:solidFill>
                <a:latin typeface="Calibri" pitchFamily="34" charset="0"/>
                <a:ea typeface="Calibri" pitchFamily="34" charset="-122"/>
                <a:cs typeface="Calibri" pitchFamily="34" charset="-120"/>
              </a:rPr>
              <a:t> y </a:t>
            </a:r>
            <a:r>
              <a:rPr lang="en-US" sz="1600" b="1" dirty="0">
                <a:solidFill>
                  <a:srgbClr val="1C2B27"/>
                </a:solidFill>
                <a:latin typeface="Calibri" pitchFamily="34" charset="0"/>
                <a:ea typeface="Calibri" pitchFamily="34" charset="-122"/>
                <a:cs typeface="Calibri" pitchFamily="34" charset="-120"/>
              </a:rPr>
              <a:t>con qué resultado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Eventos de administración, autenticación y, opcionalmente, </a:t>
            </a:r>
            <a:r>
              <a:rPr lang="en-US" sz="1600" b="1" dirty="0">
                <a:solidFill>
                  <a:srgbClr val="1C2B27"/>
                </a:solidFill>
                <a:latin typeface="Calibri" pitchFamily="34" charset="0"/>
                <a:ea typeface="Calibri" pitchFamily="34" charset="-122"/>
                <a:cs typeface="Calibri" pitchFamily="34" charset="-120"/>
              </a:rPr>
              <a:t>CRUD</a:t>
            </a:r>
            <a:r>
              <a:rPr lang="en-US" sz="1600" dirty="0">
                <a:solidFill>
                  <a:srgbClr val="1C2B27"/>
                </a:solidFill>
                <a:latin typeface="Calibri" pitchFamily="34" charset="0"/>
                <a:ea typeface="Calibri" pitchFamily="34" charset="-122"/>
                <a:cs typeface="Calibri" pitchFamily="34" charset="-120"/>
              </a:rPr>
              <a:t> (authCheck)</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auditAuthorizationSuccess</a:t>
            </a:r>
            <a:r>
              <a:rPr lang="en-US" sz="1600" dirty="0">
                <a:solidFill>
                  <a:srgbClr val="1C2B27"/>
                </a:solidFill>
                <a:latin typeface="Calibri" pitchFamily="34" charset="0"/>
                <a:ea typeface="Calibri" pitchFamily="34" charset="-122"/>
                <a:cs typeface="Calibri" pitchFamily="34" charset="-120"/>
              </a:rPr>
              <a:t>: registrar también accesos permitidos</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Enviar a un </a:t>
            </a:r>
            <a:r>
              <a:rPr lang="en-US" sz="1600" b="1" dirty="0">
                <a:solidFill>
                  <a:srgbClr val="1C2B27"/>
                </a:solidFill>
                <a:latin typeface="Calibri" pitchFamily="34" charset="0"/>
                <a:ea typeface="Calibri" pitchFamily="34" charset="-122"/>
                <a:cs typeface="Calibri" pitchFamily="34" charset="-120"/>
              </a:rPr>
              <a:t>SIEM</a:t>
            </a:r>
            <a:r>
              <a:rPr lang="en-US" sz="1600" dirty="0">
                <a:solidFill>
                  <a:srgbClr val="1C2B27"/>
                </a:solidFill>
                <a:latin typeface="Calibri" pitchFamily="34" charset="0"/>
                <a:ea typeface="Calibri" pitchFamily="34" charset="-122"/>
                <a:cs typeface="Calibri" pitchFamily="34" charset="-120"/>
              </a:rPr>
              <a:t> vía syslog o recolector de ficheros</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26 / 32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Diseñar el filtro de auditoría</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4023360"/>
                <a:gridCol w="402336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Qué auditar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Eventos (atype)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Coste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Autenticación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authenticate (éxitos y fallos)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Bajo: siempre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Gestión de usuarios y roles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createUser, dropUser, updateUser, grantRolesToUser...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Mínimo: siempre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Cambios de esquema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createCollection, dropCollection, dropDatabase, createIndex</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Bajo: siempre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Cambios de configuración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replSetReconfig, shutdown, setParameter...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Mínimo: siempre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Lectura y escritura de datos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authCheck (con auditAuthorizationSuccess)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Alto: solo colecciones sensibles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300" i="1" dirty="0">
                <a:solidFill>
                  <a:srgbClr val="5B6B66"/>
                </a:solidFill>
                <a:latin typeface="Calibri" pitchFamily="34" charset="0"/>
                <a:ea typeface="Calibri" pitchFamily="34" charset="-122"/>
                <a:cs typeface="Calibri" pitchFamily="34" charset="-120"/>
              </a:rPr>
              <a:t>Auditar todo el CRUD multiplica el volumen y penaliza el rendimiento. Y el fichero de auditoría puede contener datos sensibles: protegedlo.</a:t>
            </a:r>
            <a:endParaRPr lang="en-US" sz="1300" dirty="0"/>
          </a:p>
        </p:txBody>
      </p:sp>
      <p:sp>
        <p:nvSpPr>
          <p:cNvPr id="5" name="Text 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6" name="Text 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27 / 32</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Cifrado en reposo</a:t>
            </a:r>
            <a:endParaRPr lang="en-US" sz="3200" dirty="0"/>
          </a:p>
        </p:txBody>
      </p:sp>
      <p:sp>
        <p:nvSpPr>
          <p:cNvPr id="3" name="Shape 1"/>
          <p:cNvSpPr/>
          <p:nvPr/>
        </p:nvSpPr>
        <p:spPr>
          <a:xfrm>
            <a:off x="2261197" y="2423160"/>
            <a:ext cx="2007794" cy="0"/>
          </a:xfrm>
          <a:prstGeom prst="line">
            <a:avLst/>
          </a:prstGeom>
          <a:noFill/>
          <a:ln w="31750">
            <a:solidFill>
              <a:srgbClr val="2E9E66"/>
            </a:solidFill>
            <a:prstDash val="solid"/>
            <a:tailEnd type="triangle"/>
          </a:ln>
        </p:spPr>
      </p:sp>
      <p:sp>
        <p:nvSpPr>
          <p:cNvPr id="4" name="Shape 2"/>
          <p:cNvSpPr/>
          <p:nvPr/>
        </p:nvSpPr>
        <p:spPr>
          <a:xfrm>
            <a:off x="1438237" y="2011680"/>
            <a:ext cx="822960" cy="822960"/>
          </a:xfrm>
          <a:prstGeom prst="ellipse">
            <a:avLst/>
          </a:prstGeom>
          <a:solidFill>
            <a:srgbClr val="F2B33D"/>
          </a:solidFill>
          <a:ln w="12700">
            <a:solidFill>
              <a:srgbClr val="F2B33D"/>
            </a:solidFill>
            <a:prstDash val="solid"/>
          </a:ln>
        </p:spPr>
      </p:sp>
      <p:sp>
        <p:nvSpPr>
          <p:cNvPr id="5" name="Text 3"/>
          <p:cNvSpPr txBox="1"/>
          <p:nvPr/>
        </p:nvSpPr>
        <p:spPr>
          <a:xfrm>
            <a:off x="1438237"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Clave maestra</a:t>
            </a:r>
            <a:endParaRPr lang="en-US" sz="1700" dirty="0"/>
          </a:p>
        </p:txBody>
      </p:sp>
      <p:sp>
        <p:nvSpPr>
          <p:cNvPr id="7" name="Text 5"/>
          <p:cNvSpPr txBox="1"/>
          <p:nvPr/>
        </p:nvSpPr>
        <p:spPr>
          <a:xfrm>
            <a:off x="594360"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Custodiada fuera del servidor: KMIP o Vault (fichero local solo en pruebas).</a:t>
            </a:r>
            <a:endParaRPr lang="en-US" sz="1600" dirty="0"/>
          </a:p>
        </p:txBody>
      </p:sp>
      <p:sp>
        <p:nvSpPr>
          <p:cNvPr id="8" name="Shape 6"/>
          <p:cNvSpPr/>
          <p:nvPr/>
        </p:nvSpPr>
        <p:spPr>
          <a:xfrm>
            <a:off x="5091951" y="2423160"/>
            <a:ext cx="2007794" cy="0"/>
          </a:xfrm>
          <a:prstGeom prst="line">
            <a:avLst/>
          </a:prstGeom>
          <a:noFill/>
          <a:ln w="31750">
            <a:solidFill>
              <a:srgbClr val="2E9E66"/>
            </a:solidFill>
            <a:prstDash val="solid"/>
            <a:tailEnd type="triangle"/>
          </a:ln>
        </p:spPr>
      </p:sp>
      <p:sp>
        <p:nvSpPr>
          <p:cNvPr id="9" name="Shape 7"/>
          <p:cNvSpPr/>
          <p:nvPr/>
        </p:nvSpPr>
        <p:spPr>
          <a:xfrm>
            <a:off x="4268991" y="2011680"/>
            <a:ext cx="822960" cy="822960"/>
          </a:xfrm>
          <a:prstGeom prst="ellipse">
            <a:avLst/>
          </a:prstGeom>
          <a:solidFill>
            <a:srgbClr val="1F7A4D"/>
          </a:solidFill>
          <a:ln w="12700">
            <a:solidFill>
              <a:srgbClr val="1F7A4D"/>
            </a:solidFill>
            <a:prstDash val="solid"/>
          </a:ln>
        </p:spPr>
      </p:sp>
      <p:sp>
        <p:nvSpPr>
          <p:cNvPr id="10" name="Text 8"/>
          <p:cNvSpPr txBox="1"/>
          <p:nvPr/>
        </p:nvSpPr>
        <p:spPr>
          <a:xfrm>
            <a:off x="4268991"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3379394"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Claves de base de datos</a:t>
            </a:r>
            <a:endParaRPr lang="en-US" sz="1700" dirty="0"/>
          </a:p>
        </p:txBody>
      </p:sp>
      <p:sp>
        <p:nvSpPr>
          <p:cNvPr id="12" name="Text 10"/>
          <p:cNvSpPr txBox="1"/>
          <p:nvPr/>
        </p:nvSpPr>
        <p:spPr>
          <a:xfrm>
            <a:off x="3425114"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Una por base de datos, cifradas con la clave maestra.</a:t>
            </a:r>
            <a:endParaRPr lang="en-US" sz="1600" dirty="0"/>
          </a:p>
        </p:txBody>
      </p:sp>
      <p:sp>
        <p:nvSpPr>
          <p:cNvPr id="13" name="Shape 11"/>
          <p:cNvSpPr/>
          <p:nvPr/>
        </p:nvSpPr>
        <p:spPr>
          <a:xfrm>
            <a:off x="7922705" y="2423160"/>
            <a:ext cx="2007794" cy="0"/>
          </a:xfrm>
          <a:prstGeom prst="line">
            <a:avLst/>
          </a:prstGeom>
          <a:noFill/>
          <a:ln w="31750">
            <a:solidFill>
              <a:srgbClr val="2E9E66"/>
            </a:solidFill>
            <a:prstDash val="solid"/>
            <a:tailEnd type="triangle"/>
          </a:ln>
        </p:spPr>
      </p:sp>
      <p:sp>
        <p:nvSpPr>
          <p:cNvPr id="14" name="Shape 12"/>
          <p:cNvSpPr/>
          <p:nvPr/>
        </p:nvSpPr>
        <p:spPr>
          <a:xfrm>
            <a:off x="7099745" y="2011680"/>
            <a:ext cx="822960" cy="822960"/>
          </a:xfrm>
          <a:prstGeom prst="ellipse">
            <a:avLst/>
          </a:prstGeom>
          <a:solidFill>
            <a:srgbClr val="1F7A4D"/>
          </a:solidFill>
          <a:ln w="12700">
            <a:solidFill>
              <a:srgbClr val="1F7A4D"/>
            </a:solidFill>
            <a:prstDash val="solid"/>
          </a:ln>
        </p:spPr>
      </p:sp>
      <p:sp>
        <p:nvSpPr>
          <p:cNvPr id="15" name="Text 13"/>
          <p:cNvSpPr txBox="1"/>
          <p:nvPr/>
        </p:nvSpPr>
        <p:spPr>
          <a:xfrm>
            <a:off x="7099745"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6210148"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WiredTiger</a:t>
            </a:r>
            <a:endParaRPr lang="en-US" sz="1700" dirty="0"/>
          </a:p>
        </p:txBody>
      </p:sp>
      <p:sp>
        <p:nvSpPr>
          <p:cNvPr id="17" name="Text 15"/>
          <p:cNvSpPr txBox="1"/>
          <p:nvPr/>
        </p:nvSpPr>
        <p:spPr>
          <a:xfrm>
            <a:off x="6255868"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Cifra cada página con AES-256 antes de escribirla, y el journal.</a:t>
            </a:r>
            <a:endParaRPr lang="en-US" sz="1600" dirty="0"/>
          </a:p>
        </p:txBody>
      </p:sp>
      <p:sp>
        <p:nvSpPr>
          <p:cNvPr id="18" name="Shape 16"/>
          <p:cNvSpPr/>
          <p:nvPr/>
        </p:nvSpPr>
        <p:spPr>
          <a:xfrm>
            <a:off x="9930498" y="2011680"/>
            <a:ext cx="822960" cy="822960"/>
          </a:xfrm>
          <a:prstGeom prst="ellipse">
            <a:avLst/>
          </a:prstGeom>
          <a:solidFill>
            <a:srgbClr val="F2B33D"/>
          </a:solidFill>
          <a:ln w="12700">
            <a:solidFill>
              <a:srgbClr val="F2B33D"/>
            </a:solidFill>
            <a:prstDash val="solid"/>
          </a:ln>
        </p:spPr>
      </p:sp>
      <p:sp>
        <p:nvSpPr>
          <p:cNvPr id="19" name="Text 17"/>
          <p:cNvSpPr txBox="1"/>
          <p:nvPr/>
        </p:nvSpPr>
        <p:spPr>
          <a:xfrm>
            <a:off x="993049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4</a:t>
            </a:r>
            <a:endParaRPr lang="en-US" sz="2200" dirty="0"/>
          </a:p>
        </p:txBody>
      </p:sp>
      <p:sp>
        <p:nvSpPr>
          <p:cNvPr id="20" name="Text 18"/>
          <p:cNvSpPr txBox="1"/>
          <p:nvPr/>
        </p:nvSpPr>
        <p:spPr>
          <a:xfrm>
            <a:off x="9040901" y="3017520"/>
            <a:ext cx="2602154"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Disco</a:t>
            </a:r>
            <a:endParaRPr lang="en-US" sz="1700" dirty="0"/>
          </a:p>
        </p:txBody>
      </p:sp>
      <p:sp>
        <p:nvSpPr>
          <p:cNvPr id="21" name="Text 19"/>
          <p:cNvSpPr txBox="1"/>
          <p:nvPr/>
        </p:nvSpPr>
        <p:spPr>
          <a:xfrm>
            <a:off x="9086621" y="3657600"/>
            <a:ext cx="2510714"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Ficheros de datos, journal, rollback y backups físicos ilegibles sin la clave.</a:t>
            </a:r>
            <a:endParaRPr lang="en-US" sz="1600" dirty="0"/>
          </a:p>
        </p:txBody>
      </p:sp>
      <p:sp>
        <p:nvSpPr>
          <p:cNvPr id="22" name="Shape 20"/>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3" name="Text 21"/>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MongoDB Enterprise: --enableEncryption con KMIP. Percona Server: --enableEncryption con fichero de clave, Vault o KMIP.</a:t>
            </a:r>
            <a:endParaRPr lang="en-US" sz="1400" dirty="0"/>
          </a:p>
        </p:txBody>
      </p:sp>
      <p:sp>
        <p:nvSpPr>
          <p:cNvPr id="24" name="Text 22"/>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25" name="Text 23"/>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28 / 32</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Gestión y rotación de claves</a:t>
            </a:r>
            <a:endParaRPr lang="en-US" sz="3200" dirty="0"/>
          </a:p>
        </p:txBody>
      </p:sp>
      <p:sp>
        <p:nvSpPr>
          <p:cNvPr id="3" name="Shape 1"/>
          <p:cNvSpPr/>
          <p:nvPr/>
        </p:nvSpPr>
        <p:spPr>
          <a:xfrm>
            <a:off x="548640" y="1508760"/>
            <a:ext cx="5364328" cy="4617720"/>
          </a:xfrm>
          <a:prstGeom prst="roundRect">
            <a:avLst>
              <a:gd name="adj" fmla="val 2376"/>
            </a:avLst>
          </a:prstGeom>
          <a:solidFill>
            <a:srgbClr val="E8F3EC"/>
          </a:solidFill>
          <a:ln w="12700">
            <a:solidFill>
              <a:srgbClr val="E8F3EC"/>
            </a:solidFill>
            <a:prstDash val="solid"/>
          </a:ln>
        </p:spPr>
      </p:sp>
      <p:sp>
        <p:nvSpPr>
          <p:cNvPr id="4" name="Shape 2"/>
          <p:cNvSpPr/>
          <p:nvPr/>
        </p:nvSpPr>
        <p:spPr>
          <a:xfrm>
            <a:off x="822960" y="1783080"/>
            <a:ext cx="4815688" cy="502920"/>
          </a:xfrm>
          <a:prstGeom prst="roundRect">
            <a:avLst>
              <a:gd name="adj" fmla="val 14545"/>
            </a:avLst>
          </a:prstGeom>
          <a:solidFill>
            <a:srgbClr val="1F7A4D"/>
          </a:solidFill>
          <a:ln w="12700">
            <a:solidFill>
              <a:srgbClr val="1F7A4D"/>
            </a:solidFill>
            <a:prstDash val="solid"/>
          </a:ln>
        </p:spPr>
      </p:sp>
      <p:sp>
        <p:nvSpPr>
          <p:cNvPr id="5" name="Text 3"/>
          <p:cNvSpPr txBox="1"/>
          <p:nvPr/>
        </p:nvSpPr>
        <p:spPr>
          <a:xfrm>
            <a:off x="960120"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Fichero de clave local</a:t>
            </a:r>
            <a:endParaRPr lang="en-US" sz="1800" dirty="0"/>
          </a:p>
        </p:txBody>
      </p:sp>
      <p:sp>
        <p:nvSpPr>
          <p:cNvPr id="6" name="Text 4"/>
          <p:cNvSpPr txBox="1"/>
          <p:nvPr/>
        </p:nvSpPr>
        <p:spPr>
          <a:xfrm>
            <a:off x="822960"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Solo para pruebas y laboratorio</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Permisos 600, propiedad del usuario de mongod</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Si se pierde, los datos son </a:t>
            </a:r>
            <a:r>
              <a:rPr lang="en-US" sz="1800" b="1" dirty="0">
                <a:solidFill>
                  <a:srgbClr val="1C2B27"/>
                </a:solidFill>
                <a:latin typeface="Calibri" pitchFamily="34" charset="0"/>
                <a:ea typeface="Calibri" pitchFamily="34" charset="-122"/>
                <a:cs typeface="Calibri" pitchFamily="34" charset="-120"/>
              </a:rPr>
              <a:t>irrecuperables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Rotación: resincronizar cada nodo desde cero con la clave nueva, en rolling</a:t>
            </a:r>
            <a:endParaRPr lang="en-US" sz="1800" dirty="0"/>
          </a:p>
        </p:txBody>
      </p:sp>
      <p:sp>
        <p:nvSpPr>
          <p:cNvPr id="7" name="Shape 5"/>
          <p:cNvSpPr/>
          <p:nvPr/>
        </p:nvSpPr>
        <p:spPr>
          <a:xfrm>
            <a:off x="6278728" y="1508760"/>
            <a:ext cx="5364328" cy="4617720"/>
          </a:xfrm>
          <a:prstGeom prst="roundRect">
            <a:avLst>
              <a:gd name="adj" fmla="val 2376"/>
            </a:avLst>
          </a:prstGeom>
          <a:solidFill>
            <a:srgbClr val="F4F9F6"/>
          </a:solidFill>
          <a:ln w="12700">
            <a:solidFill>
              <a:srgbClr val="D5DDD9"/>
            </a:solidFill>
            <a:prstDash val="solid"/>
          </a:ln>
        </p:spPr>
      </p:sp>
      <p:sp>
        <p:nvSpPr>
          <p:cNvPr id="8" name="Shape 6"/>
          <p:cNvSpPr/>
          <p:nvPr/>
        </p:nvSpPr>
        <p:spPr>
          <a:xfrm>
            <a:off x="6553048" y="1783080"/>
            <a:ext cx="4815688" cy="502920"/>
          </a:xfrm>
          <a:prstGeom prst="roundRect">
            <a:avLst>
              <a:gd name="adj" fmla="val 14545"/>
            </a:avLst>
          </a:prstGeom>
          <a:solidFill>
            <a:srgbClr val="0F2A25"/>
          </a:solidFill>
          <a:ln w="12700">
            <a:solidFill>
              <a:srgbClr val="0F2A25"/>
            </a:solidFill>
            <a:prstDash val="solid"/>
          </a:ln>
        </p:spPr>
      </p:sp>
      <p:sp>
        <p:nvSpPr>
          <p:cNvPr id="9" name="Text 7"/>
          <p:cNvSpPr txBox="1"/>
          <p:nvPr/>
        </p:nvSpPr>
        <p:spPr>
          <a:xfrm>
            <a:off x="6690208" y="1783080"/>
            <a:ext cx="4541368"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Vault o KMIP</a:t>
            </a:r>
            <a:endParaRPr lang="en-US" sz="1800" dirty="0"/>
          </a:p>
        </p:txBody>
      </p:sp>
      <p:sp>
        <p:nvSpPr>
          <p:cNvPr id="10" name="Text 8"/>
          <p:cNvSpPr txBox="1"/>
          <p:nvPr/>
        </p:nvSpPr>
        <p:spPr>
          <a:xfrm>
            <a:off x="6553048" y="2468880"/>
            <a:ext cx="4815688" cy="3474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Clave maestra fuera del servidor, con acceso auditado</a:t>
            </a:r>
            <a:endParaRPr lang="en-US" sz="1800" dirty="0"/>
          </a:p>
          <a:p>
            <a:pPr marL="254000" indent="-254000">
              <a:spcAft>
                <a:spcPts val="800"/>
              </a:spcAft>
              <a:buSzPct val="100000"/>
              <a:buChar char="●"/>
            </a:pPr>
            <a:r>
              <a:rPr lang="en-US" sz="1800" b="1" dirty="0">
                <a:solidFill>
                  <a:srgbClr val="1C2B27"/>
                </a:solidFill>
                <a:latin typeface="Calibri" pitchFamily="34" charset="0"/>
                <a:ea typeface="Calibri" pitchFamily="34" charset="-122"/>
                <a:cs typeface="Calibri" pitchFamily="34" charset="-120"/>
              </a:rPr>
              <a:t>Rotación de la clave maestra</a:t>
            </a:r>
            <a:r>
              <a:rPr lang="en-US" sz="1800" dirty="0">
                <a:solidFill>
                  <a:srgbClr val="1C2B27"/>
                </a:solidFill>
                <a:latin typeface="Calibri" pitchFamily="34" charset="0"/>
                <a:ea typeface="Calibri" pitchFamily="34" charset="-122"/>
                <a:cs typeface="Calibri" pitchFamily="34" charset="-120"/>
              </a:rPr>
              <a:t> sin reescribir los datos</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Percona: --vaultRotateMasterKey / --kmipRotateMasterKey</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Rotación nodo a nodo: reinicio rolling con la opción de rotar</a:t>
            </a:r>
            <a:endParaRPr lang="en-US" sz="1800" dirty="0"/>
          </a:p>
          <a:p>
            <a:pPr marL="254000" indent="-254000">
              <a:spcAft>
                <a:spcPts val="800"/>
              </a:spcAft>
              <a:buSzPct val="100000"/>
              <a:buChar char="●"/>
            </a:pPr>
            <a:r>
              <a:rPr lang="en-US" sz="1800" dirty="0">
                <a:solidFill>
                  <a:srgbClr val="1C2B27"/>
                </a:solidFill>
                <a:latin typeface="Calibri" pitchFamily="34" charset="0"/>
                <a:ea typeface="Calibri" pitchFamily="34" charset="-122"/>
                <a:cs typeface="Calibri" pitchFamily="34" charset="-120"/>
              </a:rPr>
              <a:t>Alta disponibilidad del gestor: sin él, mongod no arranca</a:t>
            </a:r>
            <a:endParaRPr lang="en-US" sz="1800" dirty="0"/>
          </a:p>
        </p:txBody>
      </p:sp>
      <p:sp>
        <p:nvSpPr>
          <p:cNvPr id="11" name="Text 9"/>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2" name="Text 10"/>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29 / 32</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Qué protege cada medida</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743200"/>
                <a:gridCol w="4206240"/>
                <a:gridCol w="402336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Medida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Protege frente 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 protege frente 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Red y firewall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Accesos desde fuera de las redes autorizadas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Atacantes dentro de la red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Autenticación y roles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Accesos sin credenciales o con privilegios excesivos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Credenciales robadas con privilegios suficientes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TLS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Escuchas y manipulación del tráfico de red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Quien accede al servidor o a los discos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Cifrado en reposo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Robo de discos, ficheros, snapshots o backups físicos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Usuarios con credenciales válidas; volcados lógicos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Auditoría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Acciones sin rastro; ayuda a detectar y a investigar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No impide nada por sí sola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Cifrado en el cliente (CSFLE / Queryable Encryption)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Incluso el servidor y sus administradores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Coste en la aplicación; consultas limitadas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30 / 32</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10</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Auditoría y cifrado en reposo con Percona Server</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Arrancar Percona Server con cifrado en reposo y auditoría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Buscar un dato sensible en los ficheros de un servidor cifrado y de uno sin cifrar</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Analizar la custodia de la clave maestra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Generar actividad y leer el registro de auditoría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Identificar datos sensibles dentro del propio fichero de auditoría</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25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dia3/lab10-auditoria-cifrado/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dia3/lab10-auditoria-cifrado/README.md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3 · Seguridad</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31 / 32</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Resumen del día 3</a:t>
            </a:r>
            <a:endParaRPr lang="en-US" sz="3600" dirty="0"/>
          </a:p>
        </p:txBody>
      </p:sp>
      <p:sp>
        <p:nvSpPr>
          <p:cNvPr id="3" name="Shape 1"/>
          <p:cNvSpPr/>
          <p:nvPr/>
        </p:nvSpPr>
        <p:spPr>
          <a:xfrm>
            <a:off x="548640" y="1554480"/>
            <a:ext cx="5364328" cy="4389120"/>
          </a:xfrm>
          <a:prstGeom prst="roundRect">
            <a:avLst>
              <a:gd name="adj" fmla="val 2500"/>
            </a:avLst>
          </a:prstGeom>
          <a:solidFill>
            <a:srgbClr val="173D35"/>
          </a:solidFill>
          <a:ln w="12700">
            <a:solidFill>
              <a:srgbClr val="173D35"/>
            </a:solidFill>
            <a:prstDash val="solid"/>
          </a:ln>
        </p:spPr>
      </p:sp>
      <p:sp>
        <p:nvSpPr>
          <p:cNvPr id="4" name="Text 2"/>
          <p:cNvSpPr txBox="1"/>
          <p:nvPr/>
        </p:nvSpPr>
        <p:spPr>
          <a:xfrm>
            <a:off x="868680"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Hoy hemos visto</a:t>
            </a:r>
            <a:endParaRPr lang="en-US" sz="2000" dirty="0"/>
          </a:p>
        </p:txBody>
      </p:sp>
      <p:sp>
        <p:nvSpPr>
          <p:cNvPr id="5" name="Text 3"/>
          <p:cNvSpPr txBox="1"/>
          <p:nvPr/>
        </p:nvSpPr>
        <p:spPr>
          <a:xfrm>
            <a:off x="868680"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Seguridad en capas: red, autenticación, autorización, cifrado y auditoría</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SCRAM no guarda contraseñas; x.509 con certificados; LDAP y Kerberos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Membresía interna: keyFile o, mejor, x.509; rotación en rolling</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Roles de mínimo privilegio y límites: maxTimeMS, defaultMaxTimeMS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TLS: allowTLS → preferTLS → requireTLS sin parada</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Auditoría con filtros y cifrado en reposo con buena custodia de claves</a:t>
            </a:r>
            <a:endParaRPr lang="en-US" sz="1600" dirty="0"/>
          </a:p>
        </p:txBody>
      </p:sp>
      <p:sp>
        <p:nvSpPr>
          <p:cNvPr id="6" name="Shape 4"/>
          <p:cNvSpPr/>
          <p:nvPr/>
        </p:nvSpPr>
        <p:spPr>
          <a:xfrm>
            <a:off x="6278728" y="1554480"/>
            <a:ext cx="5364328" cy="4389120"/>
          </a:xfrm>
          <a:prstGeom prst="roundRect">
            <a:avLst>
              <a:gd name="adj" fmla="val 2500"/>
            </a:avLst>
          </a:prstGeom>
          <a:solidFill>
            <a:srgbClr val="1F7A4D"/>
          </a:solidFill>
          <a:ln w="12700">
            <a:solidFill>
              <a:srgbClr val="1F7A4D"/>
            </a:solidFill>
            <a:prstDash val="solid"/>
          </a:ln>
        </p:spPr>
      </p:sp>
      <p:sp>
        <p:nvSpPr>
          <p:cNvPr id="7" name="Text 5"/>
          <p:cNvSpPr txBox="1"/>
          <p:nvPr/>
        </p:nvSpPr>
        <p:spPr>
          <a:xfrm>
            <a:off x="6598768"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Mañana: backups, monitorización y troubleshooting</a:t>
            </a:r>
            <a:endParaRPr lang="en-US" sz="2000" dirty="0"/>
          </a:p>
        </p:txBody>
      </p:sp>
      <p:sp>
        <p:nvSpPr>
          <p:cNvPr id="8" name="Text 6"/>
          <p:cNvSpPr txBox="1"/>
          <p:nvPr/>
        </p:nvSpPr>
        <p:spPr>
          <a:xfrm>
            <a:off x="6598768"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mongodump, copias binarias, snapshots y hot backup</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Percona Backup for MongoDB y recuperación a un instante</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Percona Monitoring and Management y alertas</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Logs, mongostat, mongotop, profiler y explain</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Comprobad que el entorno quedó sin TLS</a:t>
            </a:r>
            <a:endParaRPr lang="en-US" sz="16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3 · Seguridad</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32 / 32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Administración de MongoDB · Día 3</dc:title>
  <dc:subject>PptxGenJS Presentation</dc:subject>
  <dc:creator>Curso de Administración de MongoDB</dc:creator>
  <cp:lastModifiedBy>Curso de Administración de MongoDB</cp:lastModifiedBy>
  <cp:revision>1</cp:revision>
  <dcterms:created xsi:type="dcterms:W3CDTF">2026-09-25T09:44:27Z</dcterms:created>
  <dcterms:modified xsi:type="dcterms:W3CDTF">2026-09-25T09:44:27Z</dcterms:modified>
</cp:coreProperties>
</file>