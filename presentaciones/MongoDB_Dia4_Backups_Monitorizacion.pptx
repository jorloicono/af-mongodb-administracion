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y bienvenidos al último día del curso. Hoy cerramos el ciclo de la operación con tres temas que están muy relacionados entre sí: las copias de seguridad y la recuperación, la monitorización y la resolución de problemas.
Los tres responden a la misma preocupación: qué pasa cuando algo va mal. Los backups son vuestra última línea de defensa cuando todo lo demás ha fallado, incluido un error humano que la replicación ha propagado fielmente a todos los nodos. La monitorización es lo que os avisa de que algo va mal, idealmente antes de que lo noten los usuarios. Y el troubleshooting es el método para encontrar la causa y resolverla.
Es el día con más laboratorios, cuatro, así que la teoría será algo más compacta y el peso estará en la práctica. Vais a restaurar datos de cuatro formas distintas, a deshacer un borrado catastrófico volviendo al segundo exacto anterior al error, a montar una plataforma de monitorización completa con alertas, y a resolver cuatro incidencias típicas.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agenda del último día. Empezamos con un repaso de ayer. Después, el módulo de backups, que tiene dos laboratorios seguidos: uno con las herramientas nativas de MongoDB y otro con Percona Backup for MongoDB, incluida la recuperación a un instante concreto. Tras el descanso, monitorización y alertas, con un laboratorio sobre Percona Monitoring and Management. Y por último, troubleshooting, con un laboratorio en el que resolveréis cuatro incidencias típicas.
Cerraremos con un repaso del curso completo y unos minutos para preguntas generales.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Repasemos ayer. La seguridad se construye en capas, desde la red hasta la auditoría. SCRAM no guarda contraseñas, y x.509 las sustituye por certificados. Los miembros del cluster se autentican con keyFile o, mejor en producción, con certificados. Los roles se diseñan con mínimo privilegio y el consumo se limita con maxTimeMS y el nuevo defaultMaxTimeMS. TLS se despliega sin parada en tres fases. Y el cifrado en reposo solo protege de verdad si la clave está fuera del servidor.
Y la pregunta, que enlaza directamente con el tema de hoy: si un servidor tiene cifrado en reposo y alguien con un usuario de lectura hace un mongodump de toda la base de datos, ¿el volcado sale cifrado? No. mongodump lee los datos a través del servidor, que los descifra para cualquier usuario autorizado, así que el volcado sale en claro. El cifrado en reposo protege los ficheros, no los datos que salen por la puerta principal. Por eso los backups lógicos hay que cifrarlos por separado, y por eso el rol de backup se concede con mucho cuidado.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con el módulo doce, dedicado a los backups y la recuperación. El subtítulo resume la filosofía: copiar es fácil; lo que importa es poder restaurar, y hacerlo a tiempo.
Veremos los dos objetivos que deben guiar cualquier estrategia de backup, RPO y RTO, las familias de métodos disponibles con sus ventajas e inconvenientes, las herramientas nativas mongodump y mongorestore, las copias físicas y los snapshots, el hot backup de Percona Server y, por último, Percona Backup for MongoDB con recuperación a un instante.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elegir herramientas, hay que hacer dos preguntas a negocio, y sus respuestas determinan todo lo demás.
La primera es el RPO, el Recovery Point Objective: cuántos datos podemos permitirnos perder. Si la respuesta es un día, un backup diario es suficiente. Si la respuesta es unos segundos, necesitáis además copiar el oplog de forma continua para poder recuperar hasta un instante concreto, lo que se llama PITR, recuperación a un punto en el tiempo.
La segunda es el RTO, el Recovery Time Objective: cuánto tiempo podemos estar sin servicio mientras se restaura. Y aquí suele haber sorpresas. Restaurar varios terabytes con mongorestore puede llevar días, porque hay que reinsertar todos los documentos y reconstruir todos los índices. Si el RTO es de horas, necesitáis copias físicas o snapshots, que se restauran copiando ficheros.
La regla tres-dos-uno sigue siendo la referencia: tres copias de los datos, en dos soportes distintos, y una de ellas fuera del sitio. Hoy se añade una cuarta condición: alguna copia inmutable, que no se pueda borrar ni cifrar, como protección frente al ransomware.
Y la frase más importante de la diapositiva: el RTO real solo se conoce restaurando. Haced simulacros periódicos y medid cuánto tardáis de verdad.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familias de métodos de backup.
mongodump y mongorestore hacen copias lógicas: leen los documentos y los escriben en ficheros BSON. Son sencillos, permiten restaurar una sola colección y son portables entre versiones, pero son lentos en volúmenes grandes y reconstruyen los índices al restaurar.
Las copias físicas copian directamente los ficheros de datos. La copia en frío se hace con el nodo parado, normalmente un secundario, y es totalmente coherente. El snapshot del sistema de ficheros o del disco en la nube es muy rápido para cualquier tamaño, pero depende de la infraestructura y exige tener el journal en el mismo volumen, o congelar las escrituras durante el snapshot. El hot backup de Percona Server hace una copia física coherente con el servidor en marcha y sin bloquear escrituras.
Percona Backup for MongoDB, o PBM, es una herramienta que orquesta todo lo anterior de forma consistente, incluso en clusters con sharding, y añade la recuperación a un instante. Con MongoDB Community hace backups lógicos; con Percona Server, también físicos e incrementales.
Y en el mundo de MongoDB Inc., Ops Manager, con licencia Enterprise, y Atlas ofrecen backups físicos continuos integrados. No los veremos en el laboratorio, pero es bueno saber que existen.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Veamos las herramientas nativas. mongodump hace el volcado lógico. En el primer ejemplo, volcamos todo el replica set leyendo de un secundario, para no cargar al primario. La opción oplog es muy importante: un volcado de una base de datos grande tarda un rato, y durante ese tiempo la aplicación sigue escribiendo, así que sin ella cada colección reflejaría un momento distinto. Con oplog, mongodump captura también las operaciones que ocurren mientras dura el volcado, y al restaurar con oplogReplay se reaplican, de forma que el resultado es coherente en un único instante. Con archive y gzip, todo va a un único fichero comprimido, cómodo de mover y de guardar.
mongorestore hace la operación inversa. Con drop, borra cada colección antes de restaurarla; sin ella, intenta insertar los documentos y fallará en los que ya existan. Y lo más útil en el día a día son las restauraciones selectivas: con nsInclude restauráis solo una colección, que es lo que haréis en el laboratorio tras un drop accidental. Y con nsFrom y nsTo podéis restaurar con otro nombre, lo que permite comparar los datos restaurados con los actuales sin pisarlos, para recuperar solo los documentos afectados.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backup lógico tiene límites que conviene conocer bien.
El principal es el tiempo de restauración. Restaurar significa reinsertar todos los documentos y reconstruir todos los índices, y en bases de datos de varios terabytes eso lleva días, no horas. Además, durante el volcado se lee toda la base de datos, lo que genera carga de lectura y llena la caché del nodo origen de datos fríos, expulsando los que usa la aplicación. Por eso se hace desde un secundario, y mejor aún desde uno oculto.
Recordad también lo que hablábamos en el repaso: el volcado sale en claro aunque el servidor tenga cifrado en reposo, así que hay que cifrarlo aparte. Y en clusters con sharding, mongodump por sí solo no garantiza la coherencia entre shards.
Aun así, tiene su sitio. Es perfecto para bases de datos pequeñas o medianas, para copias puntuales antes de un cambio de riesgo, para migraciones entre versiones o plataformas, para restaurar una colección concreta, y como complemento de un backup físico.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copias físicas siguen siempre el mismo esquema, tanto si son en frío como si usan fsyncLock.
Primero se elige un nodo: un secundario sano y al día, idealmente oculto, y nunca el primario, porque congelar el primario congela la aplicación. Segundo, se congela el nodo: en frío, parándolo; en caliente, con fsyncLock, que vacía todo a disco y bloquea las escrituras en ese nodo, incluida la aplicación del oplog. Tercero, se copia: un snapshot del volumen, que tarda segundos, o una copia de los ficheros del directorio de datos. Cuarto, se libera el nodo: se arranca de nuevo o se ejecuta fsyncUnlock. Y quinto, se verifica que el lag vuelve a cero y, periódicamente, que la copia se puede restaurar.
El cuarto paso tiene una advertencia: siempre hay que liberar el nodo, aunque la copia falle. Un script de backup que hace fsyncLock y después se rompe deja el nodo bloqueado, acumulando lag hasta salirse de la ventana del oplog. Por eso esos scripts necesitan un trap o un bloque finally.
La gran ventaja de la copia física es la restauración: basta con poner los ficheros en el directorio de datos y arrancar. Eso sí, solo funciona con la misma versión mayor de MongoDB y, si hay cifrado en reposo, con la misma clave.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Percona Server for MongoDB añade un comando que en MongoDB Community no existe: createBackup, que hace una copia física coherente de los ficheros de datos con el servidor en marcha, sin bloquear las escrituras y sin detener la replicación. Es decir, tiene la velocidad de restauración de una copia física sin los inconvenientes de parar un nodo o de congelarlo.
El destino puede ser un directorio local, un fichero tar o directamente un bucket de S3. El resultado es un directorio de datos listo para arrancar un nuevo mongod con él. Y si el servidor tiene cifrado en reposo, la copia sigue cifrada, así que para restaurarla hace falta la misma clave maestra.
Este comando es precisamente lo que usa Percona Backup for MongoDB para hacer backups físicos cuando el servidor es Percona Server. En el laboratorio once lo probaréis, de forma opcional, sobre el servidor Percona del laboratorio de 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al laboratorio once. Vais a practicar las cuatro familias de backup nativas y, sobre todo, a restaurar.
Primero haréis un volcado completo con mongodump desde un secundario, borraréis por error la colección de clientes y la restauraréis de forma selectiva. Después haréis una copia en frío del volumen de un secundario y la verificaréis levantando un servidor independiente con ella. Luego una copia en caliente de otro secundario con fsyncLock, observando qué le pasa al lag mientras está bloqueado. Y si os da tiempo, el hot backup de Percona Server.
[Al terminar] ¿Qué os llamó la atención al verificar la copia en frío? Que el servidor de verificación arrancó sin autenticación y se podía leer todo, incluida la colección de usuarios. Un backup contiene todo y no hereda la seguridad del servidor. Custodiadlo como a la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Percona Backup for MongoDB, PBM, es una herramienta de código abierto para hacer backups consistentes de replica sets y de clusters con sharding. Su arquitectura es sencilla y conviene entenderla para operarla bien.
Junto a cada proceso mongod se ejecuta un agente, pbm-agent. En un replica set de tres nodos, tres agentes; en un cluster con sharding, un agente por cada miembro de cada shard y de los config servers.
PBM no tiene un servidor central propio. El estado, la configuración y las órdenes se guardan en colecciones de control dentro de la base de datos admin del propio cluster. Cuando ejecutáis el CLI, pbm, lo que hace es escribir una orden en esas colecciones; los agentes la leen y la ejecutan, eligiendo un secundario de cada replica set para hacer el trabajo.
Los backups se escriben en un almacenamiento compartido por todos los agentes: S3 o compatibles, Azure Blob Storage, Google Cloud Storage o un sistema de ficheros compartido, que es lo que usaremos en el laboratorio. Y si se activa PITR, los agentes copian además el oplog de forma continua, en trozos, al mismo almacenamiento.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PBM ofrece varios tipos de backup, y su disponibilidad depende de la distribución de MongoDB.
El backup lógico es un volcado de documentos, similar a mongodump pero coordinado entre todos los replica sets del cluster, lo que garantiza la coherencia incluso con sharding. Funciona con MongoDB Community y es el que usaremos en el laboratorio.
El backup físico copia los ficheros de datos usando el hot backup, y su restauración es mucho más rápida, aunque requiere reiniciar los nodos. El incremental copia solo los bloques que han cambiado desde el backup anterior, lo que ahorra mucho espacio y tiempo en bases de datos grandes. Ambos requieren Percona Server for MongoDB.
El selectivo permite copiar o restaurar solo algunas bases de datos o colecciones. Y PITR, que es la joya de la corona, combina un backup base con la copia continua del oplog para poder restaurar a cualquier instante dentro del rango cubierto. Funciona con MongoDB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Veamos cómo funciona la recuperación a un instante, que es lo que haréis en el laboratorio doce.
PBM hace backups base periódicos, por ejemplo uno diario. Y, entre medias, los agentes copian el oplog de forma continua, en trozos que cubren unos pocos minutos cada uno, diez por defecto, uno en nuestro laboratorio.
Imaginad que a las diez y quince minutos y treinta y dos segundos, hora UTC, alguien borra por error todos los pedidos de Madrid. Con PITR, podéis pedir a PBM que restaure el estado del cluster a las diez, quince, treinta: PBM toma el último backup base anterior a esa hora y reaplica el oplog hasta ese segundo exacto. Los pedidos de Madrid vuelven.
Después de restaurar hay que rehacer la cadena: reactivar PITR, que se desactiva para la restauración, y lanzar un backup base nuevo, porque el oplog anterior ya no es continuo con el estado actual de los datos.
Y la advertencia del recuadro, que es muy importante: una restauración PITR completa lleva todo el cluster a ese instante, así que todo lo que se escribió después, incluidas las escrituras legítimas, también se pierde. En un incidente real hay que valorar con negocio si es mejor restaurar en un entorno aparte y recuperar solo los documentos borrados, o hacer una restauración completa y asumir esa pérdida.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comandos de PBM que usaréis en el día a día.
pbm config aplica la configuración: el almacenamiento, la compresión y los parámetros de PITR. pbm status es vuestro comando de cabecera: muestra el estado de todos los agentes, los backups en curso y el estado de PITR. pbm backup lanza un backup, y con wait espera a que termine, que es lo que necesitáis en un script. pbm list muestra los backups disponibles y los rangos de tiempo cubiertos por PITR, y describe-backup da el detalle de uno.
PITR se activa y desactiva con pbm config set pitr enabled. Para restaurar, se desactiva PITR y se usa pbm restore, con el nombre de un backup para volver a ese backup, con la opción time para volver a un instante, o con ns para una restauración selectiva de una colección.
pbm logs muestra los logs de todos los agentes, muy útil cuando algo falla, y delete-backup permite aplicar la política de retención.
En producción, los backups se programan con cron o con el planificador de la empresa, se aplica una retención, el usuario de PBM tiene los roles justos, y el estado de PBM se vigila desde la monitorización, porque un backup que falla en silencio es de los peores descubrimientos que podéis hacer en un incidente.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la parte teórica de backups, un checklist que podéis usar para revisar la estrategia de cualquier organización.
RPO y RTO acordados por escrito con negocio, porque en un incidente no es el momento de descubrir que se esperaba otra cosa. Backup base más PITR si el RPO es de minutos o segundos. Copias fuera del sitio, y al menos una inmutable, por ejemplo en un bucket con bloqueo de objetos, para protegerse del ransomware, que cada vez más a menudo busca y borra los backups antes de cifrar la producción. Backups cifrados y con acceso restringido. Una política de retención definida y automatizada. Alertas si un backup falla o, lo que es más traicionero, si simplemente deja de ejecutarse. Y simulacros de restauración periódicos, cronometrados y documentados.
Y la regla de oro, que ya os he repetido varias veces y que no me cansaré de repetir: un backup que no se ha restaurado nunca no es un backup, es una hipótesis. Programad una restauración de prueba al mes, automatizadla si podéis, y medid el tiempo real, que es vuestro verdadero 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al laboratorio doce, que para mí es el más satisfactorio del curso.
Crearéis el usuario de PBM con sus roles, arrancaréis los tres agentes con un fichero de override de Docker Compose, configuraréis el almacenamiento y comprobaréis que los tres agentes están bien. Lanzaréis un backup base y activaréis PITR. Después simularéis la jornada: insertaréis un pedido importante, anotaréis la hora exacta y, unos segundos después, borraréis todos los pedidos de Madrid. Y restauraréis el cluster al segundo anterior al borrado.
Un consejo: la hora que usa PBM es UTC. El laboratorio os la muestra con date menos u, así que usad exactamente esa. Y esperad un par de minutos después del accidente antes de restaurar, para que PBM haya copiado el trozo del oplog que cubre ese momento.
[Al terminar] Volvieron los pedidos de Madrid y también el pedido importante. Pero la pregunta tres era la trampa: todo lo que se escribió después de esa hora también desapareció. Esa es la decisión que hay que tomar con negocio en un incidente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Bienvenidos del descanso. Entramos en el módulo trece: monitorización y alertas. El objetivo de la monitorización se resume en el subtítulo: saber que algo va mal antes que los usuarios, y tener los datos para entender por qué.
Veremos qué hay que medir en MongoDB, de dónde salen las métricas, cómo funciona Percona Monitoring and Management, que es la herramienta que usaremos, y cómo diseñar alertas útiles que no acaben siendo ruido.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hay que medir? Os propongo seis grupos de métricas.
El primero es la actividad: operaciones por segundo de cada tipo y, sobre todo, su latencia. El volumen por sí solo no dice mucho; la latencia es lo que perciben los usuarios.
El segundo son las conexiones: las actuales, las disponibles y, muy importante, las creadas por segundo. Una aplicación sana reutiliza conexiones de su pool; si veis cientos de conexiones nuevas por segundo, alguna aplicación tiene un problema de configuración.
El tercero es la caché de WiredTiger: cuánto ocupa, qué porcentaje está sucio, cuántas páginas se leen de disco y, especialmente, si los hilos de la aplicación tienen que participar en el desalojo de páginas, que es la señal de que el motor no da abasto. Y los tickets disponibles, que ya vimos el primer día.
El cuarto es la replicación: el estado de cada miembro, el lag, la ventana del oplog y las elecciones. El quinto son las consultas: las lentas y, sobre todo, las ineficientes, las que examinan muchos más documentos de los que devuelven. Y el sexto es el sistema: CPU, memoria, swap, disco, espacio libre y red. Muchas veces, el problema de MongoDB es en realidad un problema de disco.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dónde salen todas esas métricas? Todas las herramientas de monitorización beben de las mismas fuentes, que es bueno conocer para no depender de ninguna herramienta concreta.
La gran fuente es serverStatus, con cientos de contadores sobre operaciones, conexiones, caché, locks o red. rs.status da el estado de la replicación. dbStats, collStats y el operador de agregación indexStats dan tamaños, crecimiento y uso de índices, útiles para planificar capacidad y para detectar índices que nadie usa. El profiler guarda las operaciones lentas con su plan de ejecución y su coste. Y el log de mongod registra eventos, errores y consultas lentas en formato JSON.
La última fila es muy poco conocida y muy valiosa: FTDC, Full Time Diagnostic Data Capture. MongoDB guarda automáticamente, cada segundo, una instantánea de serverStatus y de otras estadísticas en el directorio diagnostic.data, dentro del directorio de datos, de forma muy comprimida. Si tenéis un incidente y la monitorización no captó el detalle, esos ficheros lo tienen, y son lo primero que os pedirá cualquier equipo de soporte. No los borréis nunca como si fueran basura.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herramienta que usaremos es Percona Monitoring and Management, PMM, una plataforma de monitorización de código abierto para bases de datos, que soporta MongoDB, MySQL y PostgreSQL.
La arquitectura tiene dos partes. En el lado de los servidores, un pmm-agent con sus exporters recoge las métricas de mongod, a partir de serverStatus y del resto de fuentes que hemos visto, y las consultas, a partir del profiler o del log. Idealmente el agente está en cada nodo, para recoger también las métricas del sistema operativo, aunque también puede monitorizar en remoto, que es lo que haremos en el laboratorio.
En el lado central, PMM Server almacena las métricas en VictoriaMetrics, una base de datos de series temporales, y las consultas en ClickHouse, que alimenta el módulo Query Analytics. Encima, Grafana ofrece paneles ya preparados para MongoDB, para el replica set, para WiredTiger y para el sistema. Y el módulo de alertas permite crear reglas a partir de plantillas y enviarlas a correo, Slack, PagerDuty y otros canales.
Si en vuestra organización ya tenéis Prometheus y Grafana, podéis usar directamente un exporter de MongoDB y vuestros propios paneles; lo que aprendáis en PMM os sirve igual, porque las métricas son las mismas.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Diseñar alertas es un arte, y la experiencia dice que el problema habitual no es tener pocas alertas, sino tener demasiadas.
La primera regla es alertar sobre síntomas que afectan al servicio, no sobre cada métrica. Que la CPU esté al noventa por ciento no es un problema si la latencia es buena. Cada alerta debe tener un umbral, una duración mínima, para no saltar por un pico de un segundo, y una severidad. Y cada alerta crítica debe tener su runbook, un pequeño documento que dice qué comprobar y qué hacer, porque a las tres de la mañana nadie razona igual de bien.
Evitad la fatiga de alertas: si una alerta salta y nadie hace nada, o sobra, o está mal calibrada. Una avalancha de alertas irrelevantes consigue que se ignore la importante.
Alertad también de lo que no pasa: un backup que no se ejecuta, o una métrica que deja de llegar, que puede significar que el propio agente de monitorización se ha caído. Y probad las alertas provocando el fallo, que es lo que haréis en el laboratorio.
En el recuadro tenéis una distinción útil: alertas críticas, que justifican despertar a alguien, y avisos, que se atienden en horario laboral. En el laboratorio trece os propongo una tabla de alertas mínimas para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Vamos al laboratorio trece. Vais a crear el usuario de monitorización con los permisos que recomienda Percona, a activar el profiler en los tres nodos y a desplegar PMM Server y PMM Client. Registraréis los tres nodos y lanzaréis el script de carga, que mezcla consultas buenas y malas, para que los paneles tengan algo interesante que mostrar.
Después exploraréis los paneles principales, encontraréis en Query Analytics la consulta que más carga genera, y crearéis una alerta de nodo caído a partir de una plantilla. Y la probaréis de la mejor forma: parando un nodo.
Un aviso: PMM Server consume unos dos o tres gigas de memoria. Si vuestro equipo va justo, parad antes los agentes de PBM, tal como indica el laboratorio. Y los nombres de los paneles y de las plantillas pueden variar ligeramente entre versiones de PMM 3; si no encontráis exactamente el nombre, buscad el equivalente.
[Al terminar] ¿Cuál era la consulta que más cargaba? Las de pedidos por cliente y por estado y ciudad, que no tienen índice y examinan los doscientos mil documentos. Guardad ese hallazgo, porque es la primera incidencia del laboratorio catorce.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Último módulo del curso: troubleshooting, la resolución de problemas. Veremos un método de trabajo y las herramientas que MongoDB trae de serie, que son las que tendréis siempre a mano aunque no haya ninguna plataforma de monitorización: los logs de mongod y mongos, mongostat y mongotop, el profiler, explain, y currentOp con killOp.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las herramientas, el método, porque en una incidencia la presión empuja a probar cosas al azar, y eso casi nunca funciona.
Primero, el síntoma: qué ve exactamente el usuario, desde cuándo, a quién afecta y, sobre todo, qué ha cambiado. Segundo, las evidencias: métricas, logs, operaciones en curso, el profiler. Datos, no intuiciones. Tercero, una hipótesis de causa que explique todas las evidencias, no solo algunas. Cuarto, la solución, que muchas veces tiene dos fases: primero mitigar, para que el servicio vuelva, por ejemplo matando una operación o desviando una carga, y después corregir la causa de fondo, por ejemplo creando un índice. Y quinto, verificar que el síntoma ha desaparecido y documentar lo que ha pasado.
Y la pregunta del recuadro, que es la más útil en cualquier incidencia: qué ha cambiado. Un despliegue de la aplicación con una consulta nueva, un crecimiento del volumen de datos que ha hecho que un índice deje de caber en memoria, un cambio de configuración, un cambio en la infraestructura. Rara vez un sistema que funcionaba bien empieza a funcionar mal sin que nada haya cambiado.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Desde la versión 4.4, el log de mongod, y también el de mongos, es JSON estructurado: una línea por evento, con campos fijos. Esto cambia la forma de trabajar, porque en lugar de buscar texto podéis filtrar por campos.
Cada entrada tiene la marca de tiempo, t; la severidad, s, que va de F, fatal, a E, error, W, aviso, I, información, y los niveles de depuración; el componente, c, como COMMAND, REPL para la replicación, NETWORK, ACCESS para la autenticación o STORAGE; un identificador numérico estable, id, que es mucho más fiable que el texto para buscar un tipo de mensaje; y los atributos, attr, con los detalles.
El ejemplo es una consulta lenta, el mensaje con id cincuenta y un mil ochocientos tres. MongoDB registra automáticamente las operaciones que superan el umbral slowms, cien milisegundos por defecto. Fijaos en lo que nos dice: la consulta buscaba por cliente_id, hizo un COLLSCAN, examinó doscientos mil documentos para devolver tres y tardó cuatrocientos doce milisegundos. Con esa línea ya tenéis el diagnóstico.
Desde mongosh podéis leer las últimas entradas del log con getLog y filtrarlas como JSON, que es lo que haréis en el laboratorio. Podéis subir el nivel de detalle de un componente en caliente con setLogLevel, y rotar el log con logRotate. El log de mongos tiene el mismo formato, con mensajes sobre el enrutado de consultas, la comunicación con los shards y el balanceador.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mongostat y mongotop son dos herramientas de línea de comandos, incluidas en las Database Tools, que dan una visión en tiempo real, muy al estilo de vmstat o top en Linux.
mongostat muestra una línea por nodo cada pocos segundos, con discover para ver todos los miembros del replica set. Las primeras columnas son operaciones por segundo de cada tipo; en los secundarios veréis valores con asterisco, que son las operaciones replicadas, no las de clientes. Después vienen dos columnas de la caché de WiredTiger: dirty, el porcentaje de datos modificados pendientes de escribir, y used, la ocupación. Si dirty supera el veinte por ciento de forma sostenida, el disco no está dando abasto. qrw y arw son las operaciones en cola y activas, de lectura y escritura: colas que crecen significan saturación. Y conn son las conexiones.
mongotop muestra en qué colecciones pasa el tiempo el servidor, separando lectura y escritura. En el ejemplo es evidente: casi todo el tiempo se va en leer pedidos, lo que apunta directamente a las consultas sin índice que vimos en Query Analytics.
Son herramientas sencillas, pero cuando estáis en mitad de una incidencia y no hay una plataforma de monitorización a mano, dan muchísima información en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profiler guarda en una colección, system.profile, el detalle de las operaciones que cumplen un criterio, normalmente superar un umbral de tiempo.
Tiene tres niveles: cero, desactivado; uno, solo las operaciones más lentas que slowms; y dos, todas las operaciones. El nivel dos tiene un coste alto y solo se usa durante diagnósticos breves. La configuración es por nodo y por base de datos, y no se replica: si queréis el profiler en los tres nodos, hay que activarlo en cada uno, como hicisteis en el laboratorio de PMM.
Cada entrada de system.profile incluye la operación, la colección, el tiempo, el plan de ejecución, los documentos examinados y devueltos, y mucho más. La consulta del ejemplo muestra las cinco más recientes. Y la agregación de abajo es mi favorita: agrupa las operaciones lentas por colección y por plan, y os dice cuántas veces aparece cada combinación, cuánto tarda de media y cuántos documentos examina. En una sola consulta tenéis el ranking de vuestros problemas.
system.profile es una colección de tamaño limitado, un mega por defecto, así que guarda solo las operaciones más recientes. Y desde versiones recientes podéis acotar lo que se guarda con un filtro y con una tasa de muestreo, lo que reduce el coste en sistemas con mucha carga.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es la herramienta para entender cómo ejecuta MongoDB una consulta concreta. Con el modo queryPlanner muestra el plan elegido y los planes que se descartaron; con executionStats, ejecuta la consulta y muestra lo que realmente costó.
Las tres señales de alarma que tenéis que buscar son: un COLLSCAN, que significa que se ha recorrido la colección completa; una etapa SORT, que significa que la ordenación se ha hecho en memoria en lugar de aprovechar un índice; y una relación desproporcionada entre documentos examinados y devueltos.
El ejemplo es exactamente la segunda consulta del laboratorio catorce. Antes del índice, recorre los doscientos mil pedidos, ordena en memoria y devuelve veinte, en ciento ochenta milisegundos. Después de crear el índice adecuado, examina veinte claves y veinte documentos, sin ordenación en memoria, en un milisegundo.
¿Cómo se elige el índice adecuado? Con la regla ESR: primero los campos que se filtran por igualdad, después los de ordenación y por último los de rango. Aquí, estado y ciudad son igualdades y fecha es la ordenación, así que el índice va en ese orden.
Y el reverso: los índices que nadie usa cuestan espacio, memoria y tiempo en cada escritura. El operador indexStats os dice cuántas veces se ha usado cada índice desde el último reinicio.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currentOp da una foto de lo que se está ejecutando en el servidor en este momento, y killOp permite interrumpir una operación.
El primer ejemplo es el más útil: las operaciones activas que llevan más de tres segundos, mostrando para cada una su identificador, el tiempo que lleva, la colección, el tipo, y quién la ha lanzado: la dirección del cliente, el nombre de la aplicación y el usuario. Los otros ejemplos buscan operaciones que esperan un lock y construcciones de índices en curso, que son sospechosos habituales cuando todo va lento.
Antes de matar una operación, identificad bien quién la ha lanzado y qué es. Matar la consulta desbocada de un informe es razonable; matar una construcción de índice o una operación interna del replica set puede tener consecuencias. killOp no mata la operación al instante: la marca para que se interrumpa en el siguiente punto seguro, que suele ser muy rápido.
Y, como siempre, mejor prevenir que curar: con maxTimeMS en las aplicaciones y defaultMaxTimeMS en el cluster, las consultas desbocadas se cortan solas.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terminar la teoría, una tabla con los síntomas más frecuentes, sus causas habituales y dónde mirar. No es exhaustiva, pero cubre la gran mayoría de las incidencias que vais a ver.
Si todo va lento de repente, las causas típicas son una consulta nueva sin índice, un conjunto de datos de trabajo que ha crecido y ya no cabe en la caché, o un disco saturado. Si hay picos de conexiones, casi siempre es la configuración de los pools de las aplicaciones o reinicios masivos. El lag de replicación suele venir de escrituras masivas, de secundarios con menos recursos que el primario, o de la red. Las elecciones inesperadas, de una red inestable o de pausas largas del disco o de la memoria que hacen que los heartbeats no lleguen a tiempo. Los errores de autenticación, de contraseñas cambiadas, de un authSource incorrecto o de restricciones de IP. Y cuando mongod no arranca, casi siempre es por permisos, un fichero YAML inválido, el disco lleno o un keyfile con permisos incorrectos, y la respuesta está siempre en las últimas líneas del log.
En el laboratorio catorce resolveréis cuatro de estas situaciones.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Último laboratorio del curso. Vais a resolver cuatro incidencias siguiendo el método que acabamos de ver.
La primera: la pantalla de pedidos de un cliente va lentísima. Tendréis que encontrar las consultas culpables con mongostat, mongotop y el profiler, analizarlas con explain y crear los índices adecuados. La segunda: una operación lleva minutos y está bloqueando recursos; tendréis que encontrarla con currentOp y matarla. La tercera: los informes que leen de los secundarios muestran datos viejos; tendréis que diagnosticar el lag de replicación. Y la cuarta: una aplicación nueva no consigue conectarse; la respuesta está en los logs.
Trabajad con dos terminales dentro del toolbox, una para provocar el problema y otra para diagnosticarlo. Y antes de abrir cada solución, escribid vuestro diagnóstico.
[Al terminar] En la tercera incidencia hay una lección importante: el nodo con lag seguía en estado SECONDARY y sus heartbeats eran normales. Una alerta de nodo caído no lo habría detectado. Por eso el lag necesita su propia alerta.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Llegamos al final del curso. Repasemos lo que os lleváis.
El primer día aprendimos a instalar MongoDB, a actualizarlo en dos fases, a dimensionar la memoria y a preparar el disco y el sistema operativo. El segundo, a montar y operar replica sets: el oplog, las elecciones, las garantías de lectura y escritura, el failover y el mantenimiento rolling. El tercero, a protegerlos: autenticación, roles, TLS sin parada, auditoría y cifrado en reposo. Y hoy, a hacer backups y restaurarlos hasta el segundo exacto, a monitorizar con alertas útiles y a resolver incidencias con método. Y os lleváis un repositorio con todos los laboratorios, para que lo repitáis en casa o en el trabajo tantas veces como queráis.
Como siguientes pasos, os propongo cuatro cosas. Repetid los laboratorios y romped el entorno a propósito, porque se aprende mucho más arreglando que montando. Revisad vuestras instalaciones reales con los checklists del curso: ajustes del sistema operativo, usuarios, TLS, backups y alertas. Programad un simulacro de restauración real y cronometradlo. Y acostumbraos a leer las production notes y las release notes de cada versión, porque, como vimos con Transparent Huge Pages, las recomendaciones cambian.
Si queréis certificaros, MongoDB ofrece la certificación de Associate DBA, y este curso cubre buena parte de su temario.
Muchas gracias por vuestra atención, por vuestra participación y por vuestra paciencia con los contenedores. Ha sido un placer. Abrimos el turno de preguntas finales.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25"/>
        </a:solidFill>
      </p:bgPr>
    </p:bg>
    <p:spTree>
      <p:nvGrpSpPr>
        <p:cNvPr id="1" name=""/>
        <p:cNvGrpSpPr/>
        <p:nvPr/>
      </p:nvGrpSpPr>
      <p:grpSpPr>
        <a:xfrm>
          <a:off x="0" y="0"/>
          <a:ext cx="0" cy="0"/>
          <a:chOff x="0" y="0"/>
          <a:chExt cx="0" cy="0"/>
        </a:xfrm>
      </p:grpSpPr>
      <p:sp>
        <p:nvSpPr>
          <p:cNvPr id="2" name="Shape 0"/>
          <p:cNvSpPr/>
          <p:nvPr/>
        </p:nvSpPr>
        <p:spPr>
          <a:xfrm>
            <a:off x="9326880" y="1737360"/>
            <a:ext cx="1828800" cy="1188720"/>
          </a:xfrm>
          <a:prstGeom prst="line">
            <a:avLst/>
          </a:prstGeom>
          <a:noFill/>
          <a:ln w="25400">
            <a:solidFill>
              <a:srgbClr val="2E9E66"/>
            </a:solidFill>
            <a:prstDash val="solid"/>
          </a:ln>
        </p:spPr>
      </p:sp>
      <p:sp>
        <p:nvSpPr>
          <p:cNvPr id="3" name="Shape 1"/>
          <p:cNvSpPr/>
          <p:nvPr/>
        </p:nvSpPr>
        <p:spPr>
          <a:xfrm flipV="1">
            <a:off x="9601200" y="2926080"/>
            <a:ext cx="1554480" cy="1554480"/>
          </a:xfrm>
          <a:prstGeom prst="line">
            <a:avLst/>
          </a:prstGeom>
          <a:noFill/>
          <a:ln w="25400">
            <a:solidFill>
              <a:srgbClr val="2E9E66"/>
            </a:solidFill>
            <a:prstDash val="solid"/>
          </a:ln>
        </p:spPr>
      </p:sp>
      <p:sp>
        <p:nvSpPr>
          <p:cNvPr id="4" name="Shape 2"/>
          <p:cNvSpPr/>
          <p:nvPr/>
        </p:nvSpPr>
        <p:spPr>
          <a:xfrm>
            <a:off x="9326880" y="1737360"/>
            <a:ext cx="274320" cy="2743200"/>
          </a:xfrm>
          <a:prstGeom prst="line">
            <a:avLst/>
          </a:prstGeom>
          <a:noFill/>
          <a:ln w="25400">
            <a:solidFill>
              <a:srgbClr val="2E9E66"/>
            </a:solidFill>
            <a:prstDash val="solid"/>
          </a:ln>
        </p:spPr>
      </p:sp>
      <p:sp>
        <p:nvSpPr>
          <p:cNvPr id="5" name="Shape 3"/>
          <p:cNvSpPr/>
          <p:nvPr/>
        </p:nvSpPr>
        <p:spPr>
          <a:xfrm>
            <a:off x="8778240" y="1188720"/>
            <a:ext cx="1097280" cy="1097280"/>
          </a:xfrm>
          <a:prstGeom prst="ellipse">
            <a:avLst/>
          </a:prstGeom>
          <a:solidFill>
            <a:srgbClr val="F2B33D"/>
          </a:solidFill>
          <a:ln w="12700">
            <a:solidFill>
              <a:srgbClr val="F2B33D"/>
            </a:solidFill>
            <a:prstDash val="solid"/>
          </a:ln>
        </p:spPr>
      </p:sp>
      <p:sp>
        <p:nvSpPr>
          <p:cNvPr id="6" name="Text 4"/>
          <p:cNvSpPr txBox="1"/>
          <p:nvPr/>
        </p:nvSpPr>
        <p:spPr>
          <a:xfrm>
            <a:off x="8778240" y="1188720"/>
            <a:ext cx="1097280" cy="1097280"/>
          </a:xfrm>
          <a:prstGeom prst="rect">
            <a:avLst/>
          </a:prstGeom>
          <a:noFill/>
          <a:ln/>
        </p:spPr>
        <p:txBody>
          <a:bodyPr wrap="square" lIns="0" tIns="0" rIns="0" bIns="0" rtlCol="0" anchor="ctr"/>
          <a:lstStyle/>
          <a:p>
            <a:pPr algn="ctr" indent="0" marL="0">
              <a:buNone/>
            </a:pPr>
            <a:r>
              <a:rPr lang="en-US" sz="3000" b="1" dirty="0">
                <a:solidFill>
                  <a:srgbClr val="0F2A25"/>
                </a:solidFill>
                <a:latin typeface="Cambria" pitchFamily="34" charset="0"/>
                <a:ea typeface="Cambria" pitchFamily="34" charset="-122"/>
                <a:cs typeface="Cambria" pitchFamily="34" charset="-120"/>
              </a:rPr>
              <a:t>P</a:t>
            </a:r>
            <a:endParaRPr lang="en-US" sz="3000" dirty="0"/>
          </a:p>
        </p:txBody>
      </p:sp>
      <p:sp>
        <p:nvSpPr>
          <p:cNvPr id="7" name="Shape 5"/>
          <p:cNvSpPr/>
          <p:nvPr/>
        </p:nvSpPr>
        <p:spPr>
          <a:xfrm>
            <a:off x="10607040" y="2377440"/>
            <a:ext cx="1097280" cy="1097280"/>
          </a:xfrm>
          <a:prstGeom prst="ellipse">
            <a:avLst/>
          </a:prstGeom>
          <a:solidFill>
            <a:srgbClr val="1F7A4D"/>
          </a:solidFill>
          <a:ln w="12700">
            <a:solidFill>
              <a:srgbClr val="1F7A4D"/>
            </a:solidFill>
            <a:prstDash val="solid"/>
          </a:ln>
        </p:spPr>
      </p:sp>
      <p:sp>
        <p:nvSpPr>
          <p:cNvPr id="8" name="Text 6"/>
          <p:cNvSpPr txBox="1"/>
          <p:nvPr/>
        </p:nvSpPr>
        <p:spPr>
          <a:xfrm>
            <a:off x="10607040" y="2377440"/>
            <a:ext cx="1097280" cy="10972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S</a:t>
            </a:r>
            <a:endParaRPr lang="en-US" sz="3000" dirty="0"/>
          </a:p>
        </p:txBody>
      </p:sp>
      <p:sp>
        <p:nvSpPr>
          <p:cNvPr id="9" name="Shape 7"/>
          <p:cNvSpPr/>
          <p:nvPr/>
        </p:nvSpPr>
        <p:spPr>
          <a:xfrm>
            <a:off x="9052560" y="3931920"/>
            <a:ext cx="1097280" cy="1097280"/>
          </a:xfrm>
          <a:prstGeom prst="ellipse">
            <a:avLst/>
          </a:prstGeom>
          <a:solidFill>
            <a:srgbClr val="1F7A4D"/>
          </a:solidFill>
          <a:ln w="12700">
            <a:solidFill>
              <a:srgbClr val="1F7A4D"/>
            </a:solidFill>
            <a:prstDash val="solid"/>
          </a:ln>
        </p:spPr>
      </p:sp>
      <p:sp>
        <p:nvSpPr>
          <p:cNvPr id="10" name="Text 8"/>
          <p:cNvSpPr txBox="1"/>
          <p:nvPr/>
        </p:nvSpPr>
        <p:spPr>
          <a:xfrm>
            <a:off x="9052560" y="3931920"/>
            <a:ext cx="1097280" cy="109728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S</a:t>
            </a:r>
            <a:endParaRPr lang="en-US" sz="3000" dirty="0"/>
          </a:p>
        </p:txBody>
      </p:sp>
      <p:sp>
        <p:nvSpPr>
          <p:cNvPr id="11" name="Text 9"/>
          <p:cNvSpPr txBox="1"/>
          <p:nvPr/>
        </p:nvSpPr>
        <p:spPr>
          <a:xfrm>
            <a:off x="548640" y="1097280"/>
            <a:ext cx="7589520" cy="365760"/>
          </a:xfrm>
          <a:prstGeom prst="rect">
            <a:avLst/>
          </a:prstGeom>
          <a:noFill/>
          <a:ln/>
        </p:spPr>
        <p:txBody>
          <a:bodyPr wrap="square" lIns="0" tIns="0" rIns="0" bIns="0" rtlCol="0" anchor="ctr"/>
          <a:lstStyle/>
          <a:p>
            <a:pPr indent="0" marL="0">
              <a:buNone/>
            </a:pPr>
            <a:r>
              <a:rPr lang="en-US" sz="1600" b="1" spc="400" kern="0" dirty="0">
                <a:solidFill>
                  <a:srgbClr val="F2B33D"/>
                </a:solidFill>
                <a:latin typeface="Calibri" pitchFamily="34" charset="0"/>
                <a:ea typeface="Calibri" pitchFamily="34" charset="-122"/>
                <a:cs typeface="Calibri" pitchFamily="34" charset="-120"/>
              </a:rPr>
              <a:t>CURSO DE ADMINISTRACIÓN DE MONGODB · DÍA 4 DE 4</a:t>
            </a:r>
            <a:endParaRPr lang="en-US" sz="1600" dirty="0"/>
          </a:p>
        </p:txBody>
      </p:sp>
      <p:sp>
        <p:nvSpPr>
          <p:cNvPr id="12" name="Text 10"/>
          <p:cNvSpPr txBox="1"/>
          <p:nvPr/>
        </p:nvSpPr>
        <p:spPr>
          <a:xfrm>
            <a:off x="548640" y="1554480"/>
            <a:ext cx="7589520" cy="2011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Backups, monitorización y troubleshooting</a:t>
            </a:r>
            <a:endParaRPr lang="en-US" sz="4400" dirty="0"/>
          </a:p>
        </p:txBody>
      </p:sp>
      <p:sp>
        <p:nvSpPr>
          <p:cNvPr id="13" name="Text 11"/>
          <p:cNvSpPr txBox="1"/>
          <p:nvPr/>
        </p:nvSpPr>
        <p:spPr>
          <a:xfrm>
            <a:off x="548640" y="3657600"/>
            <a:ext cx="7589520" cy="914400"/>
          </a:xfrm>
          <a:prstGeom prst="rect">
            <a:avLst/>
          </a:prstGeom>
          <a:noFill/>
          <a:ln/>
        </p:spPr>
        <p:txBody>
          <a:bodyPr wrap="square" lIns="0" tIns="0" rIns="0" bIns="0" rtlCol="0" anchor="t"/>
          <a:lstStyle/>
          <a:p>
            <a:pPr indent="0" marL="0">
              <a:buNone/>
            </a:pPr>
            <a:r>
              <a:rPr lang="en-US" sz="2000" dirty="0">
                <a:solidFill>
                  <a:srgbClr val="CFE3D8"/>
                </a:solidFill>
                <a:latin typeface="Calibri" pitchFamily="34" charset="0"/>
                <a:ea typeface="Calibri" pitchFamily="34" charset="-122"/>
                <a:cs typeface="Calibri" pitchFamily="34" charset="-120"/>
              </a:rPr>
              <a:t>mongodump, copias físicas, hot backup, Percona Backup for MongoDB, PITR, PMM, alertas, logs, mongostat, mongotop y profiler</a:t>
            </a:r>
            <a:endParaRPr lang="en-US" sz="2000" dirty="0"/>
          </a:p>
        </p:txBody>
      </p:sp>
      <p:sp>
        <p:nvSpPr>
          <p:cNvPr id="14" name="Text 12"/>
          <p:cNvSpPr txBox="1"/>
          <p:nvPr/>
        </p:nvSpPr>
        <p:spPr>
          <a:xfrm>
            <a:off x="548640" y="5394960"/>
            <a:ext cx="7589520" cy="365760"/>
          </a:xfrm>
          <a:prstGeom prst="rect">
            <a:avLst/>
          </a:prstGeom>
          <a:noFill/>
          <a:ln/>
        </p:spPr>
        <p:txBody>
          <a:bodyPr wrap="square" lIns="0" tIns="0" rIns="0" bIns="0" rtlCol="0" anchor="ctr"/>
          <a:lstStyle/>
          <a:p>
            <a:pPr indent="0" marL="0">
              <a:buNone/>
            </a:pPr>
            <a:r>
              <a:rPr lang="en-US" sz="1400" dirty="0">
                <a:solidFill>
                  <a:srgbClr val="9DB8AE"/>
                </a:solidFill>
                <a:latin typeface="Calibri" pitchFamily="34" charset="0"/>
                <a:ea typeface="Calibri" pitchFamily="34" charset="-122"/>
                <a:cs typeface="Calibri" pitchFamily="34" charset="-120"/>
              </a:rPr>
              <a:t>Módulos 12, 13 y 14 · Laboratorios 11, 12, 13 y 14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Agenda de hoy</a:t>
            </a:r>
            <a:endParaRPr lang="en-US" sz="3200" dirty="0"/>
          </a:p>
        </p:txBody>
      </p:sp>
      <p:sp>
        <p:nvSpPr>
          <p:cNvPr id="3" name="Shape 1"/>
          <p:cNvSpPr/>
          <p:nvPr/>
        </p:nvSpPr>
        <p:spPr>
          <a:xfrm>
            <a:off x="548640" y="1600200"/>
            <a:ext cx="5364328" cy="457200"/>
          </a:xfrm>
          <a:prstGeom prst="roundRect">
            <a:avLst>
              <a:gd name="adj" fmla="val 12000"/>
            </a:avLst>
          </a:prstGeom>
          <a:solidFill>
            <a:srgbClr val="F4F9F6"/>
          </a:solidFill>
          <a:ln w="12700">
            <a:solidFill>
              <a:srgbClr val="D5DDD9"/>
            </a:solidFill>
            <a:prstDash val="solid"/>
          </a:ln>
        </p:spPr>
      </p:sp>
      <p:sp>
        <p:nvSpPr>
          <p:cNvPr id="4" name="Text 2"/>
          <p:cNvSpPr txBox="1"/>
          <p:nvPr/>
        </p:nvSpPr>
        <p:spPr>
          <a:xfrm>
            <a:off x="685800" y="160020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0:00</a:t>
            </a:r>
            <a:endParaRPr lang="en-US" sz="1300" dirty="0"/>
          </a:p>
        </p:txBody>
      </p:sp>
      <p:sp>
        <p:nvSpPr>
          <p:cNvPr id="5" name="Shape 3"/>
          <p:cNvSpPr/>
          <p:nvPr/>
        </p:nvSpPr>
        <p:spPr>
          <a:xfrm>
            <a:off x="1463040" y="1691640"/>
            <a:ext cx="868680" cy="274320"/>
          </a:xfrm>
          <a:prstGeom prst="roundRect">
            <a:avLst>
              <a:gd name="adj" fmla="val 50000"/>
            </a:avLst>
          </a:prstGeom>
          <a:solidFill>
            <a:srgbClr val="173D35"/>
          </a:solidFill>
          <a:ln w="12700">
            <a:solidFill>
              <a:srgbClr val="173D35"/>
            </a:solidFill>
            <a:prstDash val="solid"/>
          </a:ln>
        </p:spPr>
      </p:sp>
      <p:sp>
        <p:nvSpPr>
          <p:cNvPr id="6" name="Text 4"/>
          <p:cNvSpPr txBox="1"/>
          <p:nvPr/>
        </p:nvSpPr>
        <p:spPr>
          <a:xfrm>
            <a:off x="1463040" y="1691640"/>
            <a:ext cx="868680" cy="274320"/>
          </a:xfrm>
          <a:prstGeom prst="rect">
            <a:avLst/>
          </a:prstGeom>
          <a:noFill/>
          <a:ln/>
        </p:spPr>
        <p:txBody>
          <a:bodyPr wrap="square" lIns="0" tIns="0" rIns="0" bIns="0" rtlCol="0" anchor="ctr"/>
          <a:lstStyle/>
          <a:p>
            <a:pPr algn="ctr" indent="0" marL="0">
              <a:buNone/>
            </a:pPr>
            <a:endParaRPr lang="en-US" sz="1000" dirty="0"/>
          </a:p>
        </p:txBody>
      </p:sp>
      <p:sp>
        <p:nvSpPr>
          <p:cNvPr id="7" name="Text 5"/>
          <p:cNvSpPr txBox="1"/>
          <p:nvPr/>
        </p:nvSpPr>
        <p:spPr>
          <a:xfrm>
            <a:off x="2468880" y="160020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Repaso del día 3</a:t>
            </a:r>
            <a:endParaRPr lang="en-US" sz="1400" dirty="0"/>
          </a:p>
        </p:txBody>
      </p:sp>
      <p:sp>
        <p:nvSpPr>
          <p:cNvPr id="8" name="Shape 6"/>
          <p:cNvSpPr/>
          <p:nvPr/>
        </p:nvSpPr>
        <p:spPr>
          <a:xfrm>
            <a:off x="548640" y="2148840"/>
            <a:ext cx="5364328" cy="457200"/>
          </a:xfrm>
          <a:prstGeom prst="roundRect">
            <a:avLst>
              <a:gd name="adj" fmla="val 12000"/>
            </a:avLst>
          </a:prstGeom>
          <a:solidFill>
            <a:srgbClr val="FFFFFF"/>
          </a:solidFill>
          <a:ln w="12700">
            <a:solidFill>
              <a:srgbClr val="D5DDD9"/>
            </a:solidFill>
            <a:prstDash val="solid"/>
          </a:ln>
        </p:spPr>
      </p:sp>
      <p:sp>
        <p:nvSpPr>
          <p:cNvPr id="9" name="Text 7"/>
          <p:cNvSpPr txBox="1"/>
          <p:nvPr/>
        </p:nvSpPr>
        <p:spPr>
          <a:xfrm>
            <a:off x="685800" y="214884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0:10</a:t>
            </a:r>
            <a:endParaRPr lang="en-US" sz="1300" dirty="0"/>
          </a:p>
        </p:txBody>
      </p:sp>
      <p:sp>
        <p:nvSpPr>
          <p:cNvPr id="10" name="Shape 8"/>
          <p:cNvSpPr/>
          <p:nvPr/>
        </p:nvSpPr>
        <p:spPr>
          <a:xfrm>
            <a:off x="1463040" y="2240280"/>
            <a:ext cx="868680" cy="274320"/>
          </a:xfrm>
          <a:prstGeom prst="roundRect">
            <a:avLst>
              <a:gd name="adj" fmla="val 50000"/>
            </a:avLst>
          </a:prstGeom>
          <a:solidFill>
            <a:srgbClr val="1F7A4D"/>
          </a:solidFill>
          <a:ln w="12700">
            <a:solidFill>
              <a:srgbClr val="1F7A4D"/>
            </a:solidFill>
            <a:prstDash val="solid"/>
          </a:ln>
        </p:spPr>
      </p:sp>
      <p:sp>
        <p:nvSpPr>
          <p:cNvPr id="11" name="Text 9"/>
          <p:cNvSpPr txBox="1"/>
          <p:nvPr/>
        </p:nvSpPr>
        <p:spPr>
          <a:xfrm>
            <a:off x="1463040" y="2240280"/>
            <a:ext cx="868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TEORÍA</a:t>
            </a:r>
            <a:endParaRPr lang="en-US" sz="1000" dirty="0"/>
          </a:p>
        </p:txBody>
      </p:sp>
      <p:sp>
        <p:nvSpPr>
          <p:cNvPr id="12" name="Text 10"/>
          <p:cNvSpPr txBox="1"/>
          <p:nvPr/>
        </p:nvSpPr>
        <p:spPr>
          <a:xfrm>
            <a:off x="2468880" y="214884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Módulo 12 · Backups y recuperación</a:t>
            </a:r>
            <a:endParaRPr lang="en-US" sz="1400" dirty="0"/>
          </a:p>
        </p:txBody>
      </p:sp>
      <p:sp>
        <p:nvSpPr>
          <p:cNvPr id="13" name="Shape 11"/>
          <p:cNvSpPr/>
          <p:nvPr/>
        </p:nvSpPr>
        <p:spPr>
          <a:xfrm>
            <a:off x="548640" y="2697480"/>
            <a:ext cx="5364328" cy="457200"/>
          </a:xfrm>
          <a:prstGeom prst="roundRect">
            <a:avLst>
              <a:gd name="adj" fmla="val 12000"/>
            </a:avLst>
          </a:prstGeom>
          <a:solidFill>
            <a:srgbClr val="F4F9F6"/>
          </a:solidFill>
          <a:ln w="12700">
            <a:solidFill>
              <a:srgbClr val="D5DDD9"/>
            </a:solidFill>
            <a:prstDash val="solid"/>
          </a:ln>
        </p:spPr>
      </p:sp>
      <p:sp>
        <p:nvSpPr>
          <p:cNvPr id="14" name="Text 12"/>
          <p:cNvSpPr txBox="1"/>
          <p:nvPr/>
        </p:nvSpPr>
        <p:spPr>
          <a:xfrm>
            <a:off x="685800" y="269748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0:50</a:t>
            </a:r>
            <a:endParaRPr lang="en-US" sz="1300" dirty="0"/>
          </a:p>
        </p:txBody>
      </p:sp>
      <p:sp>
        <p:nvSpPr>
          <p:cNvPr id="15" name="Shape 13"/>
          <p:cNvSpPr/>
          <p:nvPr/>
        </p:nvSpPr>
        <p:spPr>
          <a:xfrm>
            <a:off x="1463040" y="2788920"/>
            <a:ext cx="868680" cy="274320"/>
          </a:xfrm>
          <a:prstGeom prst="roundRect">
            <a:avLst>
              <a:gd name="adj" fmla="val 50000"/>
            </a:avLst>
          </a:prstGeom>
          <a:solidFill>
            <a:srgbClr val="F2B33D"/>
          </a:solidFill>
          <a:ln w="12700">
            <a:solidFill>
              <a:srgbClr val="F2B33D"/>
            </a:solidFill>
            <a:prstDash val="solid"/>
          </a:ln>
        </p:spPr>
      </p:sp>
      <p:sp>
        <p:nvSpPr>
          <p:cNvPr id="16" name="Text 14"/>
          <p:cNvSpPr txBox="1"/>
          <p:nvPr/>
        </p:nvSpPr>
        <p:spPr>
          <a:xfrm>
            <a:off x="1463040" y="2788920"/>
            <a:ext cx="868680" cy="274320"/>
          </a:xfrm>
          <a:prstGeom prst="rect">
            <a:avLst/>
          </a:prstGeom>
          <a:noFill/>
          <a:ln/>
        </p:spPr>
        <p:txBody>
          <a:bodyPr wrap="square" lIns="0" tIns="0" rIns="0" bIns="0" rtlCol="0" anchor="ctr"/>
          <a:lstStyle/>
          <a:p>
            <a:pPr algn="ctr" indent="0" marL="0">
              <a:buNone/>
            </a:pPr>
            <a:r>
              <a:rPr lang="en-US" sz="1000" b="1" dirty="0">
                <a:solidFill>
                  <a:srgbClr val="0F2A25"/>
                </a:solidFill>
                <a:latin typeface="Calibri" pitchFamily="34" charset="0"/>
                <a:ea typeface="Calibri" pitchFamily="34" charset="-122"/>
                <a:cs typeface="Calibri" pitchFamily="34" charset="-120"/>
              </a:rPr>
              <a:t>LAB</a:t>
            </a:r>
            <a:endParaRPr lang="en-US" sz="1000" dirty="0"/>
          </a:p>
        </p:txBody>
      </p:sp>
      <p:sp>
        <p:nvSpPr>
          <p:cNvPr id="17" name="Text 15"/>
          <p:cNvSpPr txBox="1"/>
          <p:nvPr/>
        </p:nvSpPr>
        <p:spPr>
          <a:xfrm>
            <a:off x="2468880" y="269748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Laboratorio 11 · mongodump y copias binarias</a:t>
            </a:r>
            <a:endParaRPr lang="en-US" sz="1400" dirty="0"/>
          </a:p>
        </p:txBody>
      </p:sp>
      <p:sp>
        <p:nvSpPr>
          <p:cNvPr id="18" name="Shape 16"/>
          <p:cNvSpPr/>
          <p:nvPr/>
        </p:nvSpPr>
        <p:spPr>
          <a:xfrm>
            <a:off x="548640" y="3246120"/>
            <a:ext cx="5364328" cy="457200"/>
          </a:xfrm>
          <a:prstGeom prst="roundRect">
            <a:avLst>
              <a:gd name="adj" fmla="val 12000"/>
            </a:avLst>
          </a:prstGeom>
          <a:solidFill>
            <a:srgbClr val="FFFFFF"/>
          </a:solidFill>
          <a:ln w="12700">
            <a:solidFill>
              <a:srgbClr val="D5DDD9"/>
            </a:solidFill>
            <a:prstDash val="solid"/>
          </a:ln>
        </p:spPr>
      </p:sp>
      <p:sp>
        <p:nvSpPr>
          <p:cNvPr id="19" name="Text 17"/>
          <p:cNvSpPr txBox="1"/>
          <p:nvPr/>
        </p:nvSpPr>
        <p:spPr>
          <a:xfrm>
            <a:off x="685800" y="324612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1:15</a:t>
            </a:r>
            <a:endParaRPr lang="en-US" sz="1300" dirty="0"/>
          </a:p>
        </p:txBody>
      </p:sp>
      <p:sp>
        <p:nvSpPr>
          <p:cNvPr id="20" name="Shape 18"/>
          <p:cNvSpPr/>
          <p:nvPr/>
        </p:nvSpPr>
        <p:spPr>
          <a:xfrm>
            <a:off x="1463040" y="3337560"/>
            <a:ext cx="868680" cy="274320"/>
          </a:xfrm>
          <a:prstGeom prst="roundRect">
            <a:avLst>
              <a:gd name="adj" fmla="val 50000"/>
            </a:avLst>
          </a:prstGeom>
          <a:solidFill>
            <a:srgbClr val="F2B33D"/>
          </a:solidFill>
          <a:ln w="12700">
            <a:solidFill>
              <a:srgbClr val="F2B33D"/>
            </a:solidFill>
            <a:prstDash val="solid"/>
          </a:ln>
        </p:spPr>
      </p:sp>
      <p:sp>
        <p:nvSpPr>
          <p:cNvPr id="21" name="Text 19"/>
          <p:cNvSpPr txBox="1"/>
          <p:nvPr/>
        </p:nvSpPr>
        <p:spPr>
          <a:xfrm>
            <a:off x="1463040" y="3337560"/>
            <a:ext cx="868680" cy="274320"/>
          </a:xfrm>
          <a:prstGeom prst="rect">
            <a:avLst/>
          </a:prstGeom>
          <a:noFill/>
          <a:ln/>
        </p:spPr>
        <p:txBody>
          <a:bodyPr wrap="square" lIns="0" tIns="0" rIns="0" bIns="0" rtlCol="0" anchor="ctr"/>
          <a:lstStyle/>
          <a:p>
            <a:pPr algn="ctr" indent="0" marL="0">
              <a:buNone/>
            </a:pPr>
            <a:r>
              <a:rPr lang="en-US" sz="1000" b="1" dirty="0">
                <a:solidFill>
                  <a:srgbClr val="0F2A25"/>
                </a:solidFill>
                <a:latin typeface="Calibri" pitchFamily="34" charset="0"/>
                <a:ea typeface="Calibri" pitchFamily="34" charset="-122"/>
                <a:cs typeface="Calibri" pitchFamily="34" charset="-120"/>
              </a:rPr>
              <a:t>LAB</a:t>
            </a:r>
            <a:endParaRPr lang="en-US" sz="1000" dirty="0"/>
          </a:p>
        </p:txBody>
      </p:sp>
      <p:sp>
        <p:nvSpPr>
          <p:cNvPr id="22" name="Text 20"/>
          <p:cNvSpPr txBox="1"/>
          <p:nvPr/>
        </p:nvSpPr>
        <p:spPr>
          <a:xfrm>
            <a:off x="2468880" y="324612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Laboratorio 12 · Percona Backup for MongoDB y PITR</a:t>
            </a:r>
            <a:endParaRPr lang="en-US" sz="1400" dirty="0"/>
          </a:p>
        </p:txBody>
      </p:sp>
      <p:sp>
        <p:nvSpPr>
          <p:cNvPr id="23" name="Shape 21"/>
          <p:cNvSpPr/>
          <p:nvPr/>
        </p:nvSpPr>
        <p:spPr>
          <a:xfrm>
            <a:off x="548640" y="3794760"/>
            <a:ext cx="5364328" cy="457200"/>
          </a:xfrm>
          <a:prstGeom prst="roundRect">
            <a:avLst>
              <a:gd name="adj" fmla="val 12000"/>
            </a:avLst>
          </a:prstGeom>
          <a:solidFill>
            <a:srgbClr val="F4F9F6"/>
          </a:solidFill>
          <a:ln w="12700">
            <a:solidFill>
              <a:srgbClr val="D5DDD9"/>
            </a:solidFill>
            <a:prstDash val="solid"/>
          </a:ln>
        </p:spPr>
      </p:sp>
      <p:sp>
        <p:nvSpPr>
          <p:cNvPr id="24" name="Text 22"/>
          <p:cNvSpPr txBox="1"/>
          <p:nvPr/>
        </p:nvSpPr>
        <p:spPr>
          <a:xfrm>
            <a:off x="685800" y="379476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1:50</a:t>
            </a:r>
            <a:endParaRPr lang="en-US" sz="1300" dirty="0"/>
          </a:p>
        </p:txBody>
      </p:sp>
      <p:sp>
        <p:nvSpPr>
          <p:cNvPr id="25" name="Shape 23"/>
          <p:cNvSpPr/>
          <p:nvPr/>
        </p:nvSpPr>
        <p:spPr>
          <a:xfrm>
            <a:off x="1463040" y="3886200"/>
            <a:ext cx="868680" cy="274320"/>
          </a:xfrm>
          <a:prstGeom prst="roundRect">
            <a:avLst>
              <a:gd name="adj" fmla="val 50000"/>
            </a:avLst>
          </a:prstGeom>
          <a:solidFill>
            <a:srgbClr val="D5DDD9"/>
          </a:solidFill>
          <a:ln w="12700">
            <a:solidFill>
              <a:srgbClr val="D5DDD9"/>
            </a:solidFill>
            <a:prstDash val="solid"/>
          </a:ln>
        </p:spPr>
      </p:sp>
      <p:sp>
        <p:nvSpPr>
          <p:cNvPr id="26" name="Text 24"/>
          <p:cNvSpPr txBox="1"/>
          <p:nvPr/>
        </p:nvSpPr>
        <p:spPr>
          <a:xfrm>
            <a:off x="1463040" y="3886200"/>
            <a:ext cx="868680" cy="274320"/>
          </a:xfrm>
          <a:prstGeom prst="rect">
            <a:avLst/>
          </a:prstGeom>
          <a:noFill/>
          <a:ln/>
        </p:spPr>
        <p:txBody>
          <a:bodyPr wrap="square" lIns="0" tIns="0" rIns="0" bIns="0" rtlCol="0" anchor="ctr"/>
          <a:lstStyle/>
          <a:p>
            <a:pPr algn="ctr" indent="0" marL="0">
              <a:buNone/>
            </a:pPr>
            <a:r>
              <a:rPr lang="en-US" sz="1000" b="1" dirty="0">
                <a:solidFill>
                  <a:srgbClr val="0F2A25"/>
                </a:solidFill>
                <a:latin typeface="Calibri" pitchFamily="34" charset="0"/>
                <a:ea typeface="Calibri" pitchFamily="34" charset="-122"/>
                <a:cs typeface="Calibri" pitchFamily="34" charset="-120"/>
              </a:rPr>
              <a:t>PAUSA</a:t>
            </a:r>
            <a:endParaRPr lang="en-US" sz="1000" dirty="0"/>
          </a:p>
        </p:txBody>
      </p:sp>
      <p:sp>
        <p:nvSpPr>
          <p:cNvPr id="27" name="Text 25"/>
          <p:cNvSpPr txBox="1"/>
          <p:nvPr/>
        </p:nvSpPr>
        <p:spPr>
          <a:xfrm>
            <a:off x="2468880" y="379476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Descanso</a:t>
            </a:r>
            <a:endParaRPr lang="en-US" sz="1400" dirty="0"/>
          </a:p>
        </p:txBody>
      </p:sp>
      <p:sp>
        <p:nvSpPr>
          <p:cNvPr id="28" name="Shape 26"/>
          <p:cNvSpPr/>
          <p:nvPr/>
        </p:nvSpPr>
        <p:spPr>
          <a:xfrm>
            <a:off x="6278728" y="1600200"/>
            <a:ext cx="5364328" cy="457200"/>
          </a:xfrm>
          <a:prstGeom prst="roundRect">
            <a:avLst>
              <a:gd name="adj" fmla="val 12000"/>
            </a:avLst>
          </a:prstGeom>
          <a:solidFill>
            <a:srgbClr val="F4F9F6"/>
          </a:solidFill>
          <a:ln w="12700">
            <a:solidFill>
              <a:srgbClr val="D5DDD9"/>
            </a:solidFill>
            <a:prstDash val="solid"/>
          </a:ln>
        </p:spPr>
      </p:sp>
      <p:sp>
        <p:nvSpPr>
          <p:cNvPr id="29" name="Text 27"/>
          <p:cNvSpPr txBox="1"/>
          <p:nvPr/>
        </p:nvSpPr>
        <p:spPr>
          <a:xfrm>
            <a:off x="6415888" y="160020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2:05</a:t>
            </a:r>
            <a:endParaRPr lang="en-US" sz="1300" dirty="0"/>
          </a:p>
        </p:txBody>
      </p:sp>
      <p:sp>
        <p:nvSpPr>
          <p:cNvPr id="30" name="Shape 28"/>
          <p:cNvSpPr/>
          <p:nvPr/>
        </p:nvSpPr>
        <p:spPr>
          <a:xfrm>
            <a:off x="7193128" y="1691640"/>
            <a:ext cx="868680" cy="274320"/>
          </a:xfrm>
          <a:prstGeom prst="roundRect">
            <a:avLst>
              <a:gd name="adj" fmla="val 50000"/>
            </a:avLst>
          </a:prstGeom>
          <a:solidFill>
            <a:srgbClr val="1F7A4D"/>
          </a:solidFill>
          <a:ln w="12700">
            <a:solidFill>
              <a:srgbClr val="1F7A4D"/>
            </a:solidFill>
            <a:prstDash val="solid"/>
          </a:ln>
        </p:spPr>
      </p:sp>
      <p:sp>
        <p:nvSpPr>
          <p:cNvPr id="31" name="Text 29"/>
          <p:cNvSpPr txBox="1"/>
          <p:nvPr/>
        </p:nvSpPr>
        <p:spPr>
          <a:xfrm>
            <a:off x="7193128" y="1691640"/>
            <a:ext cx="868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TEORÍA</a:t>
            </a:r>
            <a:endParaRPr lang="en-US" sz="1000" dirty="0"/>
          </a:p>
        </p:txBody>
      </p:sp>
      <p:sp>
        <p:nvSpPr>
          <p:cNvPr id="32" name="Text 30"/>
          <p:cNvSpPr txBox="1"/>
          <p:nvPr/>
        </p:nvSpPr>
        <p:spPr>
          <a:xfrm>
            <a:off x="8198968" y="160020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Módulo 13 · Monitorización y alertas</a:t>
            </a:r>
            <a:endParaRPr lang="en-US" sz="1400" dirty="0"/>
          </a:p>
        </p:txBody>
      </p:sp>
      <p:sp>
        <p:nvSpPr>
          <p:cNvPr id="33" name="Shape 31"/>
          <p:cNvSpPr/>
          <p:nvPr/>
        </p:nvSpPr>
        <p:spPr>
          <a:xfrm>
            <a:off x="6278728" y="2148840"/>
            <a:ext cx="5364328" cy="457200"/>
          </a:xfrm>
          <a:prstGeom prst="roundRect">
            <a:avLst>
              <a:gd name="adj" fmla="val 12000"/>
            </a:avLst>
          </a:prstGeom>
          <a:solidFill>
            <a:srgbClr val="FFFFFF"/>
          </a:solidFill>
          <a:ln w="12700">
            <a:solidFill>
              <a:srgbClr val="D5DDD9"/>
            </a:solidFill>
            <a:prstDash val="solid"/>
          </a:ln>
        </p:spPr>
      </p:sp>
      <p:sp>
        <p:nvSpPr>
          <p:cNvPr id="34" name="Text 32"/>
          <p:cNvSpPr txBox="1"/>
          <p:nvPr/>
        </p:nvSpPr>
        <p:spPr>
          <a:xfrm>
            <a:off x="6415888" y="214884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2:30</a:t>
            </a:r>
            <a:endParaRPr lang="en-US" sz="1300" dirty="0"/>
          </a:p>
        </p:txBody>
      </p:sp>
      <p:sp>
        <p:nvSpPr>
          <p:cNvPr id="35" name="Shape 33"/>
          <p:cNvSpPr/>
          <p:nvPr/>
        </p:nvSpPr>
        <p:spPr>
          <a:xfrm>
            <a:off x="7193128" y="2240280"/>
            <a:ext cx="868680" cy="274320"/>
          </a:xfrm>
          <a:prstGeom prst="roundRect">
            <a:avLst>
              <a:gd name="adj" fmla="val 50000"/>
            </a:avLst>
          </a:prstGeom>
          <a:solidFill>
            <a:srgbClr val="F2B33D"/>
          </a:solidFill>
          <a:ln w="12700">
            <a:solidFill>
              <a:srgbClr val="F2B33D"/>
            </a:solidFill>
            <a:prstDash val="solid"/>
          </a:ln>
        </p:spPr>
      </p:sp>
      <p:sp>
        <p:nvSpPr>
          <p:cNvPr id="36" name="Text 34"/>
          <p:cNvSpPr txBox="1"/>
          <p:nvPr/>
        </p:nvSpPr>
        <p:spPr>
          <a:xfrm>
            <a:off x="7193128" y="2240280"/>
            <a:ext cx="868680" cy="274320"/>
          </a:xfrm>
          <a:prstGeom prst="rect">
            <a:avLst/>
          </a:prstGeom>
          <a:noFill/>
          <a:ln/>
        </p:spPr>
        <p:txBody>
          <a:bodyPr wrap="square" lIns="0" tIns="0" rIns="0" bIns="0" rtlCol="0" anchor="ctr"/>
          <a:lstStyle/>
          <a:p>
            <a:pPr algn="ctr" indent="0" marL="0">
              <a:buNone/>
            </a:pPr>
            <a:r>
              <a:rPr lang="en-US" sz="1000" b="1" dirty="0">
                <a:solidFill>
                  <a:srgbClr val="0F2A25"/>
                </a:solidFill>
                <a:latin typeface="Calibri" pitchFamily="34" charset="0"/>
                <a:ea typeface="Calibri" pitchFamily="34" charset="-122"/>
                <a:cs typeface="Calibri" pitchFamily="34" charset="-120"/>
              </a:rPr>
              <a:t>LAB</a:t>
            </a:r>
            <a:endParaRPr lang="en-US" sz="1000" dirty="0"/>
          </a:p>
        </p:txBody>
      </p:sp>
      <p:sp>
        <p:nvSpPr>
          <p:cNvPr id="37" name="Text 35"/>
          <p:cNvSpPr txBox="1"/>
          <p:nvPr/>
        </p:nvSpPr>
        <p:spPr>
          <a:xfrm>
            <a:off x="8198968" y="214884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Laboratorio 13 · PMM y alertas</a:t>
            </a:r>
            <a:endParaRPr lang="en-US" sz="1400" dirty="0"/>
          </a:p>
        </p:txBody>
      </p:sp>
      <p:sp>
        <p:nvSpPr>
          <p:cNvPr id="38" name="Shape 36"/>
          <p:cNvSpPr/>
          <p:nvPr/>
        </p:nvSpPr>
        <p:spPr>
          <a:xfrm>
            <a:off x="6278728" y="2697480"/>
            <a:ext cx="5364328" cy="457200"/>
          </a:xfrm>
          <a:prstGeom prst="roundRect">
            <a:avLst>
              <a:gd name="adj" fmla="val 12000"/>
            </a:avLst>
          </a:prstGeom>
          <a:solidFill>
            <a:srgbClr val="F4F9F6"/>
          </a:solidFill>
          <a:ln w="12700">
            <a:solidFill>
              <a:srgbClr val="D5DDD9"/>
            </a:solidFill>
            <a:prstDash val="solid"/>
          </a:ln>
        </p:spPr>
      </p:sp>
      <p:sp>
        <p:nvSpPr>
          <p:cNvPr id="39" name="Text 37"/>
          <p:cNvSpPr txBox="1"/>
          <p:nvPr/>
        </p:nvSpPr>
        <p:spPr>
          <a:xfrm>
            <a:off x="6415888" y="269748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3:00</a:t>
            </a:r>
            <a:endParaRPr lang="en-US" sz="1300" dirty="0"/>
          </a:p>
        </p:txBody>
      </p:sp>
      <p:sp>
        <p:nvSpPr>
          <p:cNvPr id="40" name="Shape 38"/>
          <p:cNvSpPr/>
          <p:nvPr/>
        </p:nvSpPr>
        <p:spPr>
          <a:xfrm>
            <a:off x="7193128" y="2788920"/>
            <a:ext cx="868680" cy="274320"/>
          </a:xfrm>
          <a:prstGeom prst="roundRect">
            <a:avLst>
              <a:gd name="adj" fmla="val 50000"/>
            </a:avLst>
          </a:prstGeom>
          <a:solidFill>
            <a:srgbClr val="1F7A4D"/>
          </a:solidFill>
          <a:ln w="12700">
            <a:solidFill>
              <a:srgbClr val="1F7A4D"/>
            </a:solidFill>
            <a:prstDash val="solid"/>
          </a:ln>
        </p:spPr>
      </p:sp>
      <p:sp>
        <p:nvSpPr>
          <p:cNvPr id="41" name="Text 39"/>
          <p:cNvSpPr txBox="1"/>
          <p:nvPr/>
        </p:nvSpPr>
        <p:spPr>
          <a:xfrm>
            <a:off x="7193128" y="2788920"/>
            <a:ext cx="8686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TEORÍA</a:t>
            </a:r>
            <a:endParaRPr lang="en-US" sz="1000" dirty="0"/>
          </a:p>
        </p:txBody>
      </p:sp>
      <p:sp>
        <p:nvSpPr>
          <p:cNvPr id="42" name="Text 40"/>
          <p:cNvSpPr txBox="1"/>
          <p:nvPr/>
        </p:nvSpPr>
        <p:spPr>
          <a:xfrm>
            <a:off x="8198968" y="269748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Módulo 14 · Troubleshooting</a:t>
            </a:r>
            <a:endParaRPr lang="en-US" sz="1400" dirty="0"/>
          </a:p>
        </p:txBody>
      </p:sp>
      <p:sp>
        <p:nvSpPr>
          <p:cNvPr id="43" name="Shape 41"/>
          <p:cNvSpPr/>
          <p:nvPr/>
        </p:nvSpPr>
        <p:spPr>
          <a:xfrm>
            <a:off x="6278728" y="3246120"/>
            <a:ext cx="5364328" cy="457200"/>
          </a:xfrm>
          <a:prstGeom prst="roundRect">
            <a:avLst>
              <a:gd name="adj" fmla="val 12000"/>
            </a:avLst>
          </a:prstGeom>
          <a:solidFill>
            <a:srgbClr val="FFFFFF"/>
          </a:solidFill>
          <a:ln w="12700">
            <a:solidFill>
              <a:srgbClr val="D5DDD9"/>
            </a:solidFill>
            <a:prstDash val="solid"/>
          </a:ln>
        </p:spPr>
      </p:sp>
      <p:sp>
        <p:nvSpPr>
          <p:cNvPr id="44" name="Text 42"/>
          <p:cNvSpPr txBox="1"/>
          <p:nvPr/>
        </p:nvSpPr>
        <p:spPr>
          <a:xfrm>
            <a:off x="6415888" y="324612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3:25</a:t>
            </a:r>
            <a:endParaRPr lang="en-US" sz="1300" dirty="0"/>
          </a:p>
        </p:txBody>
      </p:sp>
      <p:sp>
        <p:nvSpPr>
          <p:cNvPr id="45" name="Shape 43"/>
          <p:cNvSpPr/>
          <p:nvPr/>
        </p:nvSpPr>
        <p:spPr>
          <a:xfrm>
            <a:off x="7193128" y="3337560"/>
            <a:ext cx="868680" cy="274320"/>
          </a:xfrm>
          <a:prstGeom prst="roundRect">
            <a:avLst>
              <a:gd name="adj" fmla="val 50000"/>
            </a:avLst>
          </a:prstGeom>
          <a:solidFill>
            <a:srgbClr val="F2B33D"/>
          </a:solidFill>
          <a:ln w="12700">
            <a:solidFill>
              <a:srgbClr val="F2B33D"/>
            </a:solidFill>
            <a:prstDash val="solid"/>
          </a:ln>
        </p:spPr>
      </p:sp>
      <p:sp>
        <p:nvSpPr>
          <p:cNvPr id="46" name="Text 44"/>
          <p:cNvSpPr txBox="1"/>
          <p:nvPr/>
        </p:nvSpPr>
        <p:spPr>
          <a:xfrm>
            <a:off x="7193128" y="3337560"/>
            <a:ext cx="868680" cy="274320"/>
          </a:xfrm>
          <a:prstGeom prst="rect">
            <a:avLst/>
          </a:prstGeom>
          <a:noFill/>
          <a:ln/>
        </p:spPr>
        <p:txBody>
          <a:bodyPr wrap="square" lIns="0" tIns="0" rIns="0" bIns="0" rtlCol="0" anchor="ctr"/>
          <a:lstStyle/>
          <a:p>
            <a:pPr algn="ctr" indent="0" marL="0">
              <a:buNone/>
            </a:pPr>
            <a:r>
              <a:rPr lang="en-US" sz="1000" b="1" dirty="0">
                <a:solidFill>
                  <a:srgbClr val="0F2A25"/>
                </a:solidFill>
                <a:latin typeface="Calibri" pitchFamily="34" charset="0"/>
                <a:ea typeface="Calibri" pitchFamily="34" charset="-122"/>
                <a:cs typeface="Calibri" pitchFamily="34" charset="-120"/>
              </a:rPr>
              <a:t>LAB</a:t>
            </a:r>
            <a:endParaRPr lang="en-US" sz="1000" dirty="0"/>
          </a:p>
        </p:txBody>
      </p:sp>
      <p:sp>
        <p:nvSpPr>
          <p:cNvPr id="47" name="Text 45"/>
          <p:cNvSpPr txBox="1"/>
          <p:nvPr/>
        </p:nvSpPr>
        <p:spPr>
          <a:xfrm>
            <a:off x="8198968" y="324612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Laboratorio 14 · Resolución de incidencias</a:t>
            </a:r>
            <a:endParaRPr lang="en-US" sz="1400" dirty="0"/>
          </a:p>
        </p:txBody>
      </p:sp>
      <p:sp>
        <p:nvSpPr>
          <p:cNvPr id="48" name="Shape 46"/>
          <p:cNvSpPr/>
          <p:nvPr/>
        </p:nvSpPr>
        <p:spPr>
          <a:xfrm>
            <a:off x="6278728" y="3794760"/>
            <a:ext cx="5364328" cy="457200"/>
          </a:xfrm>
          <a:prstGeom prst="roundRect">
            <a:avLst>
              <a:gd name="adj" fmla="val 12000"/>
            </a:avLst>
          </a:prstGeom>
          <a:solidFill>
            <a:srgbClr val="F4F9F6"/>
          </a:solidFill>
          <a:ln w="12700">
            <a:solidFill>
              <a:srgbClr val="D5DDD9"/>
            </a:solidFill>
            <a:prstDash val="solid"/>
          </a:ln>
        </p:spPr>
      </p:sp>
      <p:sp>
        <p:nvSpPr>
          <p:cNvPr id="49" name="Text 47"/>
          <p:cNvSpPr txBox="1"/>
          <p:nvPr/>
        </p:nvSpPr>
        <p:spPr>
          <a:xfrm>
            <a:off x="6415888" y="3794760"/>
            <a:ext cx="731520" cy="457200"/>
          </a:xfrm>
          <a:prstGeom prst="rect">
            <a:avLst/>
          </a:prstGeom>
          <a:noFill/>
          <a:ln/>
        </p:spPr>
        <p:txBody>
          <a:bodyPr wrap="square" lIns="0" tIns="0" rIns="0" bIns="0" rtlCol="0" anchor="ctr"/>
          <a:lstStyle/>
          <a:p>
            <a:pPr indent="0" marL="0">
              <a:buNone/>
            </a:pPr>
            <a:r>
              <a:rPr lang="en-US" sz="1300" b="1" dirty="0">
                <a:solidFill>
                  <a:srgbClr val="5B6B66"/>
                </a:solidFill>
                <a:latin typeface="Calibri" pitchFamily="34" charset="0"/>
                <a:ea typeface="Calibri" pitchFamily="34" charset="-122"/>
                <a:cs typeface="Calibri" pitchFamily="34" charset="-120"/>
              </a:rPr>
              <a:t>3:55</a:t>
            </a:r>
            <a:endParaRPr lang="en-US" sz="1300" dirty="0"/>
          </a:p>
        </p:txBody>
      </p:sp>
      <p:sp>
        <p:nvSpPr>
          <p:cNvPr id="50" name="Shape 48"/>
          <p:cNvSpPr/>
          <p:nvPr/>
        </p:nvSpPr>
        <p:spPr>
          <a:xfrm>
            <a:off x="7193128" y="3886200"/>
            <a:ext cx="868680" cy="274320"/>
          </a:xfrm>
          <a:prstGeom prst="roundRect">
            <a:avLst>
              <a:gd name="adj" fmla="val 50000"/>
            </a:avLst>
          </a:prstGeom>
          <a:solidFill>
            <a:srgbClr val="173D35"/>
          </a:solidFill>
          <a:ln w="12700">
            <a:solidFill>
              <a:srgbClr val="173D35"/>
            </a:solidFill>
            <a:prstDash val="solid"/>
          </a:ln>
        </p:spPr>
      </p:sp>
      <p:sp>
        <p:nvSpPr>
          <p:cNvPr id="51" name="Text 49"/>
          <p:cNvSpPr txBox="1"/>
          <p:nvPr/>
        </p:nvSpPr>
        <p:spPr>
          <a:xfrm>
            <a:off x="7193128" y="3886200"/>
            <a:ext cx="868680" cy="274320"/>
          </a:xfrm>
          <a:prstGeom prst="rect">
            <a:avLst/>
          </a:prstGeom>
          <a:noFill/>
          <a:ln/>
        </p:spPr>
        <p:txBody>
          <a:bodyPr wrap="square" lIns="0" tIns="0" rIns="0" bIns="0" rtlCol="0" anchor="ctr"/>
          <a:lstStyle/>
          <a:p>
            <a:pPr algn="ctr" indent="0" marL="0">
              <a:buNone/>
            </a:pPr>
            <a:endParaRPr lang="en-US" sz="1000" dirty="0"/>
          </a:p>
        </p:txBody>
      </p:sp>
      <p:sp>
        <p:nvSpPr>
          <p:cNvPr id="52" name="Text 50"/>
          <p:cNvSpPr txBox="1"/>
          <p:nvPr/>
        </p:nvSpPr>
        <p:spPr>
          <a:xfrm>
            <a:off x="8198968" y="3794760"/>
            <a:ext cx="3306928" cy="457200"/>
          </a:xfrm>
          <a:prstGeom prst="rect">
            <a:avLst/>
          </a:prstGeom>
          <a:noFill/>
          <a:ln/>
        </p:spPr>
        <p:txBody>
          <a:bodyPr wrap="square" lIns="0" tIns="0" rIns="0" bIns="0" rtlCol="0" anchor="ctr"/>
          <a:lstStyle/>
          <a:p>
            <a:pPr indent="0" marL="0">
              <a:buNone/>
            </a:pPr>
            <a:r>
              <a:rPr lang="en-US" sz="1400" dirty="0">
                <a:solidFill>
                  <a:srgbClr val="1C2B27"/>
                </a:solidFill>
                <a:latin typeface="Calibri" pitchFamily="34" charset="0"/>
                <a:ea typeface="Calibri" pitchFamily="34" charset="-122"/>
                <a:cs typeface="Calibri" pitchFamily="34" charset="-120"/>
              </a:rPr>
              <a:t>Cierre del curso</a:t>
            </a:r>
            <a:endParaRPr lang="en-US" sz="1400" dirty="0"/>
          </a:p>
        </p:txBody>
      </p:sp>
      <p:sp>
        <p:nvSpPr>
          <p:cNvPr id="53" name="Text 5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54" name="Text 5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 / 33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Repaso del día 3</a:t>
            </a:r>
            <a:endParaRPr lang="en-US" sz="3200" dirty="0"/>
          </a:p>
        </p:txBody>
      </p:sp>
      <p:sp>
        <p:nvSpPr>
          <p:cNvPr id="3" name="Text 1"/>
          <p:cNvSpPr txBox="1"/>
          <p:nvPr/>
        </p:nvSpPr>
        <p:spPr>
          <a:xfrm>
            <a:off x="548640" y="1463040"/>
            <a:ext cx="6949440" cy="4663440"/>
          </a:xfrm>
          <a:prstGeom prst="rect">
            <a:avLst/>
          </a:prstGeom>
          <a:noFill/>
          <a:ln/>
        </p:spPr>
        <p:txBody>
          <a:bodyPr wrap="square" lIns="0" tIns="0" rIns="0" bIns="0" rtlCol="0" anchor="t"/>
          <a:lstStyle/>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Seguridad en </a:t>
            </a:r>
            <a:r>
              <a:rPr lang="en-US" sz="2000" b="1" dirty="0">
                <a:solidFill>
                  <a:srgbClr val="1C2B27"/>
                </a:solidFill>
                <a:latin typeface="Calibri" pitchFamily="34" charset="0"/>
                <a:ea typeface="Calibri" pitchFamily="34" charset="-122"/>
                <a:cs typeface="Calibri" pitchFamily="34" charset="-120"/>
              </a:rPr>
              <a:t>capas</a:t>
            </a:r>
            <a:r>
              <a:rPr lang="en-US" sz="2000" dirty="0">
                <a:solidFill>
                  <a:srgbClr val="1C2B27"/>
                </a:solidFill>
                <a:latin typeface="Calibri" pitchFamily="34" charset="0"/>
                <a:ea typeface="Calibri" pitchFamily="34" charset="-122"/>
                <a:cs typeface="Calibri" pitchFamily="34" charset="-120"/>
              </a:rPr>
              <a:t>: red, autenticación, autorización, TLS, cifrado en reposo, auditoría</a:t>
            </a:r>
            <a:endParaRPr lang="en-US" sz="2000" dirty="0"/>
          </a:p>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SCRAM</a:t>
            </a:r>
            <a:r>
              <a:rPr lang="en-US" sz="2000" dirty="0">
                <a:solidFill>
                  <a:srgbClr val="1C2B27"/>
                </a:solidFill>
                <a:latin typeface="Calibri" pitchFamily="34" charset="0"/>
                <a:ea typeface="Calibri" pitchFamily="34" charset="-122"/>
                <a:cs typeface="Calibri" pitchFamily="34" charset="-120"/>
              </a:rPr>
              <a:t> no guarda contraseñas; </a:t>
            </a:r>
            <a:r>
              <a:rPr lang="en-US" sz="2000" b="1" dirty="0">
                <a:solidFill>
                  <a:srgbClr val="1C2B27"/>
                </a:solidFill>
                <a:latin typeface="Calibri" pitchFamily="34" charset="0"/>
                <a:ea typeface="Calibri" pitchFamily="34" charset="-122"/>
                <a:cs typeface="Calibri" pitchFamily="34" charset="-120"/>
              </a:rPr>
              <a:t>x.509</a:t>
            </a:r>
            <a:r>
              <a:rPr lang="en-US" sz="2000" dirty="0">
                <a:solidFill>
                  <a:srgbClr val="1C2B27"/>
                </a:solidFill>
                <a:latin typeface="Calibri" pitchFamily="34" charset="0"/>
                <a:ea typeface="Calibri" pitchFamily="34" charset="-122"/>
                <a:cs typeface="Calibri" pitchFamily="34" charset="-120"/>
              </a:rPr>
              <a:t> las sustituye por certificados</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Membresía interna con </a:t>
            </a:r>
            <a:r>
              <a:rPr lang="en-US" sz="2000" b="1" dirty="0">
                <a:solidFill>
                  <a:srgbClr val="1C2B27"/>
                </a:solidFill>
                <a:latin typeface="Calibri" pitchFamily="34" charset="0"/>
                <a:ea typeface="Calibri" pitchFamily="34" charset="-122"/>
                <a:cs typeface="Calibri" pitchFamily="34" charset="-120"/>
              </a:rPr>
              <a:t>keyFile</a:t>
            </a:r>
            <a:r>
              <a:rPr lang="en-US" sz="2000" dirty="0">
                <a:solidFill>
                  <a:srgbClr val="1C2B27"/>
                </a:solidFill>
                <a:latin typeface="Calibri" pitchFamily="34" charset="0"/>
                <a:ea typeface="Calibri" pitchFamily="34" charset="-122"/>
                <a:cs typeface="Calibri" pitchFamily="34" charset="-120"/>
              </a:rPr>
              <a:t> o, mejor, </a:t>
            </a:r>
            <a:r>
              <a:rPr lang="en-US" sz="2000" b="1" dirty="0">
                <a:solidFill>
                  <a:srgbClr val="1C2B27"/>
                </a:solidFill>
                <a:latin typeface="Calibri" pitchFamily="34" charset="0"/>
                <a:ea typeface="Calibri" pitchFamily="34" charset="-122"/>
                <a:cs typeface="Calibri" pitchFamily="34" charset="-120"/>
              </a:rPr>
              <a:t>x.509</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Roles de </a:t>
            </a:r>
            <a:r>
              <a:rPr lang="en-US" sz="2000" b="1" dirty="0">
                <a:solidFill>
                  <a:srgbClr val="1C2B27"/>
                </a:solidFill>
                <a:latin typeface="Calibri" pitchFamily="34" charset="0"/>
                <a:ea typeface="Calibri" pitchFamily="34" charset="-122"/>
                <a:cs typeface="Calibri" pitchFamily="34" charset="-120"/>
              </a:rPr>
              <a:t>mínimo privilegio</a:t>
            </a:r>
            <a:r>
              <a:rPr lang="en-US" sz="2000" dirty="0">
                <a:solidFill>
                  <a:srgbClr val="1C2B27"/>
                </a:solidFill>
                <a:latin typeface="Calibri" pitchFamily="34" charset="0"/>
                <a:ea typeface="Calibri" pitchFamily="34" charset="-122"/>
                <a:cs typeface="Calibri" pitchFamily="34" charset="-120"/>
              </a:rPr>
              <a:t>; límites con </a:t>
            </a:r>
            <a:r>
              <a:rPr lang="en-US" sz="2000" b="1" dirty="0">
                <a:solidFill>
                  <a:srgbClr val="1C2B27"/>
                </a:solidFill>
                <a:latin typeface="Calibri" pitchFamily="34" charset="0"/>
                <a:ea typeface="Calibri" pitchFamily="34" charset="-122"/>
                <a:cs typeface="Calibri" pitchFamily="34" charset="-120"/>
              </a:rPr>
              <a:t>maxTimeMS</a:t>
            </a:r>
            <a:r>
              <a:rPr lang="en-US" sz="2000" dirty="0">
                <a:solidFill>
                  <a:srgbClr val="1C2B27"/>
                </a:solidFill>
                <a:latin typeface="Calibri" pitchFamily="34" charset="0"/>
                <a:ea typeface="Calibri" pitchFamily="34" charset="-122"/>
                <a:cs typeface="Calibri" pitchFamily="34" charset="-120"/>
              </a:rPr>
              <a:t> y </a:t>
            </a:r>
            <a:r>
              <a:rPr lang="en-US" sz="2000" b="1" dirty="0">
                <a:solidFill>
                  <a:srgbClr val="1C2B27"/>
                </a:solidFill>
                <a:latin typeface="Calibri" pitchFamily="34" charset="0"/>
                <a:ea typeface="Calibri" pitchFamily="34" charset="-122"/>
                <a:cs typeface="Calibri" pitchFamily="34" charset="-120"/>
              </a:rPr>
              <a:t>defaultMaxTimeMS</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TLS sin parada: </a:t>
            </a:r>
            <a:r>
              <a:rPr lang="en-US" sz="2000" b="1" dirty="0">
                <a:solidFill>
                  <a:srgbClr val="1C2B27"/>
                </a:solidFill>
                <a:latin typeface="Calibri" pitchFamily="34" charset="0"/>
                <a:ea typeface="Calibri" pitchFamily="34" charset="-122"/>
                <a:cs typeface="Calibri" pitchFamily="34" charset="-120"/>
              </a:rPr>
              <a:t>allowTLS → preferTLS → requireTLS</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Cifrado en reposo: la clave </a:t>
            </a:r>
            <a:r>
              <a:rPr lang="en-US" sz="2000" b="1" dirty="0">
                <a:solidFill>
                  <a:srgbClr val="1C2B27"/>
                </a:solidFill>
                <a:latin typeface="Calibri" pitchFamily="34" charset="0"/>
                <a:ea typeface="Calibri" pitchFamily="34" charset="-122"/>
                <a:cs typeface="Calibri" pitchFamily="34" charset="-120"/>
              </a:rPr>
              <a:t>fuera</a:t>
            </a:r>
            <a:r>
              <a:rPr lang="en-US" sz="2000" dirty="0">
                <a:solidFill>
                  <a:srgbClr val="1C2B27"/>
                </a:solidFill>
                <a:latin typeface="Calibri" pitchFamily="34" charset="0"/>
                <a:ea typeface="Calibri" pitchFamily="34" charset="-122"/>
                <a:cs typeface="Calibri" pitchFamily="34" charset="-120"/>
              </a:rPr>
              <a:t> del servidor</a:t>
            </a:r>
            <a:endParaRPr lang="en-US" sz="2000" dirty="0"/>
          </a:p>
        </p:txBody>
      </p:sp>
      <p:sp>
        <p:nvSpPr>
          <p:cNvPr id="4" name="Shape 2"/>
          <p:cNvSpPr/>
          <p:nvPr/>
        </p:nvSpPr>
        <p:spPr>
          <a:xfrm>
            <a:off x="7863840" y="1463040"/>
            <a:ext cx="3779215" cy="4206240"/>
          </a:xfrm>
          <a:prstGeom prst="roundRect">
            <a:avLst>
              <a:gd name="adj" fmla="val 2903"/>
            </a:avLst>
          </a:prstGeom>
          <a:solidFill>
            <a:srgbClr val="E8F3EC"/>
          </a:solidFill>
          <a:ln w="12700">
            <a:solidFill>
              <a:srgbClr val="E8F3EC"/>
            </a:solidFill>
            <a:prstDash val="solid"/>
          </a:ln>
        </p:spPr>
      </p:sp>
      <p:sp>
        <p:nvSpPr>
          <p:cNvPr id="5" name="Shape 3"/>
          <p:cNvSpPr/>
          <p:nvPr/>
        </p:nvSpPr>
        <p:spPr>
          <a:xfrm>
            <a:off x="8138160" y="1737360"/>
            <a:ext cx="548640" cy="548640"/>
          </a:xfrm>
          <a:prstGeom prst="ellipse">
            <a:avLst/>
          </a:prstGeom>
          <a:solidFill>
            <a:srgbClr val="1F7A4D"/>
          </a:solidFill>
          <a:ln w="12700">
            <a:solidFill>
              <a:srgbClr val="1F7A4D"/>
            </a:solidFill>
            <a:prstDash val="solid"/>
          </a:ln>
        </p:spPr>
      </p:sp>
      <p:sp>
        <p:nvSpPr>
          <p:cNvPr id="6" name="Text 4"/>
          <p:cNvSpPr txBox="1"/>
          <p:nvPr/>
        </p:nvSpPr>
        <p:spPr>
          <a:xfrm>
            <a:off x="813816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5"/>
          <p:cNvSpPr txBox="1"/>
          <p:nvPr/>
        </p:nvSpPr>
        <p:spPr>
          <a:xfrm>
            <a:off x="8823960" y="1737360"/>
            <a:ext cx="2590495"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Pregunta rápida</a:t>
            </a:r>
            <a:endParaRPr lang="en-US" sz="1800" dirty="0"/>
          </a:p>
        </p:txBody>
      </p:sp>
      <p:sp>
        <p:nvSpPr>
          <p:cNvPr id="8" name="Text 6"/>
          <p:cNvSpPr txBox="1"/>
          <p:nvPr/>
        </p:nvSpPr>
        <p:spPr>
          <a:xfrm>
            <a:off x="8138160" y="2468880"/>
            <a:ext cx="3230575" cy="3017520"/>
          </a:xfrm>
          <a:prstGeom prst="rect">
            <a:avLst/>
          </a:prstGeom>
          <a:noFill/>
          <a:ln/>
        </p:spPr>
        <p:txBody>
          <a:bodyPr wrap="square" lIns="0" tIns="0" rIns="0" bIns="0" rtlCol="0" anchor="t"/>
          <a:lstStyle/>
          <a:p>
            <a:pPr indent="0" marL="0">
              <a:buNone/>
            </a:pPr>
            <a:r>
              <a:rPr lang="en-US" sz="1700" dirty="0">
                <a:solidFill>
                  <a:srgbClr val="1C2B27"/>
                </a:solidFill>
                <a:latin typeface="Calibri" pitchFamily="34" charset="0"/>
                <a:ea typeface="Calibri" pitchFamily="34" charset="-122"/>
                <a:cs typeface="Calibri" pitchFamily="34" charset="-120"/>
              </a:rPr>
              <a:t>Un servidor tiene cifrado en reposo. Alguien con un usuario de solo lectura ejecuta mongodump de toda la base de datos. ¿El volcado sale cifrado?</a:t>
            </a:r>
            <a:endParaRPr lang="en-US" sz="1700" dirty="0"/>
          </a:p>
        </p:txBody>
      </p:sp>
      <p:sp>
        <p:nvSpPr>
          <p:cNvPr id="9" name="Text 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10" name="Text 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3 / 33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2A25"/>
        </a:solidFill>
      </p:bgPr>
    </p:bg>
    <p:spTree>
      <p:nvGrpSpPr>
        <p:cNvPr id="1" name=""/>
        <p:cNvGrpSpPr/>
        <p:nvPr/>
      </p:nvGrpSpPr>
      <p:grpSpPr>
        <a:xfrm>
          <a:off x="0" y="0"/>
          <a:ext cx="0" cy="0"/>
          <a:chOff x="0" y="0"/>
          <a:chExt cx="0" cy="0"/>
        </a:xfrm>
      </p:grpSpPr>
      <p:sp>
        <p:nvSpPr>
          <p:cNvPr id="2" name="Shape 0"/>
          <p:cNvSpPr/>
          <p:nvPr/>
        </p:nvSpPr>
        <p:spPr>
          <a:xfrm>
            <a:off x="548640" y="1280160"/>
            <a:ext cx="1463040" cy="1463040"/>
          </a:xfrm>
          <a:prstGeom prst="ellipse">
            <a:avLst/>
          </a:prstGeom>
          <a:solidFill>
            <a:srgbClr val="F2B33D"/>
          </a:solidFill>
          <a:ln w="12700">
            <a:solidFill>
              <a:srgbClr val="F2B33D"/>
            </a:solidFill>
            <a:prstDash val="solid"/>
          </a:ln>
        </p:spPr>
      </p:sp>
      <p:sp>
        <p:nvSpPr>
          <p:cNvPr id="3" name="Text 1"/>
          <p:cNvSpPr txBox="1"/>
          <p:nvPr/>
        </p:nvSpPr>
        <p:spPr>
          <a:xfrm>
            <a:off x="548640" y="1280160"/>
            <a:ext cx="1463040" cy="1463040"/>
          </a:xfrm>
          <a:prstGeom prst="rect">
            <a:avLst/>
          </a:prstGeom>
          <a:noFill/>
          <a:ln/>
        </p:spPr>
        <p:txBody>
          <a:bodyPr wrap="square" lIns="0" tIns="0" rIns="0" bIns="0" rtlCol="0" anchor="ctr"/>
          <a:lstStyle/>
          <a:p>
            <a:pPr algn="ctr" indent="0" marL="0">
              <a:buNone/>
            </a:pPr>
            <a:r>
              <a:rPr lang="en-US" sz="4000" b="1" dirty="0">
                <a:solidFill>
                  <a:srgbClr val="0F2A25"/>
                </a:solidFill>
                <a:latin typeface="Cambria" pitchFamily="34" charset="0"/>
                <a:ea typeface="Cambria" pitchFamily="34" charset="-122"/>
                <a:cs typeface="Cambria" pitchFamily="34" charset="-120"/>
              </a:rPr>
              <a:t>12</a:t>
            </a:r>
            <a:endParaRPr lang="en-US" sz="4000" dirty="0"/>
          </a:p>
        </p:txBody>
      </p:sp>
      <p:sp>
        <p:nvSpPr>
          <p:cNvPr id="4" name="Text 2"/>
          <p:cNvSpPr txBox="1"/>
          <p:nvPr/>
        </p:nvSpPr>
        <p:spPr>
          <a:xfrm>
            <a:off x="2377440" y="1325880"/>
            <a:ext cx="8229600" cy="365760"/>
          </a:xfrm>
          <a:prstGeom prst="rect">
            <a:avLst/>
          </a:prstGeom>
          <a:noFill/>
          <a:ln/>
        </p:spPr>
        <p:txBody>
          <a:bodyPr wrap="square" lIns="0" tIns="0" rIns="0" bIns="0" rtlCol="0" anchor="ctr"/>
          <a:lstStyle/>
          <a:p>
            <a:pPr indent="0" marL="0">
              <a:buNone/>
            </a:pPr>
            <a:r>
              <a:rPr lang="en-US" sz="1400" b="1" spc="400" kern="0" dirty="0">
                <a:solidFill>
                  <a:srgbClr val="F2B33D"/>
                </a:solidFill>
                <a:latin typeface="Calibri" pitchFamily="34" charset="0"/>
                <a:ea typeface="Calibri" pitchFamily="34" charset="-122"/>
                <a:cs typeface="Calibri" pitchFamily="34" charset="-120"/>
              </a:rPr>
              <a:t>MÓDULO</a:t>
            </a:r>
            <a:endParaRPr lang="en-US" sz="1400" dirty="0"/>
          </a:p>
        </p:txBody>
      </p:sp>
      <p:sp>
        <p:nvSpPr>
          <p:cNvPr id="5" name="Text 3"/>
          <p:cNvSpPr txBox="1"/>
          <p:nvPr/>
        </p:nvSpPr>
        <p:spPr>
          <a:xfrm>
            <a:off x="2377440" y="1691640"/>
            <a:ext cx="9144000" cy="9144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Backups y recuperación</a:t>
            </a:r>
            <a:endParaRPr lang="en-US" sz="4000" dirty="0"/>
          </a:p>
        </p:txBody>
      </p:sp>
      <p:sp>
        <p:nvSpPr>
          <p:cNvPr id="6" name="Text 4"/>
          <p:cNvSpPr txBox="1"/>
          <p:nvPr/>
        </p:nvSpPr>
        <p:spPr>
          <a:xfrm>
            <a:off x="2377440" y="2743200"/>
            <a:ext cx="9144000" cy="548640"/>
          </a:xfrm>
          <a:prstGeom prst="rect">
            <a:avLst/>
          </a:prstGeom>
          <a:noFill/>
          <a:ln/>
        </p:spPr>
        <p:txBody>
          <a:bodyPr wrap="square" lIns="0" tIns="0" rIns="0" bIns="0" rtlCol="0" anchor="ctr"/>
          <a:lstStyle/>
          <a:p>
            <a:pPr indent="0" marL="0">
              <a:buNone/>
            </a:pPr>
            <a:r>
              <a:rPr lang="en-US" sz="1800" dirty="0">
                <a:solidFill>
                  <a:srgbClr val="CFE3D8"/>
                </a:solidFill>
                <a:latin typeface="Calibri" pitchFamily="34" charset="0"/>
                <a:ea typeface="Calibri" pitchFamily="34" charset="-122"/>
                <a:cs typeface="Calibri" pitchFamily="34" charset="-120"/>
              </a:rPr>
              <a:t>Copiar es fácil; restaurar a tiempo es lo que importa</a:t>
            </a:r>
            <a:endParaRPr lang="en-US" sz="1800" dirty="0"/>
          </a:p>
        </p:txBody>
      </p:sp>
      <p:sp>
        <p:nvSpPr>
          <p:cNvPr id="7" name="Shape 5"/>
          <p:cNvSpPr/>
          <p:nvPr/>
        </p:nvSpPr>
        <p:spPr>
          <a:xfrm>
            <a:off x="2377440" y="3749040"/>
            <a:ext cx="2905658" cy="731520"/>
          </a:xfrm>
          <a:prstGeom prst="roundRect">
            <a:avLst>
              <a:gd name="adj" fmla="val 15000"/>
            </a:avLst>
          </a:prstGeom>
          <a:solidFill>
            <a:srgbClr val="173D35"/>
          </a:solidFill>
          <a:ln w="12700">
            <a:solidFill>
              <a:srgbClr val="2D5A4E"/>
            </a:solidFill>
            <a:prstDash val="solid"/>
          </a:ln>
        </p:spPr>
      </p:sp>
      <p:sp>
        <p:nvSpPr>
          <p:cNvPr id="8" name="Text 6"/>
          <p:cNvSpPr txBox="1"/>
          <p:nvPr/>
        </p:nvSpPr>
        <p:spPr>
          <a:xfrm>
            <a:off x="2560320" y="37490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RPO y RTO</a:t>
            </a:r>
            <a:endParaRPr lang="en-US" sz="1600" dirty="0"/>
          </a:p>
        </p:txBody>
      </p:sp>
      <p:sp>
        <p:nvSpPr>
          <p:cNvPr id="9" name="Shape 7"/>
          <p:cNvSpPr/>
          <p:nvPr/>
        </p:nvSpPr>
        <p:spPr>
          <a:xfrm>
            <a:off x="5557418" y="3749040"/>
            <a:ext cx="2905658" cy="731520"/>
          </a:xfrm>
          <a:prstGeom prst="roundRect">
            <a:avLst>
              <a:gd name="adj" fmla="val 15000"/>
            </a:avLst>
          </a:prstGeom>
          <a:solidFill>
            <a:srgbClr val="173D35"/>
          </a:solidFill>
          <a:ln w="12700">
            <a:solidFill>
              <a:srgbClr val="2D5A4E"/>
            </a:solidFill>
            <a:prstDash val="solid"/>
          </a:ln>
        </p:spPr>
      </p:sp>
      <p:sp>
        <p:nvSpPr>
          <p:cNvPr id="10" name="Text 8"/>
          <p:cNvSpPr txBox="1"/>
          <p:nvPr/>
        </p:nvSpPr>
        <p:spPr>
          <a:xfrm>
            <a:off x="5740298" y="37490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Métodos de backup</a:t>
            </a:r>
            <a:endParaRPr lang="en-US" sz="1600" dirty="0"/>
          </a:p>
        </p:txBody>
      </p:sp>
      <p:sp>
        <p:nvSpPr>
          <p:cNvPr id="11" name="Shape 9"/>
          <p:cNvSpPr/>
          <p:nvPr/>
        </p:nvSpPr>
        <p:spPr>
          <a:xfrm>
            <a:off x="8737397" y="3749040"/>
            <a:ext cx="2905658" cy="731520"/>
          </a:xfrm>
          <a:prstGeom prst="roundRect">
            <a:avLst>
              <a:gd name="adj" fmla="val 15000"/>
            </a:avLst>
          </a:prstGeom>
          <a:solidFill>
            <a:srgbClr val="173D35"/>
          </a:solidFill>
          <a:ln w="12700">
            <a:solidFill>
              <a:srgbClr val="2D5A4E"/>
            </a:solidFill>
            <a:prstDash val="solid"/>
          </a:ln>
        </p:spPr>
      </p:sp>
      <p:sp>
        <p:nvSpPr>
          <p:cNvPr id="12" name="Text 10"/>
          <p:cNvSpPr txBox="1"/>
          <p:nvPr/>
        </p:nvSpPr>
        <p:spPr>
          <a:xfrm>
            <a:off x="8920277" y="37490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mongodump y mongorestore</a:t>
            </a:r>
            <a:endParaRPr lang="en-US" sz="1600" dirty="0"/>
          </a:p>
        </p:txBody>
      </p:sp>
      <p:sp>
        <p:nvSpPr>
          <p:cNvPr id="13" name="Shape 11"/>
          <p:cNvSpPr/>
          <p:nvPr/>
        </p:nvSpPr>
        <p:spPr>
          <a:xfrm>
            <a:off x="2377440" y="4663440"/>
            <a:ext cx="2905658" cy="731520"/>
          </a:xfrm>
          <a:prstGeom prst="roundRect">
            <a:avLst>
              <a:gd name="adj" fmla="val 15000"/>
            </a:avLst>
          </a:prstGeom>
          <a:solidFill>
            <a:srgbClr val="173D35"/>
          </a:solidFill>
          <a:ln w="12700">
            <a:solidFill>
              <a:srgbClr val="2D5A4E"/>
            </a:solidFill>
            <a:prstDash val="solid"/>
          </a:ln>
        </p:spPr>
      </p:sp>
      <p:sp>
        <p:nvSpPr>
          <p:cNvPr id="14" name="Text 12"/>
          <p:cNvSpPr txBox="1"/>
          <p:nvPr/>
        </p:nvSpPr>
        <p:spPr>
          <a:xfrm>
            <a:off x="2560320" y="46634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Copias físicas y snapshots</a:t>
            </a:r>
            <a:endParaRPr lang="en-US" sz="1600" dirty="0"/>
          </a:p>
        </p:txBody>
      </p:sp>
      <p:sp>
        <p:nvSpPr>
          <p:cNvPr id="15" name="Shape 13"/>
          <p:cNvSpPr/>
          <p:nvPr/>
        </p:nvSpPr>
        <p:spPr>
          <a:xfrm>
            <a:off x="5557418" y="4663440"/>
            <a:ext cx="2905658" cy="731520"/>
          </a:xfrm>
          <a:prstGeom prst="roundRect">
            <a:avLst>
              <a:gd name="adj" fmla="val 15000"/>
            </a:avLst>
          </a:prstGeom>
          <a:solidFill>
            <a:srgbClr val="173D35"/>
          </a:solidFill>
          <a:ln w="12700">
            <a:solidFill>
              <a:srgbClr val="2D5A4E"/>
            </a:solidFill>
            <a:prstDash val="solid"/>
          </a:ln>
        </p:spPr>
      </p:sp>
      <p:sp>
        <p:nvSpPr>
          <p:cNvPr id="16" name="Text 14"/>
          <p:cNvSpPr txBox="1"/>
          <p:nvPr/>
        </p:nvSpPr>
        <p:spPr>
          <a:xfrm>
            <a:off x="5740298" y="46634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Hot backup</a:t>
            </a:r>
            <a:endParaRPr lang="en-US" sz="1600" dirty="0"/>
          </a:p>
        </p:txBody>
      </p:sp>
      <p:sp>
        <p:nvSpPr>
          <p:cNvPr id="17" name="Shape 15"/>
          <p:cNvSpPr/>
          <p:nvPr/>
        </p:nvSpPr>
        <p:spPr>
          <a:xfrm>
            <a:off x="8737397" y="4663440"/>
            <a:ext cx="2905658" cy="731520"/>
          </a:xfrm>
          <a:prstGeom prst="roundRect">
            <a:avLst>
              <a:gd name="adj" fmla="val 15000"/>
            </a:avLst>
          </a:prstGeom>
          <a:solidFill>
            <a:srgbClr val="173D35"/>
          </a:solidFill>
          <a:ln w="12700">
            <a:solidFill>
              <a:srgbClr val="2D5A4E"/>
            </a:solidFill>
            <a:prstDash val="solid"/>
          </a:ln>
        </p:spPr>
      </p:sp>
      <p:sp>
        <p:nvSpPr>
          <p:cNvPr id="18" name="Text 16"/>
          <p:cNvSpPr txBox="1"/>
          <p:nvPr/>
        </p:nvSpPr>
        <p:spPr>
          <a:xfrm>
            <a:off x="8920277" y="46634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Percona Backup for MongoDB y PITR</a:t>
            </a:r>
            <a:endParaRPr lang="en-US" sz="1600" dirty="0"/>
          </a:p>
        </p:txBody>
      </p:sp>
      <p:sp>
        <p:nvSpPr>
          <p:cNvPr id="19" name="Text 1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9DB8AE"/>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20" name="Text 1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9DB8AE"/>
                </a:solidFill>
                <a:latin typeface="Calibri" pitchFamily="34" charset="0"/>
                <a:ea typeface="Calibri" pitchFamily="34" charset="-122"/>
                <a:cs typeface="Calibri" pitchFamily="34" charset="-120"/>
              </a:rPr>
              <a:t>4 / 33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RPO y RTO: lo primero es preguntar a negocio</a:t>
            </a:r>
            <a:endParaRPr lang="en-US" sz="3200" dirty="0"/>
          </a:p>
        </p:txBody>
      </p:sp>
      <p:sp>
        <p:nvSpPr>
          <p:cNvPr id="3" name="Shape 1"/>
          <p:cNvSpPr/>
          <p:nvPr/>
        </p:nvSpPr>
        <p:spPr>
          <a:xfrm>
            <a:off x="548640" y="1554480"/>
            <a:ext cx="3515258" cy="2103120"/>
          </a:xfrm>
          <a:prstGeom prst="roundRect">
            <a:avLst>
              <a:gd name="adj" fmla="val 5217"/>
            </a:avLst>
          </a:prstGeom>
          <a:solidFill>
            <a:srgbClr val="0F2A25"/>
          </a:solidFill>
          <a:ln w="12700">
            <a:solidFill>
              <a:srgbClr val="0F2A25"/>
            </a:solidFill>
            <a:prstDash val="solid"/>
          </a:ln>
        </p:spPr>
      </p:sp>
      <p:sp>
        <p:nvSpPr>
          <p:cNvPr id="4" name="Text 2"/>
          <p:cNvSpPr txBox="1"/>
          <p:nvPr/>
        </p:nvSpPr>
        <p:spPr>
          <a:xfrm>
            <a:off x="731520" y="1783080"/>
            <a:ext cx="3149498" cy="1005840"/>
          </a:xfrm>
          <a:prstGeom prst="rect">
            <a:avLst/>
          </a:prstGeom>
          <a:noFill/>
          <a:ln/>
        </p:spPr>
        <p:txBody>
          <a:bodyPr wrap="square" lIns="0" tIns="0" rIns="0" bIns="0" rtlCol="0" anchor="ctr"/>
          <a:lstStyle/>
          <a:p>
            <a:pPr indent="0" marL="0">
              <a:buNone/>
            </a:pPr>
            <a:r>
              <a:rPr lang="en-US" sz="4400" b="1" dirty="0">
                <a:solidFill>
                  <a:srgbClr val="F2B33D"/>
                </a:solidFill>
                <a:latin typeface="Cambria" pitchFamily="34" charset="0"/>
                <a:ea typeface="Cambria" pitchFamily="34" charset="-122"/>
                <a:cs typeface="Cambria" pitchFamily="34" charset="-120"/>
              </a:rPr>
              <a:t>RPO</a:t>
            </a:r>
            <a:endParaRPr lang="en-US" sz="4400" dirty="0"/>
          </a:p>
        </p:txBody>
      </p:sp>
      <p:sp>
        <p:nvSpPr>
          <p:cNvPr id="5" name="Text 3"/>
          <p:cNvSpPr txBox="1"/>
          <p:nvPr/>
        </p:nvSpPr>
        <p:spPr>
          <a:xfrm>
            <a:off x="731520" y="2788920"/>
            <a:ext cx="3149498" cy="7772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Recovery Point Objective: cuántos datos podemos permitirnos perder</a:t>
            </a:r>
            <a:endParaRPr lang="en-US" sz="1400" dirty="0"/>
          </a:p>
        </p:txBody>
      </p:sp>
      <p:sp>
        <p:nvSpPr>
          <p:cNvPr id="6" name="Shape 4"/>
          <p:cNvSpPr/>
          <p:nvPr/>
        </p:nvSpPr>
        <p:spPr>
          <a:xfrm>
            <a:off x="4338218" y="1554480"/>
            <a:ext cx="3515258" cy="2103120"/>
          </a:xfrm>
          <a:prstGeom prst="roundRect">
            <a:avLst>
              <a:gd name="adj" fmla="val 5217"/>
            </a:avLst>
          </a:prstGeom>
          <a:solidFill>
            <a:srgbClr val="E8F3EC"/>
          </a:solidFill>
          <a:ln w="12700">
            <a:solidFill>
              <a:srgbClr val="E8F3EC"/>
            </a:solidFill>
            <a:prstDash val="solid"/>
          </a:ln>
        </p:spPr>
      </p:sp>
      <p:sp>
        <p:nvSpPr>
          <p:cNvPr id="7" name="Text 5"/>
          <p:cNvSpPr txBox="1"/>
          <p:nvPr/>
        </p:nvSpPr>
        <p:spPr>
          <a:xfrm>
            <a:off x="4521098" y="1783080"/>
            <a:ext cx="3149498" cy="1005840"/>
          </a:xfrm>
          <a:prstGeom prst="rect">
            <a:avLst/>
          </a:prstGeom>
          <a:noFill/>
          <a:ln/>
        </p:spPr>
        <p:txBody>
          <a:bodyPr wrap="square" lIns="0" tIns="0" rIns="0" bIns="0" rtlCol="0" anchor="ctr"/>
          <a:lstStyle/>
          <a:p>
            <a:pPr indent="0" marL="0">
              <a:buNone/>
            </a:pPr>
            <a:r>
              <a:rPr lang="en-US" sz="4400" b="1" dirty="0">
                <a:solidFill>
                  <a:srgbClr val="1F7A4D"/>
                </a:solidFill>
                <a:latin typeface="Cambria" pitchFamily="34" charset="0"/>
                <a:ea typeface="Cambria" pitchFamily="34" charset="-122"/>
                <a:cs typeface="Cambria" pitchFamily="34" charset="-120"/>
              </a:rPr>
              <a:t>RTO</a:t>
            </a:r>
            <a:endParaRPr lang="en-US" sz="4400" dirty="0"/>
          </a:p>
        </p:txBody>
      </p:sp>
      <p:sp>
        <p:nvSpPr>
          <p:cNvPr id="8" name="Text 6"/>
          <p:cNvSpPr txBox="1"/>
          <p:nvPr/>
        </p:nvSpPr>
        <p:spPr>
          <a:xfrm>
            <a:off x="4521098" y="2788920"/>
            <a:ext cx="3149498" cy="777240"/>
          </a:xfrm>
          <a:prstGeom prst="rect">
            <a:avLst/>
          </a:prstGeom>
          <a:noFill/>
          <a:ln/>
        </p:spPr>
        <p:txBody>
          <a:bodyPr wrap="square" lIns="0" tIns="0" rIns="0" bIns="0" rtlCol="0" anchor="t"/>
          <a:lstStyle/>
          <a:p>
            <a:pPr indent="0" marL="0">
              <a:buNone/>
            </a:pPr>
            <a:r>
              <a:rPr lang="en-US" sz="1400" dirty="0">
                <a:solidFill>
                  <a:srgbClr val="1C2B27"/>
                </a:solidFill>
                <a:latin typeface="Calibri" pitchFamily="34" charset="0"/>
                <a:ea typeface="Calibri" pitchFamily="34" charset="-122"/>
                <a:cs typeface="Calibri" pitchFamily="34" charset="-120"/>
              </a:rPr>
              <a:t>Recovery Time Objective: cuánto tiempo podemos estar sin servicio</a:t>
            </a:r>
            <a:endParaRPr lang="en-US" sz="1400" dirty="0"/>
          </a:p>
        </p:txBody>
      </p:sp>
      <p:sp>
        <p:nvSpPr>
          <p:cNvPr id="9" name="Shape 7"/>
          <p:cNvSpPr/>
          <p:nvPr/>
        </p:nvSpPr>
        <p:spPr>
          <a:xfrm>
            <a:off x="8127797" y="1554480"/>
            <a:ext cx="3515258" cy="2103120"/>
          </a:xfrm>
          <a:prstGeom prst="roundRect">
            <a:avLst>
              <a:gd name="adj" fmla="val 5217"/>
            </a:avLst>
          </a:prstGeom>
          <a:solidFill>
            <a:srgbClr val="E8F3EC"/>
          </a:solidFill>
          <a:ln w="12700">
            <a:solidFill>
              <a:srgbClr val="E8F3EC"/>
            </a:solidFill>
            <a:prstDash val="solid"/>
          </a:ln>
        </p:spPr>
      </p:sp>
      <p:sp>
        <p:nvSpPr>
          <p:cNvPr id="10" name="Text 8"/>
          <p:cNvSpPr txBox="1"/>
          <p:nvPr/>
        </p:nvSpPr>
        <p:spPr>
          <a:xfrm>
            <a:off x="8310677" y="1783080"/>
            <a:ext cx="3149498" cy="1005840"/>
          </a:xfrm>
          <a:prstGeom prst="rect">
            <a:avLst/>
          </a:prstGeom>
          <a:noFill/>
          <a:ln/>
        </p:spPr>
        <p:txBody>
          <a:bodyPr wrap="square" lIns="0" tIns="0" rIns="0" bIns="0" rtlCol="0" anchor="ctr"/>
          <a:lstStyle/>
          <a:p>
            <a:pPr indent="0" marL="0">
              <a:buNone/>
            </a:pPr>
            <a:r>
              <a:rPr lang="en-US" sz="4400" b="1" dirty="0">
                <a:solidFill>
                  <a:srgbClr val="1F7A4D"/>
                </a:solidFill>
                <a:latin typeface="Cambria" pitchFamily="34" charset="0"/>
                <a:ea typeface="Cambria" pitchFamily="34" charset="-122"/>
                <a:cs typeface="Cambria" pitchFamily="34" charset="-120"/>
              </a:rPr>
              <a:t>3-2-1</a:t>
            </a:r>
            <a:endParaRPr lang="en-US" sz="4400" dirty="0"/>
          </a:p>
        </p:txBody>
      </p:sp>
      <p:sp>
        <p:nvSpPr>
          <p:cNvPr id="11" name="Text 9"/>
          <p:cNvSpPr txBox="1"/>
          <p:nvPr/>
        </p:nvSpPr>
        <p:spPr>
          <a:xfrm>
            <a:off x="8310677" y="2788920"/>
            <a:ext cx="3149498" cy="777240"/>
          </a:xfrm>
          <a:prstGeom prst="rect">
            <a:avLst/>
          </a:prstGeom>
          <a:noFill/>
          <a:ln/>
        </p:spPr>
        <p:txBody>
          <a:bodyPr wrap="square" lIns="0" tIns="0" rIns="0" bIns="0" rtlCol="0" anchor="t"/>
          <a:lstStyle/>
          <a:p>
            <a:pPr indent="0" marL="0">
              <a:buNone/>
            </a:pPr>
            <a:r>
              <a:rPr lang="en-US" sz="1400" dirty="0">
                <a:solidFill>
                  <a:srgbClr val="1C2B27"/>
                </a:solidFill>
                <a:latin typeface="Calibri" pitchFamily="34" charset="0"/>
                <a:ea typeface="Calibri" pitchFamily="34" charset="-122"/>
                <a:cs typeface="Calibri" pitchFamily="34" charset="-120"/>
              </a:rPr>
              <a:t>3 copias, en 2 soportes distintos, 1 fuera del sitio (y alguna inmutable)</a:t>
            </a:r>
            <a:endParaRPr lang="en-US" sz="1400" dirty="0"/>
          </a:p>
        </p:txBody>
      </p:sp>
      <p:sp>
        <p:nvSpPr>
          <p:cNvPr id="12" name="Text 10"/>
          <p:cNvSpPr txBox="1"/>
          <p:nvPr/>
        </p:nvSpPr>
        <p:spPr>
          <a:xfrm>
            <a:off x="548640" y="3931920"/>
            <a:ext cx="11094415" cy="2194560"/>
          </a:xfrm>
          <a:prstGeom prst="rect">
            <a:avLst/>
          </a:prstGeom>
          <a:noFill/>
          <a:ln/>
        </p:spPr>
        <p:txBody>
          <a:bodyPr wrap="square" lIns="0" tIns="0" rIns="0" bIns="0" rtlCol="0" anchor="t"/>
          <a:lstStyle/>
          <a:p>
            <a:pPr marL="254000" indent="-254000">
              <a:spcAft>
                <a:spcPts val="1000"/>
              </a:spcAft>
              <a:buSzPct val="100000"/>
              <a:buChar char="●"/>
            </a:pPr>
            <a:r>
              <a:rPr lang="en-US" sz="1800" dirty="0">
                <a:solidFill>
                  <a:srgbClr val="1C2B27"/>
                </a:solidFill>
                <a:latin typeface="Calibri" pitchFamily="34" charset="0"/>
                <a:ea typeface="Calibri" pitchFamily="34" charset="-122"/>
                <a:cs typeface="Calibri" pitchFamily="34" charset="-120"/>
              </a:rPr>
              <a:t>RPO de </a:t>
            </a:r>
            <a:r>
              <a:rPr lang="en-US" sz="1800" b="1" dirty="0">
                <a:solidFill>
                  <a:srgbClr val="1C2B27"/>
                </a:solidFill>
                <a:latin typeface="Calibri" pitchFamily="34" charset="0"/>
                <a:ea typeface="Calibri" pitchFamily="34" charset="-122"/>
                <a:cs typeface="Calibri" pitchFamily="34" charset="-120"/>
              </a:rPr>
              <a:t>un día</a:t>
            </a:r>
            <a:r>
              <a:rPr lang="en-US" sz="1800" dirty="0">
                <a:solidFill>
                  <a:srgbClr val="1C2B27"/>
                </a:solidFill>
                <a:latin typeface="Calibri" pitchFamily="34" charset="0"/>
                <a:ea typeface="Calibri" pitchFamily="34" charset="-122"/>
                <a:cs typeface="Calibri" pitchFamily="34" charset="-120"/>
              </a:rPr>
              <a:t> → backup diario basta · RPO de </a:t>
            </a:r>
            <a:r>
              <a:rPr lang="en-US" sz="1800" b="1" dirty="0">
                <a:solidFill>
                  <a:srgbClr val="1C2B27"/>
                </a:solidFill>
                <a:latin typeface="Calibri" pitchFamily="34" charset="0"/>
                <a:ea typeface="Calibri" pitchFamily="34" charset="-122"/>
                <a:cs typeface="Calibri" pitchFamily="34" charset="-120"/>
              </a:rPr>
              <a:t>segundos</a:t>
            </a:r>
            <a:r>
              <a:rPr lang="en-US" sz="1800" dirty="0">
                <a:solidFill>
                  <a:srgbClr val="1C2B27"/>
                </a:solidFill>
                <a:latin typeface="Calibri" pitchFamily="34" charset="0"/>
                <a:ea typeface="Calibri" pitchFamily="34" charset="-122"/>
                <a:cs typeface="Calibri" pitchFamily="34" charset="-120"/>
              </a:rPr>
              <a:t> → backup + </a:t>
            </a:r>
            <a:r>
              <a:rPr lang="en-US" sz="1800" b="1" dirty="0">
                <a:solidFill>
                  <a:srgbClr val="1C2B27"/>
                </a:solidFill>
                <a:latin typeface="Calibri" pitchFamily="34" charset="0"/>
                <a:ea typeface="Calibri" pitchFamily="34" charset="-122"/>
                <a:cs typeface="Calibri" pitchFamily="34" charset="-120"/>
              </a:rPr>
              <a:t>PITR</a:t>
            </a:r>
            <a:r>
              <a:rPr lang="en-US" sz="1800" dirty="0">
                <a:solidFill>
                  <a:srgbClr val="1C2B27"/>
                </a:solidFill>
                <a:latin typeface="Calibri" pitchFamily="34" charset="0"/>
                <a:ea typeface="Calibri" pitchFamily="34" charset="-122"/>
                <a:cs typeface="Calibri" pitchFamily="34" charset="-120"/>
              </a:rPr>
              <a:t> (oplog)</a:t>
            </a:r>
            <a:endParaRPr lang="en-US" sz="1800" dirty="0"/>
          </a:p>
          <a:p>
            <a:pPr marL="254000" indent="-254000">
              <a:spcAft>
                <a:spcPts val="1000"/>
              </a:spcAft>
              <a:buSzPct val="100000"/>
              <a:buChar char="●"/>
            </a:pPr>
            <a:r>
              <a:rPr lang="en-US" sz="1800" dirty="0">
                <a:solidFill>
                  <a:srgbClr val="1C2B27"/>
                </a:solidFill>
                <a:latin typeface="Calibri" pitchFamily="34" charset="0"/>
                <a:ea typeface="Calibri" pitchFamily="34" charset="-122"/>
                <a:cs typeface="Calibri" pitchFamily="34" charset="-120"/>
              </a:rPr>
              <a:t>RTO de </a:t>
            </a:r>
            <a:r>
              <a:rPr lang="en-US" sz="1800" b="1" dirty="0">
                <a:solidFill>
                  <a:srgbClr val="1C2B27"/>
                </a:solidFill>
                <a:latin typeface="Calibri" pitchFamily="34" charset="0"/>
                <a:ea typeface="Calibri" pitchFamily="34" charset="-122"/>
                <a:cs typeface="Calibri" pitchFamily="34" charset="-120"/>
              </a:rPr>
              <a:t>horas</a:t>
            </a:r>
            <a:r>
              <a:rPr lang="en-US" sz="1800" dirty="0">
                <a:solidFill>
                  <a:srgbClr val="1C2B27"/>
                </a:solidFill>
                <a:latin typeface="Calibri" pitchFamily="34" charset="0"/>
                <a:ea typeface="Calibri" pitchFamily="34" charset="-122"/>
                <a:cs typeface="Calibri" pitchFamily="34" charset="-120"/>
              </a:rPr>
              <a:t> con mongorestore en terabytes es irreal → copias </a:t>
            </a:r>
            <a:r>
              <a:rPr lang="en-US" sz="1800" b="1" dirty="0">
                <a:solidFill>
                  <a:srgbClr val="1C2B27"/>
                </a:solidFill>
                <a:latin typeface="Calibri" pitchFamily="34" charset="0"/>
                <a:ea typeface="Calibri" pitchFamily="34" charset="-122"/>
                <a:cs typeface="Calibri" pitchFamily="34" charset="-120"/>
              </a:rPr>
              <a:t>físicas</a:t>
            </a:r>
            <a:r>
              <a:rPr lang="en-US" sz="1800" dirty="0">
                <a:solidFill>
                  <a:srgbClr val="1C2B27"/>
                </a:solidFill>
                <a:latin typeface="Calibri" pitchFamily="34" charset="0"/>
                <a:ea typeface="Calibri" pitchFamily="34" charset="-122"/>
                <a:cs typeface="Calibri" pitchFamily="34" charset="-120"/>
              </a:rPr>
              <a:t> o snapshots</a:t>
            </a:r>
            <a:endParaRPr lang="en-US" sz="1800" dirty="0"/>
          </a:p>
          <a:p>
            <a:pPr marL="254000" indent="-254000">
              <a:spcAft>
                <a:spcPts val="1000"/>
              </a:spcAft>
              <a:buSzPct val="100000"/>
              <a:buChar char="●"/>
            </a:pPr>
            <a:r>
              <a:rPr lang="en-US" sz="1800" dirty="0">
                <a:solidFill>
                  <a:srgbClr val="1C2B27"/>
                </a:solidFill>
                <a:latin typeface="Calibri" pitchFamily="34" charset="0"/>
                <a:ea typeface="Calibri" pitchFamily="34" charset="-122"/>
                <a:cs typeface="Calibri" pitchFamily="34" charset="-120"/>
              </a:rPr>
              <a:t>El RTO real solo se conoce </a:t>
            </a:r>
            <a:r>
              <a:rPr lang="en-US" sz="1800" b="1" dirty="0">
                <a:solidFill>
                  <a:srgbClr val="1C2B27"/>
                </a:solidFill>
                <a:latin typeface="Calibri" pitchFamily="34" charset="0"/>
                <a:ea typeface="Calibri" pitchFamily="34" charset="-122"/>
                <a:cs typeface="Calibri" pitchFamily="34" charset="-120"/>
              </a:rPr>
              <a:t>restaurando</a:t>
            </a:r>
            <a:r>
              <a:rPr lang="en-US" sz="1800" dirty="0">
                <a:solidFill>
                  <a:srgbClr val="1C2B27"/>
                </a:solidFill>
                <a:latin typeface="Calibri" pitchFamily="34" charset="0"/>
                <a:ea typeface="Calibri" pitchFamily="34" charset="-122"/>
                <a:cs typeface="Calibri" pitchFamily="34" charset="-120"/>
              </a:rPr>
              <a:t>: medidlo en los simulacros</a:t>
            </a:r>
            <a:endParaRPr lang="en-US" sz="1800" dirty="0"/>
          </a:p>
        </p:txBody>
      </p:sp>
      <p:sp>
        <p:nvSpPr>
          <p:cNvPr id="13" name="Text 1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14" name="Text 1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5 / 33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Métodos de backup</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743200"/>
                <a:gridCol w="1645920"/>
                <a:gridCol w="3383280"/>
                <a:gridCol w="3200400"/>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Método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Tipo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Ventajas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Inconvenientes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mongodump / mongorestore</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Lógico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Sencillo, granular, portable entre versiones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Lento en volúmenes grandes; reconstruye índices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Copia en frío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Físico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Coherencia total; restauración rápida</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Hay que parar un nodo (secundario)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Snapshot (LVM, cloud)</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Físico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Muy rápido en cualquier tamaño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Depende de la infraestructura; journal en el mismo volumen</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Hot backup (Percona Server)</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Físico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En caliente y sin bloquear</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Solo Percona Server; copia de un nodo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Percona Backup for MongoDB</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Lógico / físico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Consistente en cluster, PITR, automatizable</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Físico e incremental solo con Percona Server</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Ops Manager / Atlas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Físico continuo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Integrado, PITR, gestionado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Licencia Enterprise o servicio Atlas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5"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6 / 33</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mongodump y mongorestore</a:t>
            </a:r>
            <a:endParaRPr lang="en-US" sz="3200" dirty="0"/>
          </a:p>
        </p:txBody>
      </p:sp>
      <p:sp>
        <p:nvSpPr>
          <p:cNvPr id="3" name="Shape 1"/>
          <p:cNvSpPr/>
          <p:nvPr/>
        </p:nvSpPr>
        <p:spPr>
          <a:xfrm>
            <a:off x="548640" y="1463040"/>
            <a:ext cx="6766560" cy="4663440"/>
          </a:xfrm>
          <a:prstGeom prst="roundRect">
            <a:avLst>
              <a:gd name="adj" fmla="val 1569"/>
            </a:avLst>
          </a:prstGeom>
          <a:solidFill>
            <a:srgbClr val="11201C"/>
          </a:solidFill>
          <a:ln w="12700">
            <a:solidFill>
              <a:srgbClr val="11201C"/>
            </a:solidFill>
            <a:prstDash val="solid"/>
          </a:ln>
        </p:spPr>
      </p:sp>
      <p:sp>
        <p:nvSpPr>
          <p:cNvPr id="4" name="Text 2"/>
          <p:cNvSpPr txBox="1"/>
          <p:nvPr/>
        </p:nvSpPr>
        <p:spPr>
          <a:xfrm>
            <a:off x="777240" y="1572768"/>
            <a:ext cx="2743200" cy="274320"/>
          </a:xfrm>
          <a:prstGeom prst="rect">
            <a:avLst/>
          </a:prstGeom>
          <a:noFill/>
          <a:ln/>
        </p:spPr>
        <p:txBody>
          <a:bodyPr wrap="square" lIns="0" tIns="0" rIns="0" bIns="0" rtlCol="0" anchor="ctr"/>
          <a:lstStyle/>
          <a:p>
            <a:pPr indent="0" marL="0">
              <a:buNone/>
            </a:pPr>
            <a:r>
              <a:rPr lang="en-US" sz="1100" b="1" dirty="0">
                <a:solidFill>
                  <a:srgbClr val="F2B33D"/>
                </a:solidFill>
                <a:latin typeface="Courier New" pitchFamily="34" charset="0"/>
                <a:ea typeface="Courier New" pitchFamily="34" charset="-122"/>
                <a:cs typeface="Courier New" pitchFamily="34" charset="-120"/>
              </a:rPr>
              <a:t>bash</a:t>
            </a:r>
            <a:endParaRPr lang="en-US" sz="1100" dirty="0"/>
          </a:p>
        </p:txBody>
      </p:sp>
      <p:sp>
        <p:nvSpPr>
          <p:cNvPr id="5" name="Text 3"/>
          <p:cNvSpPr txBox="1"/>
          <p:nvPr/>
        </p:nvSpPr>
        <p:spPr>
          <a:xfrm>
            <a:off x="777240" y="1874520"/>
            <a:ext cx="6309360" cy="4114800"/>
          </a:xfrm>
          <a:prstGeom prst="rect">
            <a:avLst/>
          </a:prstGeom>
          <a:noFill/>
          <a:ln/>
        </p:spPr>
        <p:txBody>
          <a:bodyPr wrap="square" lIns="0" tIns="0" rIns="0" bIns="0" rtlCol="0" anchor="t"/>
          <a:lstStyle/>
          <a:p>
            <a:pPr indent="0" marL="0">
              <a:buNone/>
            </a:pPr>
            <a:r>
              <a:rPr lang="en-US" sz="1300" dirty="0">
                <a:solidFill>
                  <a:srgbClr val="D8F3E3"/>
                </a:solidFill>
                <a:latin typeface="Courier New" pitchFamily="34" charset="0"/>
                <a:ea typeface="Courier New" pitchFamily="34" charset="-122"/>
                <a:cs typeface="Courier New" pitchFamily="34" charset="-120"/>
              </a:rPr>
              <a:t># Volcado completo coherente desde un secundario
mongodump --uri "$RS" --readPreference=secondary \
  --oplog --gzip --archive=/backups/completo.archive.gz
# Restauración completa, reaplicando el oplog capturado
mongorestore --uri "$RS" --gzip \
  --archive=/backups/completo.archive.gz --oplogReplay --drop
# Restaurar una sola colección
mongorestore --uri "$RS" --gzip \
  --archive=/backups/completo.archive.gz \
  --nsInclude="tienda.clientes"
# Restaurar con otro nombre, para comparar sin pisar
mongorestore ... --nsInclude="tienda.productos" \
  --nsFrom="tienda.productos" --nsTo="restaurado.productos"
</a:t>
            </a:r>
            <a:endParaRPr lang="en-US" sz="1300" dirty="0"/>
          </a:p>
        </p:txBody>
      </p:sp>
      <p:sp>
        <p:nvSpPr>
          <p:cNvPr id="6" name="Text 4"/>
          <p:cNvSpPr txBox="1"/>
          <p:nvPr/>
        </p:nvSpPr>
        <p:spPr>
          <a:xfrm>
            <a:off x="7680960" y="1463040"/>
            <a:ext cx="3962095" cy="4663440"/>
          </a:xfrm>
          <a:prstGeom prst="rect">
            <a:avLst/>
          </a:prstGeom>
          <a:noFill/>
          <a:ln/>
        </p:spPr>
        <p:txBody>
          <a:bodyPr wrap="square" lIns="0" tIns="0" rIns="0" bIns="0" rtlCol="0" anchor="t"/>
          <a:lstStyle/>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--oplog</a:t>
            </a:r>
            <a:r>
              <a:rPr lang="en-US" sz="1600" dirty="0">
                <a:solidFill>
                  <a:srgbClr val="1C2B27"/>
                </a:solidFill>
                <a:latin typeface="Calibri" pitchFamily="34" charset="0"/>
                <a:ea typeface="Calibri" pitchFamily="34" charset="-122"/>
                <a:cs typeface="Calibri" pitchFamily="34" charset="-120"/>
              </a:rPr>
              <a:t>: captura los cambios durante el volcado (solo volcado completo)</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--oplogReplay</a:t>
            </a:r>
            <a:r>
              <a:rPr lang="en-US" sz="1600" dirty="0">
                <a:solidFill>
                  <a:srgbClr val="1C2B27"/>
                </a:solidFill>
                <a:latin typeface="Calibri" pitchFamily="34" charset="0"/>
                <a:ea typeface="Calibri" pitchFamily="34" charset="-122"/>
                <a:cs typeface="Calibri" pitchFamily="34" charset="-120"/>
              </a:rPr>
              <a:t>: los reaplica al restaurar</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--archive + --gzip</a:t>
            </a:r>
            <a:r>
              <a:rPr lang="en-US" sz="1600" dirty="0">
                <a:solidFill>
                  <a:srgbClr val="1C2B27"/>
                </a:solidFill>
                <a:latin typeface="Calibri" pitchFamily="34" charset="0"/>
                <a:ea typeface="Calibri" pitchFamily="34" charset="-122"/>
                <a:cs typeface="Calibri" pitchFamily="34" charset="-120"/>
              </a:rPr>
              <a:t>: un único fichero comprimido</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--nsInclude / --nsFrom / --nsTo</a:t>
            </a:r>
            <a:r>
              <a:rPr lang="en-US" sz="1600" dirty="0">
                <a:solidFill>
                  <a:srgbClr val="1C2B27"/>
                </a:solidFill>
                <a:latin typeface="Calibri" pitchFamily="34" charset="0"/>
                <a:ea typeface="Calibri" pitchFamily="34" charset="-122"/>
                <a:cs typeface="Calibri" pitchFamily="34" charset="-120"/>
              </a:rPr>
              <a:t>: restauraciones selectivas</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--drop</a:t>
            </a:r>
            <a:r>
              <a:rPr lang="en-US" sz="1600" dirty="0">
                <a:solidFill>
                  <a:srgbClr val="1C2B27"/>
                </a:solidFill>
                <a:latin typeface="Calibri" pitchFamily="34" charset="0"/>
                <a:ea typeface="Calibri" pitchFamily="34" charset="-122"/>
                <a:cs typeface="Calibri" pitchFamily="34" charset="-120"/>
              </a:rPr>
              <a:t>: borra cada colección antes de restaurarla</a:t>
            </a:r>
            <a:endParaRPr lang="en-US" sz="1600" dirty="0"/>
          </a:p>
        </p:txBody>
      </p:sp>
      <p:sp>
        <p:nvSpPr>
          <p:cNvPr id="7" name="Text 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8" name="Text 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7 / 33</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Límites del backup lógico</a:t>
            </a:r>
            <a:endParaRPr lang="en-US" sz="3200" dirty="0"/>
          </a:p>
        </p:txBody>
      </p:sp>
      <p:sp>
        <p:nvSpPr>
          <p:cNvPr id="3" name="Text 1"/>
          <p:cNvSpPr txBox="1"/>
          <p:nvPr/>
        </p:nvSpPr>
        <p:spPr>
          <a:xfrm>
            <a:off x="548640" y="1463040"/>
            <a:ext cx="6949440" cy="4663440"/>
          </a:xfrm>
          <a:prstGeom prst="rect">
            <a:avLst/>
          </a:prstGeom>
          <a:noFill/>
          <a:ln/>
        </p:spPr>
        <p:txBody>
          <a:bodyPr wrap="square" lIns="0" tIns="0" rIns="0" bIns="0" rtlCol="0" anchor="t"/>
          <a:lstStyle/>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Restaurar implica </a:t>
            </a:r>
            <a:r>
              <a:rPr lang="en-US" sz="2000" b="1" dirty="0">
                <a:solidFill>
                  <a:srgbClr val="1C2B27"/>
                </a:solidFill>
                <a:latin typeface="Calibri" pitchFamily="34" charset="0"/>
                <a:ea typeface="Calibri" pitchFamily="34" charset="-122"/>
                <a:cs typeface="Calibri" pitchFamily="34" charset="-120"/>
              </a:rPr>
              <a:t>reinsertar</a:t>
            </a:r>
            <a:r>
              <a:rPr lang="en-US" sz="2000" dirty="0">
                <a:solidFill>
                  <a:srgbClr val="1C2B27"/>
                </a:solidFill>
                <a:latin typeface="Calibri" pitchFamily="34" charset="0"/>
                <a:ea typeface="Calibri" pitchFamily="34" charset="-122"/>
                <a:cs typeface="Calibri" pitchFamily="34" charset="-120"/>
              </a:rPr>
              <a:t> todo y </a:t>
            </a:r>
            <a:r>
              <a:rPr lang="en-US" sz="2000" b="1" dirty="0">
                <a:solidFill>
                  <a:srgbClr val="1C2B27"/>
                </a:solidFill>
                <a:latin typeface="Calibri" pitchFamily="34" charset="0"/>
                <a:ea typeface="Calibri" pitchFamily="34" charset="-122"/>
                <a:cs typeface="Calibri" pitchFamily="34" charset="-120"/>
              </a:rPr>
              <a:t>reconstruir</a:t>
            </a:r>
            <a:r>
              <a:rPr lang="en-US" sz="2000" dirty="0">
                <a:solidFill>
                  <a:srgbClr val="1C2B27"/>
                </a:solidFill>
                <a:latin typeface="Calibri" pitchFamily="34" charset="0"/>
                <a:ea typeface="Calibri" pitchFamily="34" charset="-122"/>
                <a:cs typeface="Calibri" pitchFamily="34" charset="-120"/>
              </a:rPr>
              <a:t> todos los índices</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En terabytes, el RTO pasa de horas a </a:t>
            </a:r>
            <a:r>
              <a:rPr lang="en-US" sz="2000" b="1" dirty="0">
                <a:solidFill>
                  <a:srgbClr val="1C2B27"/>
                </a:solidFill>
                <a:latin typeface="Calibri" pitchFamily="34" charset="0"/>
                <a:ea typeface="Calibri" pitchFamily="34" charset="-122"/>
                <a:cs typeface="Calibri" pitchFamily="34" charset="-120"/>
              </a:rPr>
              <a:t>días</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Durante el volcado, carga de lectura y </a:t>
            </a:r>
            <a:r>
              <a:rPr lang="en-US" sz="2000" b="1" dirty="0">
                <a:solidFill>
                  <a:srgbClr val="1C2B27"/>
                </a:solidFill>
                <a:latin typeface="Calibri" pitchFamily="34" charset="0"/>
                <a:ea typeface="Calibri" pitchFamily="34" charset="-122"/>
                <a:cs typeface="Calibri" pitchFamily="34" charset="-120"/>
              </a:rPr>
              <a:t>presión en la caché</a:t>
            </a:r>
            <a:r>
              <a:rPr lang="en-US" sz="2000" dirty="0">
                <a:solidFill>
                  <a:srgbClr val="1C2B27"/>
                </a:solidFill>
                <a:latin typeface="Calibri" pitchFamily="34" charset="0"/>
                <a:ea typeface="Calibri" pitchFamily="34" charset="-122"/>
                <a:cs typeface="Calibri" pitchFamily="34" charset="-120"/>
              </a:rPr>
              <a:t> del nodo origen</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El volcado sale </a:t>
            </a:r>
            <a:r>
              <a:rPr lang="en-US" sz="2000" b="1" dirty="0">
                <a:solidFill>
                  <a:srgbClr val="1C2B27"/>
                </a:solidFill>
                <a:latin typeface="Calibri" pitchFamily="34" charset="0"/>
                <a:ea typeface="Calibri" pitchFamily="34" charset="-122"/>
                <a:cs typeface="Calibri" pitchFamily="34" charset="-120"/>
              </a:rPr>
              <a:t>en claro</a:t>
            </a:r>
            <a:r>
              <a:rPr lang="en-US" sz="2000" dirty="0">
                <a:solidFill>
                  <a:srgbClr val="1C2B27"/>
                </a:solidFill>
                <a:latin typeface="Calibri" pitchFamily="34" charset="0"/>
                <a:ea typeface="Calibri" pitchFamily="34" charset="-122"/>
                <a:cs typeface="Calibri" pitchFamily="34" charset="-120"/>
              </a:rPr>
              <a:t> aunque el servidor tenga cifrado en reposo</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No sirve para clusters con sharding sin coordinación externa</a:t>
            </a:r>
            <a:endParaRPr lang="en-US" sz="2000" dirty="0"/>
          </a:p>
        </p:txBody>
      </p:sp>
      <p:sp>
        <p:nvSpPr>
          <p:cNvPr id="4" name="Shape 2"/>
          <p:cNvSpPr/>
          <p:nvPr/>
        </p:nvSpPr>
        <p:spPr>
          <a:xfrm>
            <a:off x="7863840" y="1463040"/>
            <a:ext cx="3779215" cy="4206240"/>
          </a:xfrm>
          <a:prstGeom prst="roundRect">
            <a:avLst>
              <a:gd name="adj" fmla="val 2903"/>
            </a:avLst>
          </a:prstGeom>
          <a:solidFill>
            <a:srgbClr val="E8F3EC"/>
          </a:solidFill>
          <a:ln w="12700">
            <a:solidFill>
              <a:srgbClr val="E8F3EC"/>
            </a:solidFill>
            <a:prstDash val="solid"/>
          </a:ln>
        </p:spPr>
      </p:sp>
      <p:sp>
        <p:nvSpPr>
          <p:cNvPr id="5" name="Shape 3"/>
          <p:cNvSpPr/>
          <p:nvPr/>
        </p:nvSpPr>
        <p:spPr>
          <a:xfrm>
            <a:off x="8138160" y="1737360"/>
            <a:ext cx="548640" cy="548640"/>
          </a:xfrm>
          <a:prstGeom prst="ellipse">
            <a:avLst/>
          </a:prstGeom>
          <a:solidFill>
            <a:srgbClr val="1F7A4D"/>
          </a:solidFill>
          <a:ln w="12700">
            <a:solidFill>
              <a:srgbClr val="1F7A4D"/>
            </a:solidFill>
            <a:prstDash val="solid"/>
          </a:ln>
        </p:spPr>
      </p:sp>
      <p:sp>
        <p:nvSpPr>
          <p:cNvPr id="6" name="Text 4"/>
          <p:cNvSpPr txBox="1"/>
          <p:nvPr/>
        </p:nvSpPr>
        <p:spPr>
          <a:xfrm>
            <a:off x="813816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5"/>
          <p:cNvSpPr txBox="1"/>
          <p:nvPr/>
        </p:nvSpPr>
        <p:spPr>
          <a:xfrm>
            <a:off x="8823960" y="1737360"/>
            <a:ext cx="2590495"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Cuándo sí</a:t>
            </a:r>
            <a:endParaRPr lang="en-US" sz="1800" dirty="0"/>
          </a:p>
        </p:txBody>
      </p:sp>
      <p:sp>
        <p:nvSpPr>
          <p:cNvPr id="8" name="Text 6"/>
          <p:cNvSpPr txBox="1"/>
          <p:nvPr/>
        </p:nvSpPr>
        <p:spPr>
          <a:xfrm>
            <a:off x="8138160" y="2468880"/>
            <a:ext cx="3230575" cy="3017520"/>
          </a:xfrm>
          <a:prstGeom prst="rect">
            <a:avLst/>
          </a:prstGeom>
          <a:noFill/>
          <a:ln/>
        </p:spPr>
        <p:txBody>
          <a:bodyPr wrap="square" lIns="0" tIns="0" rIns="0" bIns="0" rtlCol="0" anchor="t"/>
          <a:lstStyle/>
          <a:p>
            <a:pPr indent="0" marL="0">
              <a:buNone/>
            </a:pPr>
            <a:r>
              <a:rPr lang="en-US" sz="1700" dirty="0">
                <a:solidFill>
                  <a:srgbClr val="1C2B27"/>
                </a:solidFill>
                <a:latin typeface="Calibri" pitchFamily="34" charset="0"/>
                <a:ea typeface="Calibri" pitchFamily="34" charset="-122"/>
                <a:cs typeface="Calibri" pitchFamily="34" charset="-120"/>
              </a:rPr>
              <a:t>Bases de datos pequeñas o medianas, copias puntuales antes de un cambio, migraciones entre versiones o plataformas, restaurar una colección concreta, y como complemento a un backup físico.</a:t>
            </a:r>
            <a:endParaRPr lang="en-US" sz="1700" dirty="0"/>
          </a:p>
        </p:txBody>
      </p:sp>
      <p:sp>
        <p:nvSpPr>
          <p:cNvPr id="9" name="Text 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10" name="Text 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8 / 33</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Copias físicas: en frío y con fsyncLock</a:t>
            </a:r>
            <a:endParaRPr lang="en-US" sz="3200" dirty="0"/>
          </a:p>
        </p:txBody>
      </p:sp>
      <p:sp>
        <p:nvSpPr>
          <p:cNvPr id="3" name="Shape 1"/>
          <p:cNvSpPr/>
          <p:nvPr/>
        </p:nvSpPr>
        <p:spPr>
          <a:xfrm>
            <a:off x="1978122" y="2423160"/>
            <a:ext cx="1441643" cy="0"/>
          </a:xfrm>
          <a:prstGeom prst="line">
            <a:avLst/>
          </a:prstGeom>
          <a:noFill/>
          <a:ln w="31750">
            <a:solidFill>
              <a:srgbClr val="2E9E66"/>
            </a:solidFill>
            <a:prstDash val="solid"/>
            <a:tailEnd type="triangle"/>
          </a:ln>
        </p:spPr>
      </p:sp>
      <p:sp>
        <p:nvSpPr>
          <p:cNvPr id="4" name="Shape 2"/>
          <p:cNvSpPr/>
          <p:nvPr/>
        </p:nvSpPr>
        <p:spPr>
          <a:xfrm>
            <a:off x="1155162" y="2011680"/>
            <a:ext cx="822960" cy="822960"/>
          </a:xfrm>
          <a:prstGeom prst="ellipse">
            <a:avLst/>
          </a:prstGeom>
          <a:solidFill>
            <a:srgbClr val="1F7A4D"/>
          </a:solidFill>
          <a:ln w="12700">
            <a:solidFill>
              <a:srgbClr val="1F7A4D"/>
            </a:solidFill>
            <a:prstDash val="solid"/>
          </a:ln>
        </p:spPr>
      </p:sp>
      <p:sp>
        <p:nvSpPr>
          <p:cNvPr id="5" name="Text 3"/>
          <p:cNvSpPr txBox="1"/>
          <p:nvPr/>
        </p:nvSpPr>
        <p:spPr>
          <a:xfrm>
            <a:off x="1155162"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548640"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Elegir nodo</a:t>
            </a:r>
            <a:endParaRPr lang="en-US" sz="1700" dirty="0"/>
          </a:p>
        </p:txBody>
      </p:sp>
      <p:sp>
        <p:nvSpPr>
          <p:cNvPr id="7" name="Text 5"/>
          <p:cNvSpPr txBox="1"/>
          <p:nvPr/>
        </p:nvSpPr>
        <p:spPr>
          <a:xfrm>
            <a:off x="594360"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Un secundario sano, al día, idealmente oculto. Nunca el primario.</a:t>
            </a:r>
            <a:endParaRPr lang="en-US" sz="1600" dirty="0"/>
          </a:p>
        </p:txBody>
      </p:sp>
      <p:sp>
        <p:nvSpPr>
          <p:cNvPr id="8" name="Shape 6"/>
          <p:cNvSpPr/>
          <p:nvPr/>
        </p:nvSpPr>
        <p:spPr>
          <a:xfrm>
            <a:off x="4242725" y="2423160"/>
            <a:ext cx="1441643" cy="0"/>
          </a:xfrm>
          <a:prstGeom prst="line">
            <a:avLst/>
          </a:prstGeom>
          <a:noFill/>
          <a:ln w="31750">
            <a:solidFill>
              <a:srgbClr val="2E9E66"/>
            </a:solidFill>
            <a:prstDash val="solid"/>
            <a:tailEnd type="triangle"/>
          </a:ln>
        </p:spPr>
      </p:sp>
      <p:sp>
        <p:nvSpPr>
          <p:cNvPr id="9" name="Shape 7"/>
          <p:cNvSpPr/>
          <p:nvPr/>
        </p:nvSpPr>
        <p:spPr>
          <a:xfrm>
            <a:off x="3419765" y="2011680"/>
            <a:ext cx="822960" cy="822960"/>
          </a:xfrm>
          <a:prstGeom prst="ellipse">
            <a:avLst/>
          </a:prstGeom>
          <a:solidFill>
            <a:srgbClr val="F2B33D"/>
          </a:solidFill>
          <a:ln w="12700">
            <a:solidFill>
              <a:srgbClr val="F2B33D"/>
            </a:solidFill>
            <a:prstDash val="solid"/>
          </a:ln>
        </p:spPr>
      </p:sp>
      <p:sp>
        <p:nvSpPr>
          <p:cNvPr id="10" name="Text 8"/>
          <p:cNvSpPr txBox="1"/>
          <p:nvPr/>
        </p:nvSpPr>
        <p:spPr>
          <a:xfrm>
            <a:off x="3419765"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2813243"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Congelar</a:t>
            </a:r>
            <a:endParaRPr lang="en-US" sz="1700" dirty="0"/>
          </a:p>
        </p:txBody>
      </p:sp>
      <p:sp>
        <p:nvSpPr>
          <p:cNvPr id="12" name="Text 10"/>
          <p:cNvSpPr txBox="1"/>
          <p:nvPr/>
        </p:nvSpPr>
        <p:spPr>
          <a:xfrm>
            <a:off x="2858963"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En frío: parar mongod. En caliente: db.fsyncLock().</a:t>
            </a:r>
            <a:endParaRPr lang="en-US" sz="1600" dirty="0"/>
          </a:p>
        </p:txBody>
      </p:sp>
      <p:sp>
        <p:nvSpPr>
          <p:cNvPr id="13" name="Shape 11"/>
          <p:cNvSpPr/>
          <p:nvPr/>
        </p:nvSpPr>
        <p:spPr>
          <a:xfrm>
            <a:off x="6507328" y="2423160"/>
            <a:ext cx="1441643" cy="0"/>
          </a:xfrm>
          <a:prstGeom prst="line">
            <a:avLst/>
          </a:prstGeom>
          <a:noFill/>
          <a:ln w="31750">
            <a:solidFill>
              <a:srgbClr val="2E9E66"/>
            </a:solidFill>
            <a:prstDash val="solid"/>
            <a:tailEnd type="triangle"/>
          </a:ln>
        </p:spPr>
      </p:sp>
      <p:sp>
        <p:nvSpPr>
          <p:cNvPr id="14" name="Shape 12"/>
          <p:cNvSpPr/>
          <p:nvPr/>
        </p:nvSpPr>
        <p:spPr>
          <a:xfrm>
            <a:off x="5684368" y="2011680"/>
            <a:ext cx="822960" cy="822960"/>
          </a:xfrm>
          <a:prstGeom prst="ellipse">
            <a:avLst/>
          </a:prstGeom>
          <a:solidFill>
            <a:srgbClr val="1F7A4D"/>
          </a:solidFill>
          <a:ln w="12700">
            <a:solidFill>
              <a:srgbClr val="1F7A4D"/>
            </a:solidFill>
            <a:prstDash val="solid"/>
          </a:ln>
        </p:spPr>
      </p:sp>
      <p:sp>
        <p:nvSpPr>
          <p:cNvPr id="15" name="Text 13"/>
          <p:cNvSpPr txBox="1"/>
          <p:nvPr/>
        </p:nvSpPr>
        <p:spPr>
          <a:xfrm>
            <a:off x="5684368"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4"/>
          <p:cNvSpPr txBox="1"/>
          <p:nvPr/>
        </p:nvSpPr>
        <p:spPr>
          <a:xfrm>
            <a:off x="5077846"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Copiar</a:t>
            </a:r>
            <a:endParaRPr lang="en-US" sz="1700" dirty="0"/>
          </a:p>
        </p:txBody>
      </p:sp>
      <p:sp>
        <p:nvSpPr>
          <p:cNvPr id="17" name="Text 15"/>
          <p:cNvSpPr txBox="1"/>
          <p:nvPr/>
        </p:nvSpPr>
        <p:spPr>
          <a:xfrm>
            <a:off x="5123566"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Snapshot del volumen o copia de ficheros del dbPath.</a:t>
            </a:r>
            <a:endParaRPr lang="en-US" sz="1600" dirty="0"/>
          </a:p>
        </p:txBody>
      </p:sp>
      <p:sp>
        <p:nvSpPr>
          <p:cNvPr id="18" name="Shape 16"/>
          <p:cNvSpPr/>
          <p:nvPr/>
        </p:nvSpPr>
        <p:spPr>
          <a:xfrm>
            <a:off x="8771931" y="2423160"/>
            <a:ext cx="1441643" cy="0"/>
          </a:xfrm>
          <a:prstGeom prst="line">
            <a:avLst/>
          </a:prstGeom>
          <a:noFill/>
          <a:ln w="31750">
            <a:solidFill>
              <a:srgbClr val="2E9E66"/>
            </a:solidFill>
            <a:prstDash val="solid"/>
            <a:tailEnd type="triangle"/>
          </a:ln>
        </p:spPr>
      </p:sp>
      <p:sp>
        <p:nvSpPr>
          <p:cNvPr id="19" name="Shape 17"/>
          <p:cNvSpPr/>
          <p:nvPr/>
        </p:nvSpPr>
        <p:spPr>
          <a:xfrm>
            <a:off x="7948971" y="2011680"/>
            <a:ext cx="822960" cy="822960"/>
          </a:xfrm>
          <a:prstGeom prst="ellipse">
            <a:avLst/>
          </a:prstGeom>
          <a:solidFill>
            <a:srgbClr val="F2B33D"/>
          </a:solidFill>
          <a:ln w="12700">
            <a:solidFill>
              <a:srgbClr val="F2B33D"/>
            </a:solidFill>
            <a:prstDash val="solid"/>
          </a:ln>
        </p:spPr>
      </p:sp>
      <p:sp>
        <p:nvSpPr>
          <p:cNvPr id="20" name="Text 18"/>
          <p:cNvSpPr txBox="1"/>
          <p:nvPr/>
        </p:nvSpPr>
        <p:spPr>
          <a:xfrm>
            <a:off x="7948971"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4</a:t>
            </a:r>
            <a:endParaRPr lang="en-US" sz="2200" dirty="0"/>
          </a:p>
        </p:txBody>
      </p:sp>
      <p:sp>
        <p:nvSpPr>
          <p:cNvPr id="21" name="Text 19"/>
          <p:cNvSpPr txBox="1"/>
          <p:nvPr/>
        </p:nvSpPr>
        <p:spPr>
          <a:xfrm>
            <a:off x="7342449"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Liberar</a:t>
            </a:r>
            <a:endParaRPr lang="en-US" sz="1700" dirty="0"/>
          </a:p>
        </p:txBody>
      </p:sp>
      <p:sp>
        <p:nvSpPr>
          <p:cNvPr id="22" name="Text 20"/>
          <p:cNvSpPr txBox="1"/>
          <p:nvPr/>
        </p:nvSpPr>
        <p:spPr>
          <a:xfrm>
            <a:off x="7388169"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Arrancar mongod o db.fsyncUnlock(). ¡Siempre, aunque la copia falle!</a:t>
            </a:r>
            <a:endParaRPr lang="en-US" sz="1600" dirty="0"/>
          </a:p>
        </p:txBody>
      </p:sp>
      <p:sp>
        <p:nvSpPr>
          <p:cNvPr id="23" name="Shape 21"/>
          <p:cNvSpPr/>
          <p:nvPr/>
        </p:nvSpPr>
        <p:spPr>
          <a:xfrm>
            <a:off x="10213574" y="2011680"/>
            <a:ext cx="822960" cy="822960"/>
          </a:xfrm>
          <a:prstGeom prst="ellipse">
            <a:avLst/>
          </a:prstGeom>
          <a:solidFill>
            <a:srgbClr val="1F7A4D"/>
          </a:solidFill>
          <a:ln w="12700">
            <a:solidFill>
              <a:srgbClr val="1F7A4D"/>
            </a:solidFill>
            <a:prstDash val="solid"/>
          </a:ln>
        </p:spPr>
      </p:sp>
      <p:sp>
        <p:nvSpPr>
          <p:cNvPr id="24" name="Text 22"/>
          <p:cNvSpPr txBox="1"/>
          <p:nvPr/>
        </p:nvSpPr>
        <p:spPr>
          <a:xfrm>
            <a:off x="10213574"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5" name="Text 23"/>
          <p:cNvSpPr txBox="1"/>
          <p:nvPr/>
        </p:nvSpPr>
        <p:spPr>
          <a:xfrm>
            <a:off x="9607052"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Verificar</a:t>
            </a:r>
            <a:endParaRPr lang="en-US" sz="1700" dirty="0"/>
          </a:p>
        </p:txBody>
      </p:sp>
      <p:sp>
        <p:nvSpPr>
          <p:cNvPr id="26" name="Text 24"/>
          <p:cNvSpPr txBox="1"/>
          <p:nvPr/>
        </p:nvSpPr>
        <p:spPr>
          <a:xfrm>
            <a:off x="9652772"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Lag de vuelta a cero y restauración de prueba de la copia.</a:t>
            </a:r>
            <a:endParaRPr lang="en-US" sz="1600" dirty="0"/>
          </a:p>
        </p:txBody>
      </p:sp>
      <p:sp>
        <p:nvSpPr>
          <p:cNvPr id="27" name="Shape 25"/>
          <p:cNvSpPr/>
          <p:nvPr/>
        </p:nvSpPr>
        <p:spPr>
          <a:xfrm>
            <a:off x="548640" y="5532120"/>
            <a:ext cx="11094415" cy="594360"/>
          </a:xfrm>
          <a:prstGeom prst="roundRect">
            <a:avLst>
              <a:gd name="adj" fmla="val 18462"/>
            </a:avLst>
          </a:prstGeom>
          <a:solidFill>
            <a:srgbClr val="E8F3EC"/>
          </a:solidFill>
          <a:ln w="12700">
            <a:solidFill>
              <a:srgbClr val="E8F3EC"/>
            </a:solidFill>
            <a:prstDash val="solid"/>
          </a:ln>
        </p:spPr>
      </p:sp>
      <p:sp>
        <p:nvSpPr>
          <p:cNvPr id="28" name="Text 26"/>
          <p:cNvSpPr txBox="1"/>
          <p:nvPr/>
        </p:nvSpPr>
        <p:spPr>
          <a:xfrm>
            <a:off x="777240" y="5532120"/>
            <a:ext cx="10637215" cy="594360"/>
          </a:xfrm>
          <a:prstGeom prst="rect">
            <a:avLst/>
          </a:prstGeom>
          <a:noFill/>
          <a:ln/>
        </p:spPr>
        <p:txBody>
          <a:bodyPr wrap="square" lIns="0" tIns="0" rIns="0" bIns="0" rtlCol="0" anchor="ctr"/>
          <a:lstStyle/>
          <a:p>
            <a:pPr indent="0" marL="0">
              <a:buNone/>
            </a:pPr>
            <a:r>
              <a:rPr lang="en-US" sz="1400" dirty="0">
                <a:solidFill>
                  <a:srgbClr val="0F2A25"/>
                </a:solidFill>
                <a:latin typeface="Calibri" pitchFamily="34" charset="0"/>
                <a:ea typeface="Calibri" pitchFamily="34" charset="-122"/>
                <a:cs typeface="Calibri" pitchFamily="34" charset="-120"/>
              </a:rPr>
              <a:t>La copia física restaura rápido: basta con poner los ficheros en el dbPath y arrancar. Solo entre la misma versión y con la misma clave de cifrado.</a:t>
            </a:r>
            <a:endParaRPr lang="en-US" sz="1400" dirty="0"/>
          </a:p>
        </p:txBody>
      </p:sp>
      <p:sp>
        <p:nvSpPr>
          <p:cNvPr id="29" name="Text 2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30" name="Text 2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9 / 33</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Hot backup con Percona Server</a:t>
            </a:r>
            <a:endParaRPr lang="en-US" sz="3200" dirty="0"/>
          </a:p>
        </p:txBody>
      </p:sp>
      <p:sp>
        <p:nvSpPr>
          <p:cNvPr id="3" name="Text 1"/>
          <p:cNvSpPr txBox="1"/>
          <p:nvPr/>
        </p:nvSpPr>
        <p:spPr>
          <a:xfrm>
            <a:off x="548640" y="1463040"/>
            <a:ext cx="6949440" cy="4663440"/>
          </a:xfrm>
          <a:prstGeom prst="rect">
            <a:avLst/>
          </a:prstGeom>
          <a:noFill/>
          <a:ln/>
        </p:spPr>
        <p:txBody>
          <a:bodyPr wrap="square" lIns="0" tIns="0" rIns="0" bIns="0" rtlCol="0" anchor="t"/>
          <a:lstStyle/>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Comando </a:t>
            </a:r>
            <a:r>
              <a:rPr lang="en-US" sz="2000" b="1" dirty="0">
                <a:solidFill>
                  <a:srgbClr val="1C2B27"/>
                </a:solidFill>
                <a:latin typeface="Calibri" pitchFamily="34" charset="0"/>
                <a:ea typeface="Calibri" pitchFamily="34" charset="-122"/>
                <a:cs typeface="Calibri" pitchFamily="34" charset="-120"/>
              </a:rPr>
              <a:t>createBackup</a:t>
            </a:r>
            <a:r>
              <a:rPr lang="en-US" sz="2000" dirty="0">
                <a:solidFill>
                  <a:srgbClr val="1C2B27"/>
                </a:solidFill>
                <a:latin typeface="Calibri" pitchFamily="34" charset="0"/>
                <a:ea typeface="Calibri" pitchFamily="34" charset="-122"/>
                <a:cs typeface="Calibri" pitchFamily="34" charset="-120"/>
              </a:rPr>
              <a:t>: copia física coherente con el servidor </a:t>
            </a:r>
            <a:r>
              <a:rPr lang="en-US" sz="2000" b="1" dirty="0">
                <a:solidFill>
                  <a:srgbClr val="1C2B27"/>
                </a:solidFill>
                <a:latin typeface="Calibri" pitchFamily="34" charset="0"/>
                <a:ea typeface="Calibri" pitchFamily="34" charset="-122"/>
                <a:cs typeface="Calibri" pitchFamily="34" charset="-120"/>
              </a:rPr>
              <a:t>en marcha</a:t>
            </a:r>
            <a:endParaRPr lang="en-US" sz="2000" dirty="0"/>
          </a:p>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Sin bloquear</a:t>
            </a:r>
            <a:r>
              <a:rPr lang="en-US" sz="2000" dirty="0">
                <a:solidFill>
                  <a:srgbClr val="1C2B27"/>
                </a:solidFill>
                <a:latin typeface="Calibri" pitchFamily="34" charset="0"/>
                <a:ea typeface="Calibri" pitchFamily="34" charset="-122"/>
                <a:cs typeface="Calibri" pitchFamily="34" charset="-120"/>
              </a:rPr>
              <a:t> escrituras ni parar la replicación</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Destino: directorio local o </a:t>
            </a:r>
            <a:r>
              <a:rPr lang="en-US" sz="2000" b="1" dirty="0">
                <a:solidFill>
                  <a:srgbClr val="1C2B27"/>
                </a:solidFill>
                <a:latin typeface="Calibri" pitchFamily="34" charset="0"/>
                <a:ea typeface="Calibri" pitchFamily="34" charset="-122"/>
                <a:cs typeface="Calibri" pitchFamily="34" charset="-120"/>
              </a:rPr>
              <a:t>archivo tar</a:t>
            </a:r>
            <a:r>
              <a:rPr lang="en-US" sz="2000" dirty="0">
                <a:solidFill>
                  <a:srgbClr val="1C2B27"/>
                </a:solidFill>
                <a:latin typeface="Calibri" pitchFamily="34" charset="0"/>
                <a:ea typeface="Calibri" pitchFamily="34" charset="-122"/>
                <a:cs typeface="Calibri" pitchFamily="34" charset="-120"/>
              </a:rPr>
              <a:t>, o directamente a </a:t>
            </a:r>
            <a:r>
              <a:rPr lang="en-US" sz="2000" b="1" dirty="0">
                <a:solidFill>
                  <a:srgbClr val="1C2B27"/>
                </a:solidFill>
                <a:latin typeface="Calibri" pitchFamily="34" charset="0"/>
                <a:ea typeface="Calibri" pitchFamily="34" charset="-122"/>
                <a:cs typeface="Calibri" pitchFamily="34" charset="-120"/>
              </a:rPr>
              <a:t>S3</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La copia es un dbPath listo para arrancar un nuevo mongod</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Con cifrado en reposo, la copia sigue </a:t>
            </a:r>
            <a:r>
              <a:rPr lang="en-US" sz="2000" b="1" dirty="0">
                <a:solidFill>
                  <a:srgbClr val="1C2B27"/>
                </a:solidFill>
                <a:latin typeface="Calibri" pitchFamily="34" charset="0"/>
                <a:ea typeface="Calibri" pitchFamily="34" charset="-122"/>
                <a:cs typeface="Calibri" pitchFamily="34" charset="-120"/>
              </a:rPr>
              <a:t>cifrada</a:t>
            </a:r>
            <a:r>
              <a:rPr lang="en-US" sz="2000" dirty="0">
                <a:solidFill>
                  <a:srgbClr val="1C2B27"/>
                </a:solidFill>
                <a:latin typeface="Calibri" pitchFamily="34" charset="0"/>
                <a:ea typeface="Calibri" pitchFamily="34" charset="-122"/>
                <a:cs typeface="Calibri" pitchFamily="34" charset="-120"/>
              </a:rPr>
              <a:t>: hace falta la misma clave</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Es la base de los backups físicos de </a:t>
            </a:r>
            <a:r>
              <a:rPr lang="en-US" sz="2000" b="1" dirty="0">
                <a:solidFill>
                  <a:srgbClr val="1C2B27"/>
                </a:solidFill>
                <a:latin typeface="Calibri" pitchFamily="34" charset="0"/>
                <a:ea typeface="Calibri" pitchFamily="34" charset="-122"/>
                <a:cs typeface="Calibri" pitchFamily="34" charset="-120"/>
              </a:rPr>
              <a:t>PBM</a:t>
            </a:r>
            <a:r>
              <a:rPr lang="en-US" sz="2000" dirty="0">
                <a:solidFill>
                  <a:srgbClr val="1C2B27"/>
                </a:solidFill>
                <a:latin typeface="Calibri" pitchFamily="34" charset="0"/>
                <a:ea typeface="Calibri" pitchFamily="34" charset="-122"/>
                <a:cs typeface="Calibri" pitchFamily="34" charset="-120"/>
              </a:rPr>
              <a:t> con Percona Server</a:t>
            </a:r>
            <a:endParaRPr lang="en-US" sz="2000" dirty="0"/>
          </a:p>
        </p:txBody>
      </p:sp>
      <p:sp>
        <p:nvSpPr>
          <p:cNvPr id="4" name="Shape 2"/>
          <p:cNvSpPr/>
          <p:nvPr/>
        </p:nvSpPr>
        <p:spPr>
          <a:xfrm>
            <a:off x="7863840" y="1463040"/>
            <a:ext cx="3779215" cy="4206240"/>
          </a:xfrm>
          <a:prstGeom prst="roundRect">
            <a:avLst>
              <a:gd name="adj" fmla="val 2903"/>
            </a:avLst>
          </a:prstGeom>
          <a:solidFill>
            <a:srgbClr val="E8F3EC"/>
          </a:solidFill>
          <a:ln w="12700">
            <a:solidFill>
              <a:srgbClr val="E8F3EC"/>
            </a:solidFill>
            <a:prstDash val="solid"/>
          </a:ln>
        </p:spPr>
      </p:sp>
      <p:sp>
        <p:nvSpPr>
          <p:cNvPr id="5" name="Shape 3"/>
          <p:cNvSpPr/>
          <p:nvPr/>
        </p:nvSpPr>
        <p:spPr>
          <a:xfrm>
            <a:off x="8138160" y="1737360"/>
            <a:ext cx="548640" cy="548640"/>
          </a:xfrm>
          <a:prstGeom prst="ellipse">
            <a:avLst/>
          </a:prstGeom>
          <a:solidFill>
            <a:srgbClr val="1F7A4D"/>
          </a:solidFill>
          <a:ln w="12700">
            <a:solidFill>
              <a:srgbClr val="1F7A4D"/>
            </a:solidFill>
            <a:prstDash val="solid"/>
          </a:ln>
        </p:spPr>
      </p:sp>
      <p:sp>
        <p:nvSpPr>
          <p:cNvPr id="6" name="Text 4"/>
          <p:cNvSpPr txBox="1"/>
          <p:nvPr/>
        </p:nvSpPr>
        <p:spPr>
          <a:xfrm>
            <a:off x="813816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H</a:t>
            </a:r>
            <a:endParaRPr lang="en-US" sz="1600" dirty="0"/>
          </a:p>
        </p:txBody>
      </p:sp>
      <p:sp>
        <p:nvSpPr>
          <p:cNvPr id="7" name="Text 5"/>
          <p:cNvSpPr txBox="1"/>
          <p:nvPr/>
        </p:nvSpPr>
        <p:spPr>
          <a:xfrm>
            <a:off x="8823960" y="1737360"/>
            <a:ext cx="2590495"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Ejemplo</a:t>
            </a:r>
            <a:endParaRPr lang="en-US" sz="1800" dirty="0"/>
          </a:p>
        </p:txBody>
      </p:sp>
      <p:sp>
        <p:nvSpPr>
          <p:cNvPr id="8" name="Text 6"/>
          <p:cNvSpPr txBox="1"/>
          <p:nvPr/>
        </p:nvSpPr>
        <p:spPr>
          <a:xfrm>
            <a:off x="8138160" y="2468880"/>
            <a:ext cx="3230575" cy="3017520"/>
          </a:xfrm>
          <a:prstGeom prst="rect">
            <a:avLst/>
          </a:prstGeom>
          <a:noFill/>
          <a:ln/>
        </p:spPr>
        <p:txBody>
          <a:bodyPr wrap="square" lIns="0" tIns="0" rIns="0" bIns="0" rtlCol="0" anchor="t"/>
          <a:lstStyle/>
          <a:p>
            <a:pPr indent="0" marL="0">
              <a:buNone/>
            </a:pPr>
            <a:r>
              <a:rPr lang="en-US" sz="1700" dirty="0">
                <a:solidFill>
                  <a:srgbClr val="1C2B27"/>
                </a:solidFill>
                <a:latin typeface="Calibri" pitchFamily="34" charset="0"/>
                <a:ea typeface="Calibri" pitchFamily="34" charset="-122"/>
                <a:cs typeface="Calibri" pitchFamily="34" charset="-120"/>
              </a:rPr>
              <a:t>db.adminCommand({</a:t>
            </a:r>
            <a:endParaRPr lang="en-US" sz="1700" dirty="0"/>
          </a:p>
          <a:p>
            <a:pPr indent="0" marL="0">
              <a:buNone/>
            </a:pPr>
            <a:r>
              <a:rPr lang="en-US" sz="1700" dirty="0">
                <a:solidFill>
                  <a:srgbClr val="1C2B27"/>
                </a:solidFill>
                <a:latin typeface="Calibri" pitchFamily="34" charset="0"/>
                <a:ea typeface="Calibri" pitchFamily="34" charset="-122"/>
                <a:cs typeface="Calibri" pitchFamily="34" charset="-120"/>
              </a:rPr>
              <a:t>  createBackup: 1,</a:t>
            </a:r>
            <a:endParaRPr lang="en-US" sz="1700" dirty="0"/>
          </a:p>
          <a:p>
            <a:pPr indent="0" marL="0">
              <a:buNone/>
            </a:pPr>
            <a:r>
              <a:rPr lang="en-US" sz="1700" dirty="0">
                <a:solidFill>
                  <a:srgbClr val="1C2B27"/>
                </a:solidFill>
                <a:latin typeface="Calibri" pitchFamily="34" charset="0"/>
                <a:ea typeface="Calibri" pitchFamily="34" charset="-122"/>
                <a:cs typeface="Calibri" pitchFamily="34" charset="-120"/>
              </a:rPr>
              <a:t>  backupDir: "/backups/hot-2026-09-24"</a:t>
            </a:r>
            <a:endParaRPr lang="en-US" sz="1700" dirty="0"/>
          </a:p>
          <a:p>
            <a:pPr indent="0" marL="0">
              <a:buNone/>
            </a:pPr>
            <a:r>
              <a:rPr lang="en-US" sz="1700" dirty="0">
                <a:solidFill>
                  <a:srgbClr val="1C2B27"/>
                </a:solidFill>
                <a:latin typeface="Calibri" pitchFamily="34" charset="0"/>
                <a:ea typeface="Calibri" pitchFamily="34" charset="-122"/>
                <a:cs typeface="Calibri" pitchFamily="34" charset="-120"/>
              </a:rPr>
              <a:t>})</a:t>
            </a:r>
            <a:endParaRPr lang="en-US" sz="1700" dirty="0"/>
          </a:p>
          <a:p>
            <a:pPr indent="0" marL="0">
              <a:buNone/>
            </a:pPr>
            <a:endParaRPr lang="en-US" sz="1700" dirty="0"/>
          </a:p>
          <a:p>
            <a:pPr indent="0" marL="0">
              <a:buNone/>
            </a:pPr>
            <a:r>
              <a:rPr lang="en-US" sz="1700" dirty="0">
                <a:solidFill>
                  <a:srgbClr val="1C2B27"/>
                </a:solidFill>
                <a:latin typeface="Calibri" pitchFamily="34" charset="0"/>
                <a:ea typeface="Calibri" pitchFamily="34" charset="-122"/>
                <a:cs typeface="Calibri" pitchFamily="34" charset="-120"/>
              </a:rPr>
              <a:t>db.adminCommand({</a:t>
            </a:r>
            <a:endParaRPr lang="en-US" sz="1700" dirty="0"/>
          </a:p>
          <a:p>
            <a:pPr indent="0" marL="0">
              <a:buNone/>
            </a:pPr>
            <a:r>
              <a:rPr lang="en-US" sz="1700" dirty="0">
                <a:solidFill>
                  <a:srgbClr val="1C2B27"/>
                </a:solidFill>
                <a:latin typeface="Calibri" pitchFamily="34" charset="0"/>
                <a:ea typeface="Calibri" pitchFamily="34" charset="-122"/>
                <a:cs typeface="Calibri" pitchFamily="34" charset="-120"/>
              </a:rPr>
              <a:t>  createBackup: 1,</a:t>
            </a:r>
            <a:endParaRPr lang="en-US" sz="1700" dirty="0"/>
          </a:p>
          <a:p>
            <a:pPr indent="0" marL="0">
              <a:buNone/>
            </a:pPr>
            <a:r>
              <a:rPr lang="en-US" sz="1700" dirty="0">
                <a:solidFill>
                  <a:srgbClr val="1C2B27"/>
                </a:solidFill>
                <a:latin typeface="Calibri" pitchFamily="34" charset="0"/>
                <a:ea typeface="Calibri" pitchFamily="34" charset="-122"/>
                <a:cs typeface="Calibri" pitchFamily="34" charset="-120"/>
              </a:rPr>
              <a:t>  archive: "/backups/hot.tar"</a:t>
            </a:r>
            <a:endParaRPr lang="en-US" sz="1700" dirty="0"/>
          </a:p>
          <a:p>
            <a:pPr indent="0" marL="0">
              <a:buNone/>
            </a:pPr>
            <a:r>
              <a:rPr lang="en-US" sz="1700" dirty="0">
                <a:solidFill>
                  <a:srgbClr val="1C2B27"/>
                </a:solidFill>
                <a:latin typeface="Calibri" pitchFamily="34" charset="0"/>
                <a:ea typeface="Calibri" pitchFamily="34" charset="-122"/>
                <a:cs typeface="Calibri" pitchFamily="34" charset="-120"/>
              </a:rPr>
              <a:t>})</a:t>
            </a:r>
            <a:endParaRPr lang="en-US" sz="1700" dirty="0"/>
          </a:p>
        </p:txBody>
      </p:sp>
      <p:sp>
        <p:nvSpPr>
          <p:cNvPr id="9" name="Text 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10" name="Text 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10 / 33</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F3EC"/>
        </a:solidFill>
      </p:bgPr>
    </p:bg>
    <p:spTree>
      <p:nvGrpSpPr>
        <p:cNvPr id="1" name=""/>
        <p:cNvGrpSpPr/>
        <p:nvPr/>
      </p:nvGrpSpPr>
      <p:grpSpPr>
        <a:xfrm>
          <a:off x="0" y="0"/>
          <a:ext cx="0" cy="0"/>
          <a:chOff x="0" y="0"/>
          <a:chExt cx="0" cy="0"/>
        </a:xfrm>
      </p:grpSpPr>
      <p:sp>
        <p:nvSpPr>
          <p:cNvPr id="2" name="Shape 0"/>
          <p:cNvSpPr/>
          <p:nvPr/>
        </p:nvSpPr>
        <p:spPr>
          <a:xfrm>
            <a:off x="548640" y="457200"/>
            <a:ext cx="2651760" cy="457200"/>
          </a:xfrm>
          <a:prstGeom prst="roundRect">
            <a:avLst>
              <a:gd name="adj" fmla="val 50000"/>
            </a:avLst>
          </a:prstGeom>
          <a:solidFill>
            <a:srgbClr val="F2B33D"/>
          </a:solidFill>
          <a:ln w="12700">
            <a:solidFill>
              <a:srgbClr val="F2B33D"/>
            </a:solidFill>
            <a:prstDash val="solid"/>
          </a:ln>
        </p:spPr>
      </p:sp>
      <p:sp>
        <p:nvSpPr>
          <p:cNvPr id="3" name="Text 1"/>
          <p:cNvSpPr txBox="1"/>
          <p:nvPr/>
        </p:nvSpPr>
        <p:spPr>
          <a:xfrm>
            <a:off x="548640" y="457200"/>
            <a:ext cx="2651760" cy="457200"/>
          </a:xfrm>
          <a:prstGeom prst="rect">
            <a:avLst/>
          </a:prstGeom>
          <a:noFill/>
          <a:ln/>
        </p:spPr>
        <p:txBody>
          <a:bodyPr wrap="square" lIns="0" tIns="0" rIns="0" bIns="0" rtlCol="0" anchor="ctr"/>
          <a:lstStyle/>
          <a:p>
            <a:pPr algn="ctr" indent="0" marL="0">
              <a:buNone/>
            </a:pPr>
            <a:r>
              <a:rPr lang="en-US" sz="1400" b="1" spc="200" kern="0" dirty="0">
                <a:solidFill>
                  <a:srgbClr val="0F2A25"/>
                </a:solidFill>
                <a:latin typeface="Calibri" pitchFamily="34" charset="0"/>
                <a:ea typeface="Calibri" pitchFamily="34" charset="-122"/>
                <a:cs typeface="Calibri" pitchFamily="34" charset="-120"/>
              </a:rPr>
              <a:t>LABORATORIO 11</a:t>
            </a:r>
            <a:endParaRPr lang="en-US" sz="1400" dirty="0"/>
          </a:p>
        </p:txBody>
      </p:sp>
      <p:sp>
        <p:nvSpPr>
          <p:cNvPr id="4" name="Text 2"/>
          <p:cNvSpPr txBox="1"/>
          <p:nvPr/>
        </p:nvSpPr>
        <p:spPr>
          <a:xfrm>
            <a:off x="548640" y="1097280"/>
            <a:ext cx="11094415" cy="822960"/>
          </a:xfrm>
          <a:prstGeom prst="rect">
            <a:avLst/>
          </a:prstGeom>
          <a:noFill/>
          <a:ln/>
        </p:spPr>
        <p:txBody>
          <a:bodyPr wrap="square" lIns="0" tIns="0" rIns="0" bIns="0" rtlCol="0" anchor="t"/>
          <a:lstStyle/>
          <a:p>
            <a:pPr indent="0" marL="0">
              <a:buNone/>
            </a:pPr>
            <a:r>
              <a:rPr lang="en-US" sz="3400" b="1" dirty="0">
                <a:solidFill>
                  <a:srgbClr val="0F2A25"/>
                </a:solidFill>
                <a:latin typeface="Cambria" pitchFamily="34" charset="0"/>
                <a:ea typeface="Cambria" pitchFamily="34" charset="-122"/>
                <a:cs typeface="Cambria" pitchFamily="34" charset="-120"/>
              </a:rPr>
              <a:t>mongodump, copias binarias, snapshot y hot backup</a:t>
            </a:r>
            <a:endParaRPr lang="en-US" sz="3400" dirty="0"/>
          </a:p>
        </p:txBody>
      </p:sp>
      <p:sp>
        <p:nvSpPr>
          <p:cNvPr id="5" name="Shape 3"/>
          <p:cNvSpPr/>
          <p:nvPr/>
        </p:nvSpPr>
        <p:spPr>
          <a:xfrm>
            <a:off x="548640" y="2103120"/>
            <a:ext cx="7223760" cy="3977640"/>
          </a:xfrm>
          <a:prstGeom prst="roundRect">
            <a:avLst>
              <a:gd name="adj" fmla="val 2759"/>
            </a:avLst>
          </a:prstGeom>
          <a:solidFill>
            <a:srgbClr val="FFFFFF"/>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2240280"/>
            <a:ext cx="6675120" cy="411480"/>
          </a:xfrm>
          <a:prstGeom prst="rect">
            <a:avLst/>
          </a:prstGeom>
          <a:noFill/>
          <a:ln/>
        </p:spPr>
        <p:txBody>
          <a:bodyPr wrap="square" lIns="0" tIns="0" rIns="0" bIns="0" rtlCol="0" anchor="ctr"/>
          <a:lstStyle/>
          <a:p>
            <a:pPr indent="0" marL="0">
              <a:buNone/>
            </a:pPr>
            <a:r>
              <a:rPr lang="en-US" sz="1800" b="1" dirty="0">
                <a:solidFill>
                  <a:srgbClr val="1F7A4D"/>
                </a:solidFill>
                <a:latin typeface="Cambria" pitchFamily="34" charset="0"/>
                <a:ea typeface="Cambria" pitchFamily="34" charset="-122"/>
                <a:cs typeface="Cambria" pitchFamily="34" charset="-120"/>
              </a:rPr>
              <a:t>Qué vas a hacer</a:t>
            </a:r>
            <a:endParaRPr lang="en-US" sz="1800" dirty="0"/>
          </a:p>
        </p:txBody>
      </p:sp>
      <p:sp>
        <p:nvSpPr>
          <p:cNvPr id="7" name="Text 5"/>
          <p:cNvSpPr txBox="1"/>
          <p:nvPr/>
        </p:nvSpPr>
        <p:spPr>
          <a:xfrm>
            <a:off x="822960" y="2697480"/>
            <a:ext cx="6675120" cy="3246120"/>
          </a:xfrm>
          <a:prstGeom prst="rect">
            <a:avLst/>
          </a:prstGeom>
          <a:noFill/>
          <a:ln/>
        </p:spPr>
        <p:txBody>
          <a:bodyPr wrap="square" lIns="0" tIns="0" rIns="0" bIns="0" rtlCol="0" anchor="t"/>
          <a:lstStyle/>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Volcar el replica set con mongodump --oplog y restaurar una colección borrada</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Restaurar con otro nombre para comparar sin pisar datos</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Hacer una copia en frío de un secundario y verificarla en un servidor aparte</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Copiar un secundario en caliente con fsyncLock y fsyncUnlock</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Opcional: hot backup con createBackup en Percona Server</a:t>
            </a:r>
            <a:endParaRPr lang="en-US" sz="1900" dirty="0"/>
          </a:p>
        </p:txBody>
      </p:sp>
      <p:sp>
        <p:nvSpPr>
          <p:cNvPr id="8" name="Shape 6"/>
          <p:cNvSpPr/>
          <p:nvPr/>
        </p:nvSpPr>
        <p:spPr>
          <a:xfrm>
            <a:off x="8138160" y="2103120"/>
            <a:ext cx="3504895" cy="1143000"/>
          </a:xfrm>
          <a:prstGeom prst="roundRect">
            <a:avLst>
              <a:gd name="adj" fmla="val 9600"/>
            </a:avLst>
          </a:prstGeom>
          <a:solidFill>
            <a:srgbClr val="0F2A25"/>
          </a:solidFill>
          <a:ln w="12700">
            <a:solidFill>
              <a:srgbClr val="0F2A25"/>
            </a:solidFill>
            <a:prstDash val="solid"/>
          </a:ln>
        </p:spPr>
      </p:sp>
      <p:sp>
        <p:nvSpPr>
          <p:cNvPr id="9" name="Text 7"/>
          <p:cNvSpPr txBox="1"/>
          <p:nvPr/>
        </p:nvSpPr>
        <p:spPr>
          <a:xfrm>
            <a:off x="8366760" y="2240280"/>
            <a:ext cx="3047695" cy="274320"/>
          </a:xfrm>
          <a:prstGeom prst="rect">
            <a:avLst/>
          </a:prstGeom>
          <a:noFill/>
          <a:ln/>
        </p:spPr>
        <p:txBody>
          <a:bodyPr wrap="square" lIns="0" tIns="0" rIns="0" bIns="0" rtlCol="0" anchor="ctr"/>
          <a:lstStyle/>
          <a:p>
            <a:pPr indent="0" marL="0">
              <a:buNone/>
            </a:pPr>
            <a:r>
              <a:rPr lang="en-US" sz="1100" b="1" spc="200" kern="0" dirty="0">
                <a:solidFill>
                  <a:srgbClr val="F2B33D"/>
                </a:solidFill>
                <a:latin typeface="Calibri" pitchFamily="34" charset="0"/>
                <a:ea typeface="Calibri" pitchFamily="34" charset="-122"/>
                <a:cs typeface="Calibri" pitchFamily="34" charset="-120"/>
              </a:rPr>
              <a:t>DURACIÓN</a:t>
            </a:r>
            <a:endParaRPr lang="en-US" sz="1100" dirty="0"/>
          </a:p>
        </p:txBody>
      </p:sp>
      <p:sp>
        <p:nvSpPr>
          <p:cNvPr id="10" name="Text 8"/>
          <p:cNvSpPr txBox="1"/>
          <p:nvPr/>
        </p:nvSpPr>
        <p:spPr>
          <a:xfrm>
            <a:off x="8366760" y="2514600"/>
            <a:ext cx="3047695" cy="64008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25 min</a:t>
            </a:r>
            <a:endParaRPr lang="en-US" sz="2600" dirty="0"/>
          </a:p>
        </p:txBody>
      </p:sp>
      <p:sp>
        <p:nvSpPr>
          <p:cNvPr id="11" name="Shape 9"/>
          <p:cNvSpPr/>
          <p:nvPr/>
        </p:nvSpPr>
        <p:spPr>
          <a:xfrm>
            <a:off x="8138160" y="3474720"/>
            <a:ext cx="3504895" cy="1143000"/>
          </a:xfrm>
          <a:prstGeom prst="roundRect">
            <a:avLst>
              <a:gd name="adj" fmla="val 9600"/>
            </a:avLst>
          </a:prstGeom>
          <a:solidFill>
            <a:srgbClr val="FFFFFF"/>
          </a:solidFill>
          <a:ln w="12700">
            <a:solidFill>
              <a:srgbClr val="D5DDD9"/>
            </a:solidFill>
            <a:prstDash val="solid"/>
          </a:ln>
        </p:spPr>
      </p:sp>
      <p:sp>
        <p:nvSpPr>
          <p:cNvPr id="12" name="Text 10"/>
          <p:cNvSpPr txBox="1"/>
          <p:nvPr/>
        </p:nvSpPr>
        <p:spPr>
          <a:xfrm>
            <a:off x="8366760" y="36118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CARPETA</a:t>
            </a:r>
            <a:endParaRPr lang="en-US" sz="1100" dirty="0"/>
          </a:p>
        </p:txBody>
      </p:sp>
      <p:sp>
        <p:nvSpPr>
          <p:cNvPr id="13" name="Text 11"/>
          <p:cNvSpPr txBox="1"/>
          <p:nvPr/>
        </p:nvSpPr>
        <p:spPr>
          <a:xfrm>
            <a:off x="8366760" y="38862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entorno/</a:t>
            </a:r>
            <a:endParaRPr lang="en-US" sz="1300" dirty="0"/>
          </a:p>
        </p:txBody>
      </p:sp>
      <p:sp>
        <p:nvSpPr>
          <p:cNvPr id="14" name="Shape 12"/>
          <p:cNvSpPr/>
          <p:nvPr/>
        </p:nvSpPr>
        <p:spPr>
          <a:xfrm>
            <a:off x="8138160" y="4846320"/>
            <a:ext cx="3504895" cy="1143000"/>
          </a:xfrm>
          <a:prstGeom prst="roundRect">
            <a:avLst>
              <a:gd name="adj" fmla="val 9600"/>
            </a:avLst>
          </a:prstGeom>
          <a:solidFill>
            <a:srgbClr val="FFFFFF"/>
          </a:solidFill>
          <a:ln w="12700">
            <a:solidFill>
              <a:srgbClr val="D5DDD9"/>
            </a:solidFill>
            <a:prstDash val="solid"/>
          </a:ln>
        </p:spPr>
      </p:sp>
      <p:sp>
        <p:nvSpPr>
          <p:cNvPr id="15" name="Text 13"/>
          <p:cNvSpPr txBox="1"/>
          <p:nvPr/>
        </p:nvSpPr>
        <p:spPr>
          <a:xfrm>
            <a:off x="8366760" y="49834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GUÍA</a:t>
            </a:r>
            <a:endParaRPr lang="en-US" sz="1100" dirty="0"/>
          </a:p>
        </p:txBody>
      </p:sp>
      <p:sp>
        <p:nvSpPr>
          <p:cNvPr id="16" name="Text 14"/>
          <p:cNvSpPr txBox="1"/>
          <p:nvPr/>
        </p:nvSpPr>
        <p:spPr>
          <a:xfrm>
            <a:off x="8366760" y="52578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dia4/lab11-backup-nativo/README.md</a:t>
            </a:r>
            <a:endParaRPr lang="en-US" sz="1300" dirty="0"/>
          </a:p>
        </p:txBody>
      </p:sp>
      <p:sp>
        <p:nvSpPr>
          <p:cNvPr id="17" name="Text 1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18" name="Text 1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11 / 33</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Percona Backup for MongoDB: arquitectura</a:t>
            </a:r>
            <a:endParaRPr lang="en-US" sz="3200" dirty="0"/>
          </a:p>
        </p:txBody>
      </p:sp>
      <p:sp>
        <p:nvSpPr>
          <p:cNvPr id="3" name="Shape 1"/>
          <p:cNvSpPr/>
          <p:nvPr/>
        </p:nvSpPr>
        <p:spPr>
          <a:xfrm>
            <a:off x="1978122" y="2423160"/>
            <a:ext cx="1441643" cy="0"/>
          </a:xfrm>
          <a:prstGeom prst="line">
            <a:avLst/>
          </a:prstGeom>
          <a:noFill/>
          <a:ln w="31750">
            <a:solidFill>
              <a:srgbClr val="2E9E66"/>
            </a:solidFill>
            <a:prstDash val="solid"/>
            <a:tailEnd type="triangle"/>
          </a:ln>
        </p:spPr>
      </p:sp>
      <p:sp>
        <p:nvSpPr>
          <p:cNvPr id="4" name="Shape 2"/>
          <p:cNvSpPr/>
          <p:nvPr/>
        </p:nvSpPr>
        <p:spPr>
          <a:xfrm>
            <a:off x="1155162" y="2011680"/>
            <a:ext cx="822960" cy="822960"/>
          </a:xfrm>
          <a:prstGeom prst="ellipse">
            <a:avLst/>
          </a:prstGeom>
          <a:solidFill>
            <a:srgbClr val="1F7A4D"/>
          </a:solidFill>
          <a:ln w="12700">
            <a:solidFill>
              <a:srgbClr val="1F7A4D"/>
            </a:solidFill>
            <a:prstDash val="solid"/>
          </a:ln>
        </p:spPr>
      </p:sp>
      <p:sp>
        <p:nvSpPr>
          <p:cNvPr id="5" name="Text 3"/>
          <p:cNvSpPr txBox="1"/>
          <p:nvPr/>
        </p:nvSpPr>
        <p:spPr>
          <a:xfrm>
            <a:off x="1155162"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548640"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pbm-agent</a:t>
            </a:r>
            <a:endParaRPr lang="en-US" sz="1700" dirty="0"/>
          </a:p>
        </p:txBody>
      </p:sp>
      <p:sp>
        <p:nvSpPr>
          <p:cNvPr id="7" name="Text 5"/>
          <p:cNvSpPr txBox="1"/>
          <p:nvPr/>
        </p:nvSpPr>
        <p:spPr>
          <a:xfrm>
            <a:off x="594360"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Un agente junto a cada mongod (cada miembro de cada replica set).</a:t>
            </a:r>
            <a:endParaRPr lang="en-US" sz="1600" dirty="0"/>
          </a:p>
        </p:txBody>
      </p:sp>
      <p:sp>
        <p:nvSpPr>
          <p:cNvPr id="8" name="Shape 6"/>
          <p:cNvSpPr/>
          <p:nvPr/>
        </p:nvSpPr>
        <p:spPr>
          <a:xfrm>
            <a:off x="4242725" y="2423160"/>
            <a:ext cx="1441643" cy="0"/>
          </a:xfrm>
          <a:prstGeom prst="line">
            <a:avLst/>
          </a:prstGeom>
          <a:noFill/>
          <a:ln w="31750">
            <a:solidFill>
              <a:srgbClr val="2E9E66"/>
            </a:solidFill>
            <a:prstDash val="solid"/>
            <a:tailEnd type="triangle"/>
          </a:ln>
        </p:spPr>
      </p:sp>
      <p:sp>
        <p:nvSpPr>
          <p:cNvPr id="9" name="Shape 7"/>
          <p:cNvSpPr/>
          <p:nvPr/>
        </p:nvSpPr>
        <p:spPr>
          <a:xfrm>
            <a:off x="3419765" y="2011680"/>
            <a:ext cx="822960" cy="822960"/>
          </a:xfrm>
          <a:prstGeom prst="ellipse">
            <a:avLst/>
          </a:prstGeom>
          <a:solidFill>
            <a:srgbClr val="F2B33D"/>
          </a:solidFill>
          <a:ln w="12700">
            <a:solidFill>
              <a:srgbClr val="F2B33D"/>
            </a:solidFill>
            <a:prstDash val="solid"/>
          </a:ln>
        </p:spPr>
      </p:sp>
      <p:sp>
        <p:nvSpPr>
          <p:cNvPr id="10" name="Text 8"/>
          <p:cNvSpPr txBox="1"/>
          <p:nvPr/>
        </p:nvSpPr>
        <p:spPr>
          <a:xfrm>
            <a:off x="3419765"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2813243"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Colecciones de control</a:t>
            </a:r>
            <a:endParaRPr lang="en-US" sz="1700" dirty="0"/>
          </a:p>
        </p:txBody>
      </p:sp>
      <p:sp>
        <p:nvSpPr>
          <p:cNvPr id="12" name="Text 10"/>
          <p:cNvSpPr txBox="1"/>
          <p:nvPr/>
        </p:nvSpPr>
        <p:spPr>
          <a:xfrm>
            <a:off x="2858963"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Estado, configuración y órdenes en la base de datos admin del propio cluster.</a:t>
            </a:r>
            <a:endParaRPr lang="en-US" sz="1600" dirty="0"/>
          </a:p>
        </p:txBody>
      </p:sp>
      <p:sp>
        <p:nvSpPr>
          <p:cNvPr id="13" name="Shape 11"/>
          <p:cNvSpPr/>
          <p:nvPr/>
        </p:nvSpPr>
        <p:spPr>
          <a:xfrm>
            <a:off x="6507328" y="2423160"/>
            <a:ext cx="1441643" cy="0"/>
          </a:xfrm>
          <a:prstGeom prst="line">
            <a:avLst/>
          </a:prstGeom>
          <a:noFill/>
          <a:ln w="31750">
            <a:solidFill>
              <a:srgbClr val="2E9E66"/>
            </a:solidFill>
            <a:prstDash val="solid"/>
            <a:tailEnd type="triangle"/>
          </a:ln>
        </p:spPr>
      </p:sp>
      <p:sp>
        <p:nvSpPr>
          <p:cNvPr id="14" name="Shape 12"/>
          <p:cNvSpPr/>
          <p:nvPr/>
        </p:nvSpPr>
        <p:spPr>
          <a:xfrm>
            <a:off x="5684368" y="2011680"/>
            <a:ext cx="822960" cy="822960"/>
          </a:xfrm>
          <a:prstGeom prst="ellipse">
            <a:avLst/>
          </a:prstGeom>
          <a:solidFill>
            <a:srgbClr val="1F7A4D"/>
          </a:solidFill>
          <a:ln w="12700">
            <a:solidFill>
              <a:srgbClr val="1F7A4D"/>
            </a:solidFill>
            <a:prstDash val="solid"/>
          </a:ln>
        </p:spPr>
      </p:sp>
      <p:sp>
        <p:nvSpPr>
          <p:cNvPr id="15" name="Text 13"/>
          <p:cNvSpPr txBox="1"/>
          <p:nvPr/>
        </p:nvSpPr>
        <p:spPr>
          <a:xfrm>
            <a:off x="5684368"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4"/>
          <p:cNvSpPr txBox="1"/>
          <p:nvPr/>
        </p:nvSpPr>
        <p:spPr>
          <a:xfrm>
            <a:off x="5077846"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pbm CLI</a:t>
            </a:r>
            <a:endParaRPr lang="en-US" sz="1700" dirty="0"/>
          </a:p>
        </p:txBody>
      </p:sp>
      <p:sp>
        <p:nvSpPr>
          <p:cNvPr id="17" name="Text 15"/>
          <p:cNvSpPr txBox="1"/>
          <p:nvPr/>
        </p:nvSpPr>
        <p:spPr>
          <a:xfrm>
            <a:off x="5123566"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Escribe órdenes; los agentes las ejecutan. Elige un secundario por replica set.</a:t>
            </a:r>
            <a:endParaRPr lang="en-US" sz="1600" dirty="0"/>
          </a:p>
        </p:txBody>
      </p:sp>
      <p:sp>
        <p:nvSpPr>
          <p:cNvPr id="18" name="Shape 16"/>
          <p:cNvSpPr/>
          <p:nvPr/>
        </p:nvSpPr>
        <p:spPr>
          <a:xfrm>
            <a:off x="8771931" y="2423160"/>
            <a:ext cx="1441643" cy="0"/>
          </a:xfrm>
          <a:prstGeom prst="line">
            <a:avLst/>
          </a:prstGeom>
          <a:noFill/>
          <a:ln w="31750">
            <a:solidFill>
              <a:srgbClr val="2E9E66"/>
            </a:solidFill>
            <a:prstDash val="solid"/>
            <a:tailEnd type="triangle"/>
          </a:ln>
        </p:spPr>
      </p:sp>
      <p:sp>
        <p:nvSpPr>
          <p:cNvPr id="19" name="Shape 17"/>
          <p:cNvSpPr/>
          <p:nvPr/>
        </p:nvSpPr>
        <p:spPr>
          <a:xfrm>
            <a:off x="7948971" y="2011680"/>
            <a:ext cx="822960" cy="822960"/>
          </a:xfrm>
          <a:prstGeom prst="ellipse">
            <a:avLst/>
          </a:prstGeom>
          <a:solidFill>
            <a:srgbClr val="F2B33D"/>
          </a:solidFill>
          <a:ln w="12700">
            <a:solidFill>
              <a:srgbClr val="F2B33D"/>
            </a:solidFill>
            <a:prstDash val="solid"/>
          </a:ln>
        </p:spPr>
      </p:sp>
      <p:sp>
        <p:nvSpPr>
          <p:cNvPr id="20" name="Text 18"/>
          <p:cNvSpPr txBox="1"/>
          <p:nvPr/>
        </p:nvSpPr>
        <p:spPr>
          <a:xfrm>
            <a:off x="7948971"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4</a:t>
            </a:r>
            <a:endParaRPr lang="en-US" sz="2200" dirty="0"/>
          </a:p>
        </p:txBody>
      </p:sp>
      <p:sp>
        <p:nvSpPr>
          <p:cNvPr id="21" name="Text 19"/>
          <p:cNvSpPr txBox="1"/>
          <p:nvPr/>
        </p:nvSpPr>
        <p:spPr>
          <a:xfrm>
            <a:off x="7342449"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Almacenamiento</a:t>
            </a:r>
            <a:endParaRPr lang="en-US" sz="1700" dirty="0"/>
          </a:p>
        </p:txBody>
      </p:sp>
      <p:sp>
        <p:nvSpPr>
          <p:cNvPr id="22" name="Text 20"/>
          <p:cNvSpPr txBox="1"/>
          <p:nvPr/>
        </p:nvSpPr>
        <p:spPr>
          <a:xfrm>
            <a:off x="7388169"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S3 y compatibles, Azure Blob, GCS o sistema de ficheros compartido.</a:t>
            </a:r>
            <a:endParaRPr lang="en-US" sz="1600" dirty="0"/>
          </a:p>
        </p:txBody>
      </p:sp>
      <p:sp>
        <p:nvSpPr>
          <p:cNvPr id="23" name="Shape 21"/>
          <p:cNvSpPr/>
          <p:nvPr/>
        </p:nvSpPr>
        <p:spPr>
          <a:xfrm>
            <a:off x="10213574" y="2011680"/>
            <a:ext cx="822960" cy="822960"/>
          </a:xfrm>
          <a:prstGeom prst="ellipse">
            <a:avLst/>
          </a:prstGeom>
          <a:solidFill>
            <a:srgbClr val="1F7A4D"/>
          </a:solidFill>
          <a:ln w="12700">
            <a:solidFill>
              <a:srgbClr val="1F7A4D"/>
            </a:solidFill>
            <a:prstDash val="solid"/>
          </a:ln>
        </p:spPr>
      </p:sp>
      <p:sp>
        <p:nvSpPr>
          <p:cNvPr id="24" name="Text 22"/>
          <p:cNvSpPr txBox="1"/>
          <p:nvPr/>
        </p:nvSpPr>
        <p:spPr>
          <a:xfrm>
            <a:off x="10213574"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5" name="Text 23"/>
          <p:cNvSpPr txBox="1"/>
          <p:nvPr/>
        </p:nvSpPr>
        <p:spPr>
          <a:xfrm>
            <a:off x="9607052"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PITR</a:t>
            </a:r>
            <a:endParaRPr lang="en-US" sz="1700" dirty="0"/>
          </a:p>
        </p:txBody>
      </p:sp>
      <p:sp>
        <p:nvSpPr>
          <p:cNvPr id="26" name="Text 24"/>
          <p:cNvSpPr txBox="1"/>
          <p:nvPr/>
        </p:nvSpPr>
        <p:spPr>
          <a:xfrm>
            <a:off x="9652772"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Los agentes copian el oplog en trozos continuos al almacenamiento.</a:t>
            </a:r>
            <a:endParaRPr lang="en-US" sz="1600" dirty="0"/>
          </a:p>
        </p:txBody>
      </p:sp>
      <p:sp>
        <p:nvSpPr>
          <p:cNvPr id="27" name="Shape 25"/>
          <p:cNvSpPr/>
          <p:nvPr/>
        </p:nvSpPr>
        <p:spPr>
          <a:xfrm>
            <a:off x="548640" y="5532120"/>
            <a:ext cx="11094415" cy="594360"/>
          </a:xfrm>
          <a:prstGeom prst="roundRect">
            <a:avLst>
              <a:gd name="adj" fmla="val 18462"/>
            </a:avLst>
          </a:prstGeom>
          <a:solidFill>
            <a:srgbClr val="E8F3EC"/>
          </a:solidFill>
          <a:ln w="12700">
            <a:solidFill>
              <a:srgbClr val="E8F3EC"/>
            </a:solidFill>
            <a:prstDash val="solid"/>
          </a:ln>
        </p:spPr>
      </p:sp>
      <p:sp>
        <p:nvSpPr>
          <p:cNvPr id="28" name="Text 26"/>
          <p:cNvSpPr txBox="1"/>
          <p:nvPr/>
        </p:nvSpPr>
        <p:spPr>
          <a:xfrm>
            <a:off x="777240" y="5532120"/>
            <a:ext cx="10637215" cy="594360"/>
          </a:xfrm>
          <a:prstGeom prst="rect">
            <a:avLst/>
          </a:prstGeom>
          <a:noFill/>
          <a:ln/>
        </p:spPr>
        <p:txBody>
          <a:bodyPr wrap="square" lIns="0" tIns="0" rIns="0" bIns="0" rtlCol="0" anchor="ctr"/>
          <a:lstStyle/>
          <a:p>
            <a:pPr indent="0" marL="0">
              <a:buNone/>
            </a:pPr>
            <a:r>
              <a:rPr lang="en-US" sz="1400" dirty="0">
                <a:solidFill>
                  <a:srgbClr val="0F2A25"/>
                </a:solidFill>
                <a:latin typeface="Calibri" pitchFamily="34" charset="0"/>
                <a:ea typeface="Calibri" pitchFamily="34" charset="-122"/>
                <a:cs typeface="Calibri" pitchFamily="34" charset="-120"/>
              </a:rPr>
              <a:t>Código abierto, sin servidor central propio: el estado vive en el cluster y los backups en el almacenamiento.</a:t>
            </a:r>
            <a:endParaRPr lang="en-US" sz="1400" dirty="0"/>
          </a:p>
        </p:txBody>
      </p:sp>
      <p:sp>
        <p:nvSpPr>
          <p:cNvPr id="29" name="Text 2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30" name="Text 2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12 / 33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Tipos de backup en PBM</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377440"/>
                <a:gridCol w="3291840"/>
                <a:gridCol w="2743200"/>
                <a:gridCol w="2560320"/>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Tipo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Cómo funciona</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Restauración</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Con MongoDB Community</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Lógico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Volcado de documentos, similar a mongodump pero coordinado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Reinserta y reconstruye índices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Sí</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Físico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Copia de ficheros con hot backup</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Muy rápida; requiere reiniciar nodos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No (Percona Server)</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Incremental</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Solo los bloques cambiados desde el anterior</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Base + incrementales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No (Percona Server)</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Selectivo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Algunas bases de datos o colecciones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Restauración parcial</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Sí (lógico)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PITR</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Copia continua del oplog</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Backup base + oplog hasta un instante</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Sí</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bl>
          </a:graphicData>
        </a:graphic>
      </p:graphicFrame>
      <p:sp>
        <p:nvSpPr>
          <p:cNvPr id="4" name="Text 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5"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13 / 33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Recuperación a un instante (PITR)</a:t>
            </a:r>
            <a:endParaRPr lang="en-US" sz="3200" dirty="0"/>
          </a:p>
        </p:txBody>
      </p:sp>
      <p:sp>
        <p:nvSpPr>
          <p:cNvPr id="3" name="Shape 1"/>
          <p:cNvSpPr/>
          <p:nvPr/>
        </p:nvSpPr>
        <p:spPr>
          <a:xfrm>
            <a:off x="1978122" y="2423160"/>
            <a:ext cx="1441643" cy="0"/>
          </a:xfrm>
          <a:prstGeom prst="line">
            <a:avLst/>
          </a:prstGeom>
          <a:noFill/>
          <a:ln w="31750">
            <a:solidFill>
              <a:srgbClr val="2E9E66"/>
            </a:solidFill>
            <a:prstDash val="solid"/>
            <a:tailEnd type="triangle"/>
          </a:ln>
        </p:spPr>
      </p:sp>
      <p:sp>
        <p:nvSpPr>
          <p:cNvPr id="4" name="Shape 2"/>
          <p:cNvSpPr/>
          <p:nvPr/>
        </p:nvSpPr>
        <p:spPr>
          <a:xfrm>
            <a:off x="1155162" y="2011680"/>
            <a:ext cx="822960" cy="822960"/>
          </a:xfrm>
          <a:prstGeom prst="ellipse">
            <a:avLst/>
          </a:prstGeom>
          <a:solidFill>
            <a:srgbClr val="1F7A4D"/>
          </a:solidFill>
          <a:ln w="12700">
            <a:solidFill>
              <a:srgbClr val="1F7A4D"/>
            </a:solidFill>
            <a:prstDash val="solid"/>
          </a:ln>
        </p:spPr>
      </p:sp>
      <p:sp>
        <p:nvSpPr>
          <p:cNvPr id="5" name="Text 3"/>
          <p:cNvSpPr txBox="1"/>
          <p:nvPr/>
        </p:nvSpPr>
        <p:spPr>
          <a:xfrm>
            <a:off x="1155162"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B</a:t>
            </a:r>
            <a:endParaRPr lang="en-US" sz="2200" dirty="0"/>
          </a:p>
        </p:txBody>
      </p:sp>
      <p:sp>
        <p:nvSpPr>
          <p:cNvPr id="6" name="Text 4"/>
          <p:cNvSpPr txBox="1"/>
          <p:nvPr/>
        </p:nvSpPr>
        <p:spPr>
          <a:xfrm>
            <a:off x="548640"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Backup base</a:t>
            </a:r>
            <a:endParaRPr lang="en-US" sz="1700" dirty="0"/>
          </a:p>
        </p:txBody>
      </p:sp>
      <p:sp>
        <p:nvSpPr>
          <p:cNvPr id="7" name="Text 5"/>
          <p:cNvSpPr txBox="1"/>
          <p:nvPr/>
        </p:nvSpPr>
        <p:spPr>
          <a:xfrm>
            <a:off x="594360"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Backup completo periódico (por ejemplo, diario).</a:t>
            </a:r>
            <a:endParaRPr lang="en-US" sz="1600" dirty="0"/>
          </a:p>
        </p:txBody>
      </p:sp>
      <p:sp>
        <p:nvSpPr>
          <p:cNvPr id="8" name="Shape 6"/>
          <p:cNvSpPr/>
          <p:nvPr/>
        </p:nvSpPr>
        <p:spPr>
          <a:xfrm>
            <a:off x="4242725" y="2423160"/>
            <a:ext cx="1441643" cy="0"/>
          </a:xfrm>
          <a:prstGeom prst="line">
            <a:avLst/>
          </a:prstGeom>
          <a:noFill/>
          <a:ln w="31750">
            <a:solidFill>
              <a:srgbClr val="2E9E66"/>
            </a:solidFill>
            <a:prstDash val="solid"/>
            <a:tailEnd type="triangle"/>
          </a:ln>
        </p:spPr>
      </p:sp>
      <p:sp>
        <p:nvSpPr>
          <p:cNvPr id="9" name="Shape 7"/>
          <p:cNvSpPr/>
          <p:nvPr/>
        </p:nvSpPr>
        <p:spPr>
          <a:xfrm>
            <a:off x="3419765" y="2011680"/>
            <a:ext cx="822960" cy="822960"/>
          </a:xfrm>
          <a:prstGeom prst="ellipse">
            <a:avLst/>
          </a:prstGeom>
          <a:solidFill>
            <a:srgbClr val="1F7A4D"/>
          </a:solidFill>
          <a:ln w="12700">
            <a:solidFill>
              <a:srgbClr val="1F7A4D"/>
            </a:solidFill>
            <a:prstDash val="solid"/>
          </a:ln>
        </p:spPr>
      </p:sp>
      <p:sp>
        <p:nvSpPr>
          <p:cNvPr id="10" name="Text 8"/>
          <p:cNvSpPr txBox="1"/>
          <p:nvPr/>
        </p:nvSpPr>
        <p:spPr>
          <a:xfrm>
            <a:off x="3419765"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O</a:t>
            </a:r>
            <a:endParaRPr lang="en-US" sz="2200" dirty="0"/>
          </a:p>
        </p:txBody>
      </p:sp>
      <p:sp>
        <p:nvSpPr>
          <p:cNvPr id="11" name="Text 9"/>
          <p:cNvSpPr txBox="1"/>
          <p:nvPr/>
        </p:nvSpPr>
        <p:spPr>
          <a:xfrm>
            <a:off x="2813243"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Oplog continuo</a:t>
            </a:r>
            <a:endParaRPr lang="en-US" sz="1700" dirty="0"/>
          </a:p>
        </p:txBody>
      </p:sp>
      <p:sp>
        <p:nvSpPr>
          <p:cNvPr id="12" name="Text 10"/>
          <p:cNvSpPr txBox="1"/>
          <p:nvPr/>
        </p:nvSpPr>
        <p:spPr>
          <a:xfrm>
            <a:off x="2858963"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Trozos del oplog cada pocos minutos (oplogSpanMin, 10 por defecto).</a:t>
            </a:r>
            <a:endParaRPr lang="en-US" sz="1600" dirty="0"/>
          </a:p>
        </p:txBody>
      </p:sp>
      <p:sp>
        <p:nvSpPr>
          <p:cNvPr id="13" name="Shape 11"/>
          <p:cNvSpPr/>
          <p:nvPr/>
        </p:nvSpPr>
        <p:spPr>
          <a:xfrm>
            <a:off x="6507328" y="2423160"/>
            <a:ext cx="1441643" cy="0"/>
          </a:xfrm>
          <a:prstGeom prst="line">
            <a:avLst/>
          </a:prstGeom>
          <a:noFill/>
          <a:ln w="31750">
            <a:solidFill>
              <a:srgbClr val="2E9E66"/>
            </a:solidFill>
            <a:prstDash val="solid"/>
            <a:tailEnd type="triangle"/>
          </a:ln>
        </p:spPr>
      </p:sp>
      <p:sp>
        <p:nvSpPr>
          <p:cNvPr id="14" name="Shape 12"/>
          <p:cNvSpPr/>
          <p:nvPr/>
        </p:nvSpPr>
        <p:spPr>
          <a:xfrm>
            <a:off x="5684368" y="2011680"/>
            <a:ext cx="822960" cy="822960"/>
          </a:xfrm>
          <a:prstGeom prst="ellipse">
            <a:avLst/>
          </a:prstGeom>
          <a:solidFill>
            <a:srgbClr val="F2B33D"/>
          </a:solidFill>
          <a:ln w="12700">
            <a:solidFill>
              <a:srgbClr val="F2B33D"/>
            </a:solidFill>
            <a:prstDash val="solid"/>
          </a:ln>
        </p:spPr>
      </p:sp>
      <p:sp>
        <p:nvSpPr>
          <p:cNvPr id="15" name="Text 13"/>
          <p:cNvSpPr txBox="1"/>
          <p:nvPr/>
        </p:nvSpPr>
        <p:spPr>
          <a:xfrm>
            <a:off x="5684368"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a:t>
            </a:r>
            <a:endParaRPr lang="en-US" sz="2200" dirty="0"/>
          </a:p>
        </p:txBody>
      </p:sp>
      <p:sp>
        <p:nvSpPr>
          <p:cNvPr id="16" name="Text 14"/>
          <p:cNvSpPr txBox="1"/>
          <p:nvPr/>
        </p:nvSpPr>
        <p:spPr>
          <a:xfrm>
            <a:off x="5077846"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Accidente</a:t>
            </a:r>
            <a:endParaRPr lang="en-US" sz="1700" dirty="0"/>
          </a:p>
        </p:txBody>
      </p:sp>
      <p:sp>
        <p:nvSpPr>
          <p:cNvPr id="17" name="Text 15"/>
          <p:cNvSpPr txBox="1"/>
          <p:nvPr/>
        </p:nvSpPr>
        <p:spPr>
          <a:xfrm>
            <a:off x="5123566"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10:15:32 UTC: alguien borra los pedidos de Madrid.</a:t>
            </a:r>
            <a:endParaRPr lang="en-US" sz="1600" dirty="0"/>
          </a:p>
        </p:txBody>
      </p:sp>
      <p:sp>
        <p:nvSpPr>
          <p:cNvPr id="18" name="Shape 16"/>
          <p:cNvSpPr/>
          <p:nvPr/>
        </p:nvSpPr>
        <p:spPr>
          <a:xfrm>
            <a:off x="8771931" y="2423160"/>
            <a:ext cx="1441643" cy="0"/>
          </a:xfrm>
          <a:prstGeom prst="line">
            <a:avLst/>
          </a:prstGeom>
          <a:noFill/>
          <a:ln w="31750">
            <a:solidFill>
              <a:srgbClr val="2E9E66"/>
            </a:solidFill>
            <a:prstDash val="solid"/>
            <a:tailEnd type="triangle"/>
          </a:ln>
        </p:spPr>
      </p:sp>
      <p:sp>
        <p:nvSpPr>
          <p:cNvPr id="19" name="Shape 17"/>
          <p:cNvSpPr/>
          <p:nvPr/>
        </p:nvSpPr>
        <p:spPr>
          <a:xfrm>
            <a:off x="7948971" y="2011680"/>
            <a:ext cx="822960" cy="822960"/>
          </a:xfrm>
          <a:prstGeom prst="ellipse">
            <a:avLst/>
          </a:prstGeom>
          <a:solidFill>
            <a:srgbClr val="F2B33D"/>
          </a:solidFill>
          <a:ln w="12700">
            <a:solidFill>
              <a:srgbClr val="F2B33D"/>
            </a:solidFill>
            <a:prstDash val="solid"/>
          </a:ln>
        </p:spPr>
      </p:sp>
      <p:sp>
        <p:nvSpPr>
          <p:cNvPr id="20" name="Text 18"/>
          <p:cNvSpPr txBox="1"/>
          <p:nvPr/>
        </p:nvSpPr>
        <p:spPr>
          <a:xfrm>
            <a:off x="7948971"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R</a:t>
            </a:r>
            <a:endParaRPr lang="en-US" sz="2200" dirty="0"/>
          </a:p>
        </p:txBody>
      </p:sp>
      <p:sp>
        <p:nvSpPr>
          <p:cNvPr id="21" name="Text 19"/>
          <p:cNvSpPr txBox="1"/>
          <p:nvPr/>
        </p:nvSpPr>
        <p:spPr>
          <a:xfrm>
            <a:off x="7342449"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Restaurar</a:t>
            </a:r>
            <a:endParaRPr lang="en-US" sz="1700" dirty="0"/>
          </a:p>
        </p:txBody>
      </p:sp>
      <p:sp>
        <p:nvSpPr>
          <p:cNvPr id="22" name="Text 20"/>
          <p:cNvSpPr txBox="1"/>
          <p:nvPr/>
        </p:nvSpPr>
        <p:spPr>
          <a:xfrm>
            <a:off x="7388169"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pbm restore --time="...T10:15:30": base + oplog hasta ese segundo.</a:t>
            </a:r>
            <a:endParaRPr lang="en-US" sz="1600" dirty="0"/>
          </a:p>
        </p:txBody>
      </p:sp>
      <p:sp>
        <p:nvSpPr>
          <p:cNvPr id="23" name="Shape 21"/>
          <p:cNvSpPr/>
          <p:nvPr/>
        </p:nvSpPr>
        <p:spPr>
          <a:xfrm>
            <a:off x="10213574" y="2011680"/>
            <a:ext cx="822960" cy="822960"/>
          </a:xfrm>
          <a:prstGeom prst="ellipse">
            <a:avLst/>
          </a:prstGeom>
          <a:solidFill>
            <a:srgbClr val="1F7A4D"/>
          </a:solidFill>
          <a:ln w="12700">
            <a:solidFill>
              <a:srgbClr val="1F7A4D"/>
            </a:solidFill>
            <a:prstDash val="solid"/>
          </a:ln>
        </p:spPr>
      </p:sp>
      <p:sp>
        <p:nvSpPr>
          <p:cNvPr id="24" name="Text 22"/>
          <p:cNvSpPr txBox="1"/>
          <p:nvPr/>
        </p:nvSpPr>
        <p:spPr>
          <a:xfrm>
            <a:off x="10213574"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25" name="Text 23"/>
          <p:cNvSpPr txBox="1"/>
          <p:nvPr/>
        </p:nvSpPr>
        <p:spPr>
          <a:xfrm>
            <a:off x="9607052"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Rehacer la cadena</a:t>
            </a:r>
            <a:endParaRPr lang="en-US" sz="1700" dirty="0"/>
          </a:p>
        </p:txBody>
      </p:sp>
      <p:sp>
        <p:nvSpPr>
          <p:cNvPr id="26" name="Text 24"/>
          <p:cNvSpPr txBox="1"/>
          <p:nvPr/>
        </p:nvSpPr>
        <p:spPr>
          <a:xfrm>
            <a:off x="9652772"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Reactivar PITR y lanzar un backup base nuevo.</a:t>
            </a:r>
            <a:endParaRPr lang="en-US" sz="1600" dirty="0"/>
          </a:p>
        </p:txBody>
      </p:sp>
      <p:sp>
        <p:nvSpPr>
          <p:cNvPr id="27" name="Shape 25"/>
          <p:cNvSpPr/>
          <p:nvPr/>
        </p:nvSpPr>
        <p:spPr>
          <a:xfrm>
            <a:off x="548640" y="5532120"/>
            <a:ext cx="11094415" cy="594360"/>
          </a:xfrm>
          <a:prstGeom prst="roundRect">
            <a:avLst>
              <a:gd name="adj" fmla="val 18462"/>
            </a:avLst>
          </a:prstGeom>
          <a:solidFill>
            <a:srgbClr val="E8F3EC"/>
          </a:solidFill>
          <a:ln w="12700">
            <a:solidFill>
              <a:srgbClr val="E8F3EC"/>
            </a:solidFill>
            <a:prstDash val="solid"/>
          </a:ln>
        </p:spPr>
      </p:sp>
      <p:sp>
        <p:nvSpPr>
          <p:cNvPr id="28" name="Text 26"/>
          <p:cNvSpPr txBox="1"/>
          <p:nvPr/>
        </p:nvSpPr>
        <p:spPr>
          <a:xfrm>
            <a:off x="777240" y="5532120"/>
            <a:ext cx="10637215" cy="594360"/>
          </a:xfrm>
          <a:prstGeom prst="rect">
            <a:avLst/>
          </a:prstGeom>
          <a:noFill/>
          <a:ln/>
        </p:spPr>
        <p:txBody>
          <a:bodyPr wrap="square" lIns="0" tIns="0" rIns="0" bIns="0" rtlCol="0" anchor="ctr"/>
          <a:lstStyle/>
          <a:p>
            <a:pPr indent="0" marL="0">
              <a:buNone/>
            </a:pPr>
            <a:r>
              <a:rPr lang="en-US" sz="1400" dirty="0">
                <a:solidFill>
                  <a:srgbClr val="0F2A25"/>
                </a:solidFill>
                <a:latin typeface="Calibri" pitchFamily="34" charset="0"/>
                <a:ea typeface="Calibri" pitchFamily="34" charset="-122"/>
                <a:cs typeface="Calibri" pitchFamily="34" charset="-120"/>
              </a:rPr>
              <a:t>Una restauración PITR completa lleva todo el cluster a ese instante: lo escrito después también se pierde. Valorar restaurar en un entorno aparte.</a:t>
            </a:r>
            <a:endParaRPr lang="en-US" sz="1400" dirty="0"/>
          </a:p>
        </p:txBody>
      </p:sp>
      <p:sp>
        <p:nvSpPr>
          <p:cNvPr id="29" name="Text 2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30" name="Text 2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14 / 33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PBM en la práctica</a:t>
            </a:r>
            <a:endParaRPr lang="en-US" sz="3200" dirty="0"/>
          </a:p>
        </p:txBody>
      </p:sp>
      <p:sp>
        <p:nvSpPr>
          <p:cNvPr id="3" name="Shape 1"/>
          <p:cNvSpPr/>
          <p:nvPr/>
        </p:nvSpPr>
        <p:spPr>
          <a:xfrm>
            <a:off x="548640" y="1463040"/>
            <a:ext cx="6766560" cy="4663440"/>
          </a:xfrm>
          <a:prstGeom prst="roundRect">
            <a:avLst>
              <a:gd name="adj" fmla="val 1569"/>
            </a:avLst>
          </a:prstGeom>
          <a:solidFill>
            <a:srgbClr val="11201C"/>
          </a:solidFill>
          <a:ln w="12700">
            <a:solidFill>
              <a:srgbClr val="11201C"/>
            </a:solidFill>
            <a:prstDash val="solid"/>
          </a:ln>
        </p:spPr>
      </p:sp>
      <p:sp>
        <p:nvSpPr>
          <p:cNvPr id="4" name="Text 2"/>
          <p:cNvSpPr txBox="1"/>
          <p:nvPr/>
        </p:nvSpPr>
        <p:spPr>
          <a:xfrm>
            <a:off x="777240" y="1572768"/>
            <a:ext cx="2743200" cy="274320"/>
          </a:xfrm>
          <a:prstGeom prst="rect">
            <a:avLst/>
          </a:prstGeom>
          <a:noFill/>
          <a:ln/>
        </p:spPr>
        <p:txBody>
          <a:bodyPr wrap="square" lIns="0" tIns="0" rIns="0" bIns="0" rtlCol="0" anchor="ctr"/>
          <a:lstStyle/>
          <a:p>
            <a:pPr indent="0" marL="0">
              <a:buNone/>
            </a:pPr>
            <a:r>
              <a:rPr lang="en-US" sz="1100" b="1" dirty="0">
                <a:solidFill>
                  <a:srgbClr val="F2B33D"/>
                </a:solidFill>
                <a:latin typeface="Courier New" pitchFamily="34" charset="0"/>
                <a:ea typeface="Courier New" pitchFamily="34" charset="-122"/>
                <a:cs typeface="Courier New" pitchFamily="34" charset="-120"/>
              </a:rPr>
              <a:t>bash</a:t>
            </a:r>
            <a:endParaRPr lang="en-US" sz="1100" dirty="0"/>
          </a:p>
        </p:txBody>
      </p:sp>
      <p:sp>
        <p:nvSpPr>
          <p:cNvPr id="5" name="Text 3"/>
          <p:cNvSpPr txBox="1"/>
          <p:nvPr/>
        </p:nvSpPr>
        <p:spPr>
          <a:xfrm>
            <a:off x="777240" y="1874520"/>
            <a:ext cx="6309360" cy="4114800"/>
          </a:xfrm>
          <a:prstGeom prst="rect">
            <a:avLst/>
          </a:prstGeom>
          <a:noFill/>
          <a:ln/>
        </p:spPr>
        <p:txBody>
          <a:bodyPr wrap="square" lIns="0" tIns="0" rIns="0" bIns="0" rtlCol="0" anchor="t"/>
          <a:lstStyle/>
          <a:p>
            <a:pPr indent="0" marL="0">
              <a:buNone/>
            </a:pPr>
            <a:r>
              <a:rPr lang="en-US" sz="1200" dirty="0">
                <a:solidFill>
                  <a:srgbClr val="D8F3E3"/>
                </a:solidFill>
                <a:latin typeface="Courier New" pitchFamily="34" charset="0"/>
                <a:ea typeface="Courier New" pitchFamily="34" charset="-122"/>
                <a:cs typeface="Courier New" pitchFamily="34" charset="-120"/>
              </a:rPr>
              <a:t>pbm config --file pbm-config.yaml    # almacenamiento
pbm status                           # agentes y PITR
pbm backup --type=logical --wait     # backup base
pbm list                             # backups y rangos
pbm describe-backup 2026-09-24T09:00:05Z
pbm config --set pitr.enabled=true
pbm config --set pitr.oplogSpanMin=10
pbm config --set pitr.enabled=false  # antes de restaurar
pbm restore 2026-09-24T09:00:05Z
pbm restore --time="2026-09-24T10:15:30"
pbm restore 2026-09-24T09:00:05Z --ns=tienda.pedidos
pbm logs --tail 50
pbm delete-backup --older-than 2026-09-01
</a:t>
            </a:r>
            <a:endParaRPr lang="en-US" sz="1200" dirty="0"/>
          </a:p>
        </p:txBody>
      </p:sp>
      <p:sp>
        <p:nvSpPr>
          <p:cNvPr id="6" name="Text 4"/>
          <p:cNvSpPr txBox="1"/>
          <p:nvPr/>
        </p:nvSpPr>
        <p:spPr>
          <a:xfrm>
            <a:off x="7680960" y="1463040"/>
            <a:ext cx="3962095" cy="466344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Programar </a:t>
            </a:r>
            <a:r>
              <a:rPr lang="en-US" sz="1600" b="1" dirty="0">
                <a:solidFill>
                  <a:srgbClr val="1C2B27"/>
                </a:solidFill>
                <a:latin typeface="Calibri" pitchFamily="34" charset="0"/>
                <a:ea typeface="Calibri" pitchFamily="34" charset="-122"/>
                <a:cs typeface="Calibri" pitchFamily="34" charset="-120"/>
              </a:rPr>
              <a:t>pbm backup</a:t>
            </a:r>
            <a:r>
              <a:rPr lang="en-US" sz="1600" dirty="0">
                <a:solidFill>
                  <a:srgbClr val="1C2B27"/>
                </a:solidFill>
                <a:latin typeface="Calibri" pitchFamily="34" charset="0"/>
                <a:ea typeface="Calibri" pitchFamily="34" charset="-122"/>
                <a:cs typeface="Calibri" pitchFamily="34" charset="-120"/>
              </a:rPr>
              <a:t> con cron o con el planificador de la empresa</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Retención con </a:t>
            </a:r>
            <a:r>
              <a:rPr lang="en-US" sz="1600" b="1" dirty="0">
                <a:solidFill>
                  <a:srgbClr val="1C2B27"/>
                </a:solidFill>
                <a:latin typeface="Calibri" pitchFamily="34" charset="0"/>
                <a:ea typeface="Calibri" pitchFamily="34" charset="-122"/>
                <a:cs typeface="Calibri" pitchFamily="34" charset="-120"/>
              </a:rPr>
              <a:t>delete-backup</a:t>
            </a:r>
            <a:r>
              <a:rPr lang="en-US" sz="1600" dirty="0">
                <a:solidFill>
                  <a:srgbClr val="1C2B27"/>
                </a:solidFill>
                <a:latin typeface="Calibri" pitchFamily="34" charset="0"/>
                <a:ea typeface="Calibri" pitchFamily="34" charset="-122"/>
                <a:cs typeface="Calibri" pitchFamily="34" charset="-120"/>
              </a:rPr>
              <a:t> y </a:t>
            </a:r>
            <a:r>
              <a:rPr lang="en-US" sz="1600" b="1" dirty="0">
                <a:solidFill>
                  <a:srgbClr val="1C2B27"/>
                </a:solidFill>
                <a:latin typeface="Calibri" pitchFamily="34" charset="0"/>
                <a:ea typeface="Calibri" pitchFamily="34" charset="-122"/>
                <a:cs typeface="Calibri" pitchFamily="34" charset="-120"/>
              </a:rPr>
              <a:t>delete-pitr</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Usuario de PBM con roles </a:t>
            </a:r>
            <a:r>
              <a:rPr lang="en-US" sz="1600" b="1" dirty="0">
                <a:solidFill>
                  <a:srgbClr val="1C2B27"/>
                </a:solidFill>
                <a:latin typeface="Calibri" pitchFamily="34" charset="0"/>
                <a:ea typeface="Calibri" pitchFamily="34" charset="-122"/>
                <a:cs typeface="Calibri" pitchFamily="34" charset="-120"/>
              </a:rPr>
              <a:t>backup</a:t>
            </a:r>
            <a:r>
              <a:rPr lang="en-US" sz="1600" dirty="0">
                <a:solidFill>
                  <a:srgbClr val="1C2B27"/>
                </a:solidFill>
                <a:latin typeface="Calibri" pitchFamily="34" charset="0"/>
                <a:ea typeface="Calibri" pitchFamily="34" charset="-122"/>
                <a:cs typeface="Calibri" pitchFamily="34" charset="-120"/>
              </a:rPr>
              <a:t>, </a:t>
            </a:r>
            <a:r>
              <a:rPr lang="en-US" sz="1600" b="1" dirty="0">
                <a:solidFill>
                  <a:srgbClr val="1C2B27"/>
                </a:solidFill>
                <a:latin typeface="Calibri" pitchFamily="34" charset="0"/>
                <a:ea typeface="Calibri" pitchFamily="34" charset="-122"/>
                <a:cs typeface="Calibri" pitchFamily="34" charset="-120"/>
              </a:rPr>
              <a:t>restore</a:t>
            </a:r>
            <a:r>
              <a:rPr lang="en-US" sz="1600" dirty="0">
                <a:solidFill>
                  <a:srgbClr val="1C2B27"/>
                </a:solidFill>
                <a:latin typeface="Calibri" pitchFamily="34" charset="0"/>
                <a:ea typeface="Calibri" pitchFamily="34" charset="-122"/>
                <a:cs typeface="Calibri" pitchFamily="34" charset="-120"/>
              </a:rPr>
              <a:t>, </a:t>
            </a:r>
            <a:r>
              <a:rPr lang="en-US" sz="1600" b="1" dirty="0">
                <a:solidFill>
                  <a:srgbClr val="1C2B27"/>
                </a:solidFill>
                <a:latin typeface="Calibri" pitchFamily="34" charset="0"/>
                <a:ea typeface="Calibri" pitchFamily="34" charset="-122"/>
                <a:cs typeface="Calibri" pitchFamily="34" charset="-120"/>
              </a:rPr>
              <a:t>clusterMonitor</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Vigilar </a:t>
            </a:r>
            <a:r>
              <a:rPr lang="en-US" sz="1600" b="1" dirty="0">
                <a:solidFill>
                  <a:srgbClr val="1C2B27"/>
                </a:solidFill>
                <a:latin typeface="Calibri" pitchFamily="34" charset="0"/>
                <a:ea typeface="Calibri" pitchFamily="34" charset="-122"/>
                <a:cs typeface="Calibri" pitchFamily="34" charset="-120"/>
              </a:rPr>
              <a:t>pbm status</a:t>
            </a:r>
            <a:r>
              <a:rPr lang="en-US" sz="1600" dirty="0">
                <a:solidFill>
                  <a:srgbClr val="1C2B27"/>
                </a:solidFill>
                <a:latin typeface="Calibri" pitchFamily="34" charset="0"/>
                <a:ea typeface="Calibri" pitchFamily="34" charset="-122"/>
                <a:cs typeface="Calibri" pitchFamily="34" charset="-120"/>
              </a:rPr>
              <a:t> desde la monitorización</a:t>
            </a:r>
            <a:endParaRPr lang="en-US" sz="1600" dirty="0"/>
          </a:p>
        </p:txBody>
      </p:sp>
      <p:sp>
        <p:nvSpPr>
          <p:cNvPr id="7" name="Text 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8" name="Text 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15 / 33</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Estrategia de backup: checklist</a:t>
            </a:r>
            <a:endParaRPr lang="en-US" sz="3200" dirty="0"/>
          </a:p>
        </p:txBody>
      </p:sp>
      <p:sp>
        <p:nvSpPr>
          <p:cNvPr id="3" name="Text 1"/>
          <p:cNvSpPr txBox="1"/>
          <p:nvPr/>
        </p:nvSpPr>
        <p:spPr>
          <a:xfrm>
            <a:off x="548640" y="1463040"/>
            <a:ext cx="6949440" cy="4663440"/>
          </a:xfrm>
          <a:prstGeom prst="rect">
            <a:avLst/>
          </a:prstGeom>
          <a:noFill/>
          <a:ln/>
        </p:spPr>
        <p:txBody>
          <a:bodyPr wrap="square" lIns="0" tIns="0" rIns="0" bIns="0" rtlCol="0" anchor="t"/>
          <a:lstStyle/>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RPO y RTO </a:t>
            </a:r>
            <a:r>
              <a:rPr lang="en-US" sz="2000" b="1" dirty="0">
                <a:solidFill>
                  <a:srgbClr val="1C2B27"/>
                </a:solidFill>
                <a:latin typeface="Calibri" pitchFamily="34" charset="0"/>
                <a:ea typeface="Calibri" pitchFamily="34" charset="-122"/>
                <a:cs typeface="Calibri" pitchFamily="34" charset="-120"/>
              </a:rPr>
              <a:t>acordados por escrito</a:t>
            </a:r>
            <a:r>
              <a:rPr lang="en-US" sz="2000" dirty="0">
                <a:solidFill>
                  <a:srgbClr val="1C2B27"/>
                </a:solidFill>
                <a:latin typeface="Calibri" pitchFamily="34" charset="0"/>
                <a:ea typeface="Calibri" pitchFamily="34" charset="-122"/>
                <a:cs typeface="Calibri" pitchFamily="34" charset="-120"/>
              </a:rPr>
              <a:t> con negocio</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Backup base + </a:t>
            </a:r>
            <a:r>
              <a:rPr lang="en-US" sz="2000" b="1" dirty="0">
                <a:solidFill>
                  <a:srgbClr val="1C2B27"/>
                </a:solidFill>
                <a:latin typeface="Calibri" pitchFamily="34" charset="0"/>
                <a:ea typeface="Calibri" pitchFamily="34" charset="-122"/>
                <a:cs typeface="Calibri" pitchFamily="34" charset="-120"/>
              </a:rPr>
              <a:t>PITR</a:t>
            </a:r>
            <a:r>
              <a:rPr lang="en-US" sz="2000" dirty="0">
                <a:solidFill>
                  <a:srgbClr val="1C2B27"/>
                </a:solidFill>
                <a:latin typeface="Calibri" pitchFamily="34" charset="0"/>
                <a:ea typeface="Calibri" pitchFamily="34" charset="-122"/>
                <a:cs typeface="Calibri" pitchFamily="34" charset="-120"/>
              </a:rPr>
              <a:t> para RPO de minutos o segundos</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Copias </a:t>
            </a:r>
            <a:r>
              <a:rPr lang="en-US" sz="2000" b="1" dirty="0">
                <a:solidFill>
                  <a:srgbClr val="1C2B27"/>
                </a:solidFill>
                <a:latin typeface="Calibri" pitchFamily="34" charset="0"/>
                <a:ea typeface="Calibri" pitchFamily="34" charset="-122"/>
                <a:cs typeface="Calibri" pitchFamily="34" charset="-120"/>
              </a:rPr>
              <a:t>fuera del sitio</a:t>
            </a:r>
            <a:r>
              <a:rPr lang="en-US" sz="2000" dirty="0">
                <a:solidFill>
                  <a:srgbClr val="1C2B27"/>
                </a:solidFill>
                <a:latin typeface="Calibri" pitchFamily="34" charset="0"/>
                <a:ea typeface="Calibri" pitchFamily="34" charset="-122"/>
                <a:cs typeface="Calibri" pitchFamily="34" charset="-120"/>
              </a:rPr>
              <a:t> y al menos una </a:t>
            </a:r>
            <a:r>
              <a:rPr lang="en-US" sz="2000" b="1" dirty="0">
                <a:solidFill>
                  <a:srgbClr val="1C2B27"/>
                </a:solidFill>
                <a:latin typeface="Calibri" pitchFamily="34" charset="0"/>
                <a:ea typeface="Calibri" pitchFamily="34" charset="-122"/>
                <a:cs typeface="Calibri" pitchFamily="34" charset="-120"/>
              </a:rPr>
              <a:t>inmutable</a:t>
            </a:r>
            <a:r>
              <a:rPr lang="en-US" sz="2000" dirty="0">
                <a:solidFill>
                  <a:srgbClr val="1C2B27"/>
                </a:solidFill>
                <a:latin typeface="Calibri" pitchFamily="34" charset="0"/>
                <a:ea typeface="Calibri" pitchFamily="34" charset="-122"/>
                <a:cs typeface="Calibri" pitchFamily="34" charset="-120"/>
              </a:rPr>
              <a:t> (object lock)</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Backups </a:t>
            </a:r>
            <a:r>
              <a:rPr lang="en-US" sz="2000" b="1" dirty="0">
                <a:solidFill>
                  <a:srgbClr val="1C2B27"/>
                </a:solidFill>
                <a:latin typeface="Calibri" pitchFamily="34" charset="0"/>
                <a:ea typeface="Calibri" pitchFamily="34" charset="-122"/>
                <a:cs typeface="Calibri" pitchFamily="34" charset="-120"/>
              </a:rPr>
              <a:t>cifrados</a:t>
            </a:r>
            <a:r>
              <a:rPr lang="en-US" sz="2000" dirty="0">
                <a:solidFill>
                  <a:srgbClr val="1C2B27"/>
                </a:solidFill>
                <a:latin typeface="Calibri" pitchFamily="34" charset="0"/>
                <a:ea typeface="Calibri" pitchFamily="34" charset="-122"/>
                <a:cs typeface="Calibri" pitchFamily="34" charset="-120"/>
              </a:rPr>
              <a:t> y con acceso restringido</a:t>
            </a:r>
            <a:endParaRPr lang="en-US" sz="2000" dirty="0"/>
          </a:p>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Retención</a:t>
            </a:r>
            <a:r>
              <a:rPr lang="en-US" sz="2000" dirty="0">
                <a:solidFill>
                  <a:srgbClr val="1C2B27"/>
                </a:solidFill>
                <a:latin typeface="Calibri" pitchFamily="34" charset="0"/>
                <a:ea typeface="Calibri" pitchFamily="34" charset="-122"/>
                <a:cs typeface="Calibri" pitchFamily="34" charset="-120"/>
              </a:rPr>
              <a:t> definida (diaria, semanal, mensual) y automatizada</a:t>
            </a:r>
            <a:endParaRPr lang="en-US" sz="2000" dirty="0"/>
          </a:p>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Alertas</a:t>
            </a:r>
            <a:r>
              <a:rPr lang="en-US" sz="2000" dirty="0">
                <a:solidFill>
                  <a:srgbClr val="1C2B27"/>
                </a:solidFill>
                <a:latin typeface="Calibri" pitchFamily="34" charset="0"/>
                <a:ea typeface="Calibri" pitchFamily="34" charset="-122"/>
                <a:cs typeface="Calibri" pitchFamily="34" charset="-120"/>
              </a:rPr>
              <a:t> si un backup falla o no se ejecuta</a:t>
            </a:r>
            <a:endParaRPr lang="en-US" sz="2000" dirty="0"/>
          </a:p>
          <a:p>
            <a:pPr marL="254000" indent="-254000">
              <a:spcAft>
                <a:spcPts val="1000"/>
              </a:spcAft>
              <a:buSzPct val="100000"/>
              <a:buChar char="●"/>
            </a:pPr>
            <a:r>
              <a:rPr lang="en-US" sz="2000" b="1" dirty="0">
                <a:solidFill>
                  <a:srgbClr val="1C2B27"/>
                </a:solidFill>
                <a:latin typeface="Calibri" pitchFamily="34" charset="0"/>
                <a:ea typeface="Calibri" pitchFamily="34" charset="-122"/>
                <a:cs typeface="Calibri" pitchFamily="34" charset="-120"/>
              </a:rPr>
              <a:t>Simulacros de restauración</a:t>
            </a:r>
            <a:r>
              <a:rPr lang="en-US" sz="2000" dirty="0">
                <a:solidFill>
                  <a:srgbClr val="1C2B27"/>
                </a:solidFill>
                <a:latin typeface="Calibri" pitchFamily="34" charset="0"/>
                <a:ea typeface="Calibri" pitchFamily="34" charset="-122"/>
                <a:cs typeface="Calibri" pitchFamily="34" charset="-120"/>
              </a:rPr>
              <a:t> periódicos, cronometrados y documentados</a:t>
            </a:r>
            <a:endParaRPr lang="en-US" sz="2000" dirty="0"/>
          </a:p>
        </p:txBody>
      </p:sp>
      <p:sp>
        <p:nvSpPr>
          <p:cNvPr id="4" name="Shape 2"/>
          <p:cNvSpPr/>
          <p:nvPr/>
        </p:nvSpPr>
        <p:spPr>
          <a:xfrm>
            <a:off x="7863840" y="1463040"/>
            <a:ext cx="3779215" cy="4206240"/>
          </a:xfrm>
          <a:prstGeom prst="roundRect">
            <a:avLst>
              <a:gd name="adj" fmla="val 2903"/>
            </a:avLst>
          </a:prstGeom>
          <a:solidFill>
            <a:srgbClr val="E8F3EC"/>
          </a:solidFill>
          <a:ln w="12700">
            <a:solidFill>
              <a:srgbClr val="E8F3EC"/>
            </a:solidFill>
            <a:prstDash val="solid"/>
          </a:ln>
        </p:spPr>
      </p:sp>
      <p:sp>
        <p:nvSpPr>
          <p:cNvPr id="5" name="Shape 3"/>
          <p:cNvSpPr/>
          <p:nvPr/>
        </p:nvSpPr>
        <p:spPr>
          <a:xfrm>
            <a:off x="8138160" y="1737360"/>
            <a:ext cx="548640" cy="548640"/>
          </a:xfrm>
          <a:prstGeom prst="ellipse">
            <a:avLst/>
          </a:prstGeom>
          <a:solidFill>
            <a:srgbClr val="1F7A4D"/>
          </a:solidFill>
          <a:ln w="12700">
            <a:solidFill>
              <a:srgbClr val="1F7A4D"/>
            </a:solidFill>
            <a:prstDash val="solid"/>
          </a:ln>
        </p:spPr>
      </p:sp>
      <p:sp>
        <p:nvSpPr>
          <p:cNvPr id="6" name="Text 4"/>
          <p:cNvSpPr txBox="1"/>
          <p:nvPr/>
        </p:nvSpPr>
        <p:spPr>
          <a:xfrm>
            <a:off x="813816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5"/>
          <p:cNvSpPr txBox="1"/>
          <p:nvPr/>
        </p:nvSpPr>
        <p:spPr>
          <a:xfrm>
            <a:off x="8823960" y="1737360"/>
            <a:ext cx="2590495"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La regla de oro</a:t>
            </a:r>
            <a:endParaRPr lang="en-US" sz="1800" dirty="0"/>
          </a:p>
        </p:txBody>
      </p:sp>
      <p:sp>
        <p:nvSpPr>
          <p:cNvPr id="8" name="Text 6"/>
          <p:cNvSpPr txBox="1"/>
          <p:nvPr/>
        </p:nvSpPr>
        <p:spPr>
          <a:xfrm>
            <a:off x="8138160" y="2468880"/>
            <a:ext cx="3230575" cy="3017520"/>
          </a:xfrm>
          <a:prstGeom prst="rect">
            <a:avLst/>
          </a:prstGeom>
          <a:noFill/>
          <a:ln/>
        </p:spPr>
        <p:txBody>
          <a:bodyPr wrap="square" lIns="0" tIns="0" rIns="0" bIns="0" rtlCol="0" anchor="t"/>
          <a:lstStyle/>
          <a:p>
            <a:pPr indent="0" marL="0">
              <a:buNone/>
            </a:pPr>
            <a:r>
              <a:rPr lang="en-US" sz="1700" dirty="0">
                <a:solidFill>
                  <a:srgbClr val="1C2B27"/>
                </a:solidFill>
                <a:latin typeface="Calibri" pitchFamily="34" charset="0"/>
                <a:ea typeface="Calibri" pitchFamily="34" charset="-122"/>
                <a:cs typeface="Calibri" pitchFamily="34" charset="-120"/>
              </a:rPr>
              <a:t>Un backup que no se ha restaurado nunca no es un backup, es una hipótesis. Programad una restauración de prueba al mes, automatizadla si podéis, y medid el tiempo real.</a:t>
            </a:r>
            <a:endParaRPr lang="en-US" sz="1700" dirty="0"/>
          </a:p>
        </p:txBody>
      </p:sp>
      <p:sp>
        <p:nvSpPr>
          <p:cNvPr id="9" name="Text 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10" name="Text 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16 / 33</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8F3EC"/>
        </a:solidFill>
      </p:bgPr>
    </p:bg>
    <p:spTree>
      <p:nvGrpSpPr>
        <p:cNvPr id="1" name=""/>
        <p:cNvGrpSpPr/>
        <p:nvPr/>
      </p:nvGrpSpPr>
      <p:grpSpPr>
        <a:xfrm>
          <a:off x="0" y="0"/>
          <a:ext cx="0" cy="0"/>
          <a:chOff x="0" y="0"/>
          <a:chExt cx="0" cy="0"/>
        </a:xfrm>
      </p:grpSpPr>
      <p:sp>
        <p:nvSpPr>
          <p:cNvPr id="2" name="Shape 0"/>
          <p:cNvSpPr/>
          <p:nvPr/>
        </p:nvSpPr>
        <p:spPr>
          <a:xfrm>
            <a:off x="548640" y="457200"/>
            <a:ext cx="2651760" cy="457200"/>
          </a:xfrm>
          <a:prstGeom prst="roundRect">
            <a:avLst>
              <a:gd name="adj" fmla="val 50000"/>
            </a:avLst>
          </a:prstGeom>
          <a:solidFill>
            <a:srgbClr val="F2B33D"/>
          </a:solidFill>
          <a:ln w="12700">
            <a:solidFill>
              <a:srgbClr val="F2B33D"/>
            </a:solidFill>
            <a:prstDash val="solid"/>
          </a:ln>
        </p:spPr>
      </p:sp>
      <p:sp>
        <p:nvSpPr>
          <p:cNvPr id="3" name="Text 1"/>
          <p:cNvSpPr txBox="1"/>
          <p:nvPr/>
        </p:nvSpPr>
        <p:spPr>
          <a:xfrm>
            <a:off x="548640" y="457200"/>
            <a:ext cx="2651760" cy="457200"/>
          </a:xfrm>
          <a:prstGeom prst="rect">
            <a:avLst/>
          </a:prstGeom>
          <a:noFill/>
          <a:ln/>
        </p:spPr>
        <p:txBody>
          <a:bodyPr wrap="square" lIns="0" tIns="0" rIns="0" bIns="0" rtlCol="0" anchor="ctr"/>
          <a:lstStyle/>
          <a:p>
            <a:pPr algn="ctr" indent="0" marL="0">
              <a:buNone/>
            </a:pPr>
            <a:r>
              <a:rPr lang="en-US" sz="1400" b="1" spc="200" kern="0" dirty="0">
                <a:solidFill>
                  <a:srgbClr val="0F2A25"/>
                </a:solidFill>
                <a:latin typeface="Calibri" pitchFamily="34" charset="0"/>
                <a:ea typeface="Calibri" pitchFamily="34" charset="-122"/>
                <a:cs typeface="Calibri" pitchFamily="34" charset="-120"/>
              </a:rPr>
              <a:t>LABORATORIO 12</a:t>
            </a:r>
            <a:endParaRPr lang="en-US" sz="1400" dirty="0"/>
          </a:p>
        </p:txBody>
      </p:sp>
      <p:sp>
        <p:nvSpPr>
          <p:cNvPr id="4" name="Text 2"/>
          <p:cNvSpPr txBox="1"/>
          <p:nvPr/>
        </p:nvSpPr>
        <p:spPr>
          <a:xfrm>
            <a:off x="548640" y="1097280"/>
            <a:ext cx="11094415" cy="822960"/>
          </a:xfrm>
          <a:prstGeom prst="rect">
            <a:avLst/>
          </a:prstGeom>
          <a:noFill/>
          <a:ln/>
        </p:spPr>
        <p:txBody>
          <a:bodyPr wrap="square" lIns="0" tIns="0" rIns="0" bIns="0" rtlCol="0" anchor="t"/>
          <a:lstStyle/>
          <a:p>
            <a:pPr indent="0" marL="0">
              <a:buNone/>
            </a:pPr>
            <a:r>
              <a:rPr lang="en-US" sz="3400" b="1" dirty="0">
                <a:solidFill>
                  <a:srgbClr val="0F2A25"/>
                </a:solidFill>
                <a:latin typeface="Cambria" pitchFamily="34" charset="0"/>
                <a:ea typeface="Cambria" pitchFamily="34" charset="-122"/>
                <a:cs typeface="Cambria" pitchFamily="34" charset="-120"/>
              </a:rPr>
              <a:t>PBM y recuperación a un instante (PITR)</a:t>
            </a:r>
            <a:endParaRPr lang="en-US" sz="3400" dirty="0"/>
          </a:p>
        </p:txBody>
      </p:sp>
      <p:sp>
        <p:nvSpPr>
          <p:cNvPr id="5" name="Shape 3"/>
          <p:cNvSpPr/>
          <p:nvPr/>
        </p:nvSpPr>
        <p:spPr>
          <a:xfrm>
            <a:off x="548640" y="2103120"/>
            <a:ext cx="7223760" cy="3977640"/>
          </a:xfrm>
          <a:prstGeom prst="roundRect">
            <a:avLst>
              <a:gd name="adj" fmla="val 2759"/>
            </a:avLst>
          </a:prstGeom>
          <a:solidFill>
            <a:srgbClr val="FFFFFF"/>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2240280"/>
            <a:ext cx="6675120" cy="411480"/>
          </a:xfrm>
          <a:prstGeom prst="rect">
            <a:avLst/>
          </a:prstGeom>
          <a:noFill/>
          <a:ln/>
        </p:spPr>
        <p:txBody>
          <a:bodyPr wrap="square" lIns="0" tIns="0" rIns="0" bIns="0" rtlCol="0" anchor="ctr"/>
          <a:lstStyle/>
          <a:p>
            <a:pPr indent="0" marL="0">
              <a:buNone/>
            </a:pPr>
            <a:r>
              <a:rPr lang="en-US" sz="1800" b="1" dirty="0">
                <a:solidFill>
                  <a:srgbClr val="1F7A4D"/>
                </a:solidFill>
                <a:latin typeface="Cambria" pitchFamily="34" charset="0"/>
                <a:ea typeface="Cambria" pitchFamily="34" charset="-122"/>
                <a:cs typeface="Cambria" pitchFamily="34" charset="-120"/>
              </a:rPr>
              <a:t>Qué vas a hacer</a:t>
            </a:r>
            <a:endParaRPr lang="en-US" sz="1800" dirty="0"/>
          </a:p>
        </p:txBody>
      </p:sp>
      <p:sp>
        <p:nvSpPr>
          <p:cNvPr id="7" name="Text 5"/>
          <p:cNvSpPr txBox="1"/>
          <p:nvPr/>
        </p:nvSpPr>
        <p:spPr>
          <a:xfrm>
            <a:off x="822960" y="2697480"/>
            <a:ext cx="6675120" cy="3246120"/>
          </a:xfrm>
          <a:prstGeom prst="rect">
            <a:avLst/>
          </a:prstGeom>
          <a:noFill/>
          <a:ln/>
        </p:spPr>
        <p:txBody>
          <a:bodyPr wrap="square" lIns="0" tIns="0" rIns="0" bIns="0" rtlCol="0" anchor="t"/>
          <a:lstStyle/>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Crear el usuario de PBM y arrancar un pbm-agent por nodo</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Configurar almacenamiento filesystem y comprobar pbm status</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Lanzar un backup lógico y listar los backups</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Activar PITR, simular un borrado masivo y anotar la hora exacta</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Restaurar al segundo anterior al accidente y rehacer la cadena</a:t>
            </a:r>
            <a:endParaRPr lang="en-US" sz="1900" dirty="0"/>
          </a:p>
        </p:txBody>
      </p:sp>
      <p:sp>
        <p:nvSpPr>
          <p:cNvPr id="8" name="Shape 6"/>
          <p:cNvSpPr/>
          <p:nvPr/>
        </p:nvSpPr>
        <p:spPr>
          <a:xfrm>
            <a:off x="8138160" y="2103120"/>
            <a:ext cx="3504895" cy="1143000"/>
          </a:xfrm>
          <a:prstGeom prst="roundRect">
            <a:avLst>
              <a:gd name="adj" fmla="val 9600"/>
            </a:avLst>
          </a:prstGeom>
          <a:solidFill>
            <a:srgbClr val="0F2A25"/>
          </a:solidFill>
          <a:ln w="12700">
            <a:solidFill>
              <a:srgbClr val="0F2A25"/>
            </a:solidFill>
            <a:prstDash val="solid"/>
          </a:ln>
        </p:spPr>
      </p:sp>
      <p:sp>
        <p:nvSpPr>
          <p:cNvPr id="9" name="Text 7"/>
          <p:cNvSpPr txBox="1"/>
          <p:nvPr/>
        </p:nvSpPr>
        <p:spPr>
          <a:xfrm>
            <a:off x="8366760" y="2240280"/>
            <a:ext cx="3047695" cy="274320"/>
          </a:xfrm>
          <a:prstGeom prst="rect">
            <a:avLst/>
          </a:prstGeom>
          <a:noFill/>
          <a:ln/>
        </p:spPr>
        <p:txBody>
          <a:bodyPr wrap="square" lIns="0" tIns="0" rIns="0" bIns="0" rtlCol="0" anchor="ctr"/>
          <a:lstStyle/>
          <a:p>
            <a:pPr indent="0" marL="0">
              <a:buNone/>
            </a:pPr>
            <a:r>
              <a:rPr lang="en-US" sz="1100" b="1" spc="200" kern="0" dirty="0">
                <a:solidFill>
                  <a:srgbClr val="F2B33D"/>
                </a:solidFill>
                <a:latin typeface="Calibri" pitchFamily="34" charset="0"/>
                <a:ea typeface="Calibri" pitchFamily="34" charset="-122"/>
                <a:cs typeface="Calibri" pitchFamily="34" charset="-120"/>
              </a:rPr>
              <a:t>DURACIÓN</a:t>
            </a:r>
            <a:endParaRPr lang="en-US" sz="1100" dirty="0"/>
          </a:p>
        </p:txBody>
      </p:sp>
      <p:sp>
        <p:nvSpPr>
          <p:cNvPr id="10" name="Text 8"/>
          <p:cNvSpPr txBox="1"/>
          <p:nvPr/>
        </p:nvSpPr>
        <p:spPr>
          <a:xfrm>
            <a:off x="8366760" y="2514600"/>
            <a:ext cx="3047695" cy="64008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35 min</a:t>
            </a:r>
            <a:endParaRPr lang="en-US" sz="2600" dirty="0"/>
          </a:p>
        </p:txBody>
      </p:sp>
      <p:sp>
        <p:nvSpPr>
          <p:cNvPr id="11" name="Shape 9"/>
          <p:cNvSpPr/>
          <p:nvPr/>
        </p:nvSpPr>
        <p:spPr>
          <a:xfrm>
            <a:off x="8138160" y="3474720"/>
            <a:ext cx="3504895" cy="1143000"/>
          </a:xfrm>
          <a:prstGeom prst="roundRect">
            <a:avLst>
              <a:gd name="adj" fmla="val 9600"/>
            </a:avLst>
          </a:prstGeom>
          <a:solidFill>
            <a:srgbClr val="FFFFFF"/>
          </a:solidFill>
          <a:ln w="12700">
            <a:solidFill>
              <a:srgbClr val="D5DDD9"/>
            </a:solidFill>
            <a:prstDash val="solid"/>
          </a:ln>
        </p:spPr>
      </p:sp>
      <p:sp>
        <p:nvSpPr>
          <p:cNvPr id="12" name="Text 10"/>
          <p:cNvSpPr txBox="1"/>
          <p:nvPr/>
        </p:nvSpPr>
        <p:spPr>
          <a:xfrm>
            <a:off x="8366760" y="36118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CARPETA</a:t>
            </a:r>
            <a:endParaRPr lang="en-US" sz="1100" dirty="0"/>
          </a:p>
        </p:txBody>
      </p:sp>
      <p:sp>
        <p:nvSpPr>
          <p:cNvPr id="13" name="Text 11"/>
          <p:cNvSpPr txBox="1"/>
          <p:nvPr/>
        </p:nvSpPr>
        <p:spPr>
          <a:xfrm>
            <a:off x="8366760" y="38862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entorno/</a:t>
            </a:r>
            <a:endParaRPr lang="en-US" sz="1300" dirty="0"/>
          </a:p>
        </p:txBody>
      </p:sp>
      <p:sp>
        <p:nvSpPr>
          <p:cNvPr id="14" name="Shape 12"/>
          <p:cNvSpPr/>
          <p:nvPr/>
        </p:nvSpPr>
        <p:spPr>
          <a:xfrm>
            <a:off x="8138160" y="4846320"/>
            <a:ext cx="3504895" cy="1143000"/>
          </a:xfrm>
          <a:prstGeom prst="roundRect">
            <a:avLst>
              <a:gd name="adj" fmla="val 9600"/>
            </a:avLst>
          </a:prstGeom>
          <a:solidFill>
            <a:srgbClr val="FFFFFF"/>
          </a:solidFill>
          <a:ln w="12700">
            <a:solidFill>
              <a:srgbClr val="D5DDD9"/>
            </a:solidFill>
            <a:prstDash val="solid"/>
          </a:ln>
        </p:spPr>
      </p:sp>
      <p:sp>
        <p:nvSpPr>
          <p:cNvPr id="15" name="Text 13"/>
          <p:cNvSpPr txBox="1"/>
          <p:nvPr/>
        </p:nvSpPr>
        <p:spPr>
          <a:xfrm>
            <a:off x="8366760" y="49834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GUÍA</a:t>
            </a:r>
            <a:endParaRPr lang="en-US" sz="1100" dirty="0"/>
          </a:p>
        </p:txBody>
      </p:sp>
      <p:sp>
        <p:nvSpPr>
          <p:cNvPr id="16" name="Text 14"/>
          <p:cNvSpPr txBox="1"/>
          <p:nvPr/>
        </p:nvSpPr>
        <p:spPr>
          <a:xfrm>
            <a:off x="8366760" y="52578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dia4/lab12-pbm/README.md</a:t>
            </a:r>
            <a:endParaRPr lang="en-US" sz="1300" dirty="0"/>
          </a:p>
        </p:txBody>
      </p:sp>
      <p:sp>
        <p:nvSpPr>
          <p:cNvPr id="17" name="Text 1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18" name="Text 1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17 / 33</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2A25"/>
        </a:solidFill>
      </p:bgPr>
    </p:bg>
    <p:spTree>
      <p:nvGrpSpPr>
        <p:cNvPr id="1" name=""/>
        <p:cNvGrpSpPr/>
        <p:nvPr/>
      </p:nvGrpSpPr>
      <p:grpSpPr>
        <a:xfrm>
          <a:off x="0" y="0"/>
          <a:ext cx="0" cy="0"/>
          <a:chOff x="0" y="0"/>
          <a:chExt cx="0" cy="0"/>
        </a:xfrm>
      </p:grpSpPr>
      <p:sp>
        <p:nvSpPr>
          <p:cNvPr id="2" name="Shape 0"/>
          <p:cNvSpPr/>
          <p:nvPr/>
        </p:nvSpPr>
        <p:spPr>
          <a:xfrm>
            <a:off x="548640" y="1280160"/>
            <a:ext cx="1463040" cy="1463040"/>
          </a:xfrm>
          <a:prstGeom prst="ellipse">
            <a:avLst/>
          </a:prstGeom>
          <a:solidFill>
            <a:srgbClr val="F2B33D"/>
          </a:solidFill>
          <a:ln w="12700">
            <a:solidFill>
              <a:srgbClr val="F2B33D"/>
            </a:solidFill>
            <a:prstDash val="solid"/>
          </a:ln>
        </p:spPr>
      </p:sp>
      <p:sp>
        <p:nvSpPr>
          <p:cNvPr id="3" name="Text 1"/>
          <p:cNvSpPr txBox="1"/>
          <p:nvPr/>
        </p:nvSpPr>
        <p:spPr>
          <a:xfrm>
            <a:off x="548640" y="1280160"/>
            <a:ext cx="1463040" cy="1463040"/>
          </a:xfrm>
          <a:prstGeom prst="rect">
            <a:avLst/>
          </a:prstGeom>
          <a:noFill/>
          <a:ln/>
        </p:spPr>
        <p:txBody>
          <a:bodyPr wrap="square" lIns="0" tIns="0" rIns="0" bIns="0" rtlCol="0" anchor="ctr"/>
          <a:lstStyle/>
          <a:p>
            <a:pPr algn="ctr" indent="0" marL="0">
              <a:buNone/>
            </a:pPr>
            <a:r>
              <a:rPr lang="en-US" sz="4000" b="1" dirty="0">
                <a:solidFill>
                  <a:srgbClr val="0F2A25"/>
                </a:solidFill>
                <a:latin typeface="Cambria" pitchFamily="34" charset="0"/>
                <a:ea typeface="Cambria" pitchFamily="34" charset="-122"/>
                <a:cs typeface="Cambria" pitchFamily="34" charset="-120"/>
              </a:rPr>
              <a:t>13</a:t>
            </a:r>
            <a:endParaRPr lang="en-US" sz="4000" dirty="0"/>
          </a:p>
        </p:txBody>
      </p:sp>
      <p:sp>
        <p:nvSpPr>
          <p:cNvPr id="4" name="Text 2"/>
          <p:cNvSpPr txBox="1"/>
          <p:nvPr/>
        </p:nvSpPr>
        <p:spPr>
          <a:xfrm>
            <a:off x="2377440" y="1325880"/>
            <a:ext cx="8229600" cy="365760"/>
          </a:xfrm>
          <a:prstGeom prst="rect">
            <a:avLst/>
          </a:prstGeom>
          <a:noFill/>
          <a:ln/>
        </p:spPr>
        <p:txBody>
          <a:bodyPr wrap="square" lIns="0" tIns="0" rIns="0" bIns="0" rtlCol="0" anchor="ctr"/>
          <a:lstStyle/>
          <a:p>
            <a:pPr indent="0" marL="0">
              <a:buNone/>
            </a:pPr>
            <a:r>
              <a:rPr lang="en-US" sz="1400" b="1" spc="400" kern="0" dirty="0">
                <a:solidFill>
                  <a:srgbClr val="F2B33D"/>
                </a:solidFill>
                <a:latin typeface="Calibri" pitchFamily="34" charset="0"/>
                <a:ea typeface="Calibri" pitchFamily="34" charset="-122"/>
                <a:cs typeface="Calibri" pitchFamily="34" charset="-120"/>
              </a:rPr>
              <a:t>MÓDULO</a:t>
            </a:r>
            <a:endParaRPr lang="en-US" sz="1400" dirty="0"/>
          </a:p>
        </p:txBody>
      </p:sp>
      <p:sp>
        <p:nvSpPr>
          <p:cNvPr id="5" name="Text 3"/>
          <p:cNvSpPr txBox="1"/>
          <p:nvPr/>
        </p:nvSpPr>
        <p:spPr>
          <a:xfrm>
            <a:off x="2377440" y="1691640"/>
            <a:ext cx="9144000" cy="9144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Monitorización y alertas</a:t>
            </a:r>
            <a:endParaRPr lang="en-US" sz="4000" dirty="0"/>
          </a:p>
        </p:txBody>
      </p:sp>
      <p:sp>
        <p:nvSpPr>
          <p:cNvPr id="6" name="Text 4"/>
          <p:cNvSpPr txBox="1"/>
          <p:nvPr/>
        </p:nvSpPr>
        <p:spPr>
          <a:xfrm>
            <a:off x="2377440" y="2743200"/>
            <a:ext cx="9144000" cy="548640"/>
          </a:xfrm>
          <a:prstGeom prst="rect">
            <a:avLst/>
          </a:prstGeom>
          <a:noFill/>
          <a:ln/>
        </p:spPr>
        <p:txBody>
          <a:bodyPr wrap="square" lIns="0" tIns="0" rIns="0" bIns="0" rtlCol="0" anchor="ctr"/>
          <a:lstStyle/>
          <a:p>
            <a:pPr indent="0" marL="0">
              <a:buNone/>
            </a:pPr>
            <a:r>
              <a:rPr lang="en-US" sz="1800" dirty="0">
                <a:solidFill>
                  <a:srgbClr val="CFE3D8"/>
                </a:solidFill>
                <a:latin typeface="Calibri" pitchFamily="34" charset="0"/>
                <a:ea typeface="Calibri" pitchFamily="34" charset="-122"/>
                <a:cs typeface="Calibri" pitchFamily="34" charset="-120"/>
              </a:rPr>
              <a:t>Saber que algo va mal antes que los usuarios</a:t>
            </a:r>
            <a:endParaRPr lang="en-US" sz="1800" dirty="0"/>
          </a:p>
        </p:txBody>
      </p:sp>
      <p:sp>
        <p:nvSpPr>
          <p:cNvPr id="7" name="Shape 5"/>
          <p:cNvSpPr/>
          <p:nvPr/>
        </p:nvSpPr>
        <p:spPr>
          <a:xfrm>
            <a:off x="2377440" y="3749040"/>
            <a:ext cx="2110664" cy="731520"/>
          </a:xfrm>
          <a:prstGeom prst="roundRect">
            <a:avLst>
              <a:gd name="adj" fmla="val 15000"/>
            </a:avLst>
          </a:prstGeom>
          <a:solidFill>
            <a:srgbClr val="173D35"/>
          </a:solidFill>
          <a:ln w="12700">
            <a:solidFill>
              <a:srgbClr val="2D5A4E"/>
            </a:solidFill>
            <a:prstDash val="solid"/>
          </a:ln>
        </p:spPr>
      </p:sp>
      <p:sp>
        <p:nvSpPr>
          <p:cNvPr id="8" name="Text 6"/>
          <p:cNvSpPr txBox="1"/>
          <p:nvPr/>
        </p:nvSpPr>
        <p:spPr>
          <a:xfrm>
            <a:off x="2560320" y="3749040"/>
            <a:ext cx="1744904"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Qué medir</a:t>
            </a:r>
            <a:endParaRPr lang="en-US" sz="1600" dirty="0"/>
          </a:p>
        </p:txBody>
      </p:sp>
      <p:sp>
        <p:nvSpPr>
          <p:cNvPr id="9" name="Shape 7"/>
          <p:cNvSpPr/>
          <p:nvPr/>
        </p:nvSpPr>
        <p:spPr>
          <a:xfrm>
            <a:off x="4762424" y="3749040"/>
            <a:ext cx="2110664" cy="731520"/>
          </a:xfrm>
          <a:prstGeom prst="roundRect">
            <a:avLst>
              <a:gd name="adj" fmla="val 15000"/>
            </a:avLst>
          </a:prstGeom>
          <a:solidFill>
            <a:srgbClr val="173D35"/>
          </a:solidFill>
          <a:ln w="12700">
            <a:solidFill>
              <a:srgbClr val="2D5A4E"/>
            </a:solidFill>
            <a:prstDash val="solid"/>
          </a:ln>
        </p:spPr>
      </p:sp>
      <p:sp>
        <p:nvSpPr>
          <p:cNvPr id="10" name="Text 8"/>
          <p:cNvSpPr txBox="1"/>
          <p:nvPr/>
        </p:nvSpPr>
        <p:spPr>
          <a:xfrm>
            <a:off x="4945304" y="3749040"/>
            <a:ext cx="1744904"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Fuentes de métricas</a:t>
            </a:r>
            <a:endParaRPr lang="en-US" sz="1600" dirty="0"/>
          </a:p>
        </p:txBody>
      </p:sp>
      <p:sp>
        <p:nvSpPr>
          <p:cNvPr id="11" name="Shape 9"/>
          <p:cNvSpPr/>
          <p:nvPr/>
        </p:nvSpPr>
        <p:spPr>
          <a:xfrm>
            <a:off x="7147408" y="3749040"/>
            <a:ext cx="2110664" cy="731520"/>
          </a:xfrm>
          <a:prstGeom prst="roundRect">
            <a:avLst>
              <a:gd name="adj" fmla="val 15000"/>
            </a:avLst>
          </a:prstGeom>
          <a:solidFill>
            <a:srgbClr val="173D35"/>
          </a:solidFill>
          <a:ln w="12700">
            <a:solidFill>
              <a:srgbClr val="2D5A4E"/>
            </a:solidFill>
            <a:prstDash val="solid"/>
          </a:ln>
        </p:spPr>
      </p:sp>
      <p:sp>
        <p:nvSpPr>
          <p:cNvPr id="12" name="Text 10"/>
          <p:cNvSpPr txBox="1"/>
          <p:nvPr/>
        </p:nvSpPr>
        <p:spPr>
          <a:xfrm>
            <a:off x="7330288" y="3749040"/>
            <a:ext cx="1744904"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Percona Monitoring and Management</a:t>
            </a:r>
            <a:endParaRPr lang="en-US" sz="1600" dirty="0"/>
          </a:p>
        </p:txBody>
      </p:sp>
      <p:sp>
        <p:nvSpPr>
          <p:cNvPr id="13" name="Shape 11"/>
          <p:cNvSpPr/>
          <p:nvPr/>
        </p:nvSpPr>
        <p:spPr>
          <a:xfrm>
            <a:off x="9532391" y="3749040"/>
            <a:ext cx="2110664" cy="731520"/>
          </a:xfrm>
          <a:prstGeom prst="roundRect">
            <a:avLst>
              <a:gd name="adj" fmla="val 15000"/>
            </a:avLst>
          </a:prstGeom>
          <a:solidFill>
            <a:srgbClr val="173D35"/>
          </a:solidFill>
          <a:ln w="12700">
            <a:solidFill>
              <a:srgbClr val="2D5A4E"/>
            </a:solidFill>
            <a:prstDash val="solid"/>
          </a:ln>
        </p:spPr>
      </p:sp>
      <p:sp>
        <p:nvSpPr>
          <p:cNvPr id="14" name="Text 12"/>
          <p:cNvSpPr txBox="1"/>
          <p:nvPr/>
        </p:nvSpPr>
        <p:spPr>
          <a:xfrm>
            <a:off x="9715271" y="3749040"/>
            <a:ext cx="1744904"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Alertas en la práctica</a:t>
            </a:r>
            <a:endParaRPr lang="en-US" sz="1600" dirty="0"/>
          </a:p>
        </p:txBody>
      </p:sp>
      <p:sp>
        <p:nvSpPr>
          <p:cNvPr id="15" name="Text 13"/>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9DB8AE"/>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16" name="Text 14"/>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9DB8AE"/>
                </a:solidFill>
                <a:latin typeface="Calibri" pitchFamily="34" charset="0"/>
                <a:ea typeface="Calibri" pitchFamily="34" charset="-122"/>
                <a:cs typeface="Calibri" pitchFamily="34" charset="-120"/>
              </a:rPr>
              <a:t>18 / 33</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Qué medir en MongoDB</a:t>
            </a:r>
            <a:endParaRPr lang="en-US" sz="3200" dirty="0"/>
          </a:p>
        </p:txBody>
      </p:sp>
      <p:sp>
        <p:nvSpPr>
          <p:cNvPr id="3" name="Shape 1"/>
          <p:cNvSpPr/>
          <p:nvPr/>
        </p:nvSpPr>
        <p:spPr>
          <a:xfrm>
            <a:off x="548640" y="150876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777240" y="1737360"/>
            <a:ext cx="502920" cy="502920"/>
          </a:xfrm>
          <a:prstGeom prst="ellipse">
            <a:avLst/>
          </a:prstGeom>
          <a:solidFill>
            <a:srgbClr val="1F7A4D"/>
          </a:solidFill>
          <a:ln w="12700">
            <a:solidFill>
              <a:srgbClr val="1F7A4D"/>
            </a:solidFill>
            <a:prstDash val="solid"/>
          </a:ln>
        </p:spPr>
      </p:sp>
      <p:sp>
        <p:nvSpPr>
          <p:cNvPr id="5" name="Text 3"/>
          <p:cNvSpPr txBox="1"/>
          <p:nvPr/>
        </p:nvSpPr>
        <p:spPr>
          <a:xfrm>
            <a:off x="777240" y="1737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417320" y="170992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Actividad</a:t>
            </a:r>
            <a:endParaRPr lang="en-US" sz="1800" dirty="0"/>
          </a:p>
        </p:txBody>
      </p:sp>
      <p:sp>
        <p:nvSpPr>
          <p:cNvPr id="7" name="Text 5"/>
          <p:cNvSpPr txBox="1"/>
          <p:nvPr/>
        </p:nvSpPr>
        <p:spPr>
          <a:xfrm>
            <a:off x="777240" y="2377440"/>
            <a:ext cx="3058058" cy="1188720"/>
          </a:xfrm>
          <a:prstGeom prst="rect">
            <a:avLst/>
          </a:prstGeom>
          <a:noFill/>
          <a:ln/>
        </p:spPr>
        <p:txBody>
          <a:bodyPr wrap="square" lIns="0" tIns="0" rIns="0" bIns="0" rtlCol="0" anchor="t"/>
          <a:lstStyle/>
          <a:p>
            <a:pPr indent="0" marL="0">
              <a:buNone/>
            </a:pPr>
            <a:r>
              <a:rPr lang="en-US" sz="1500" dirty="0">
                <a:solidFill>
                  <a:srgbClr val="1C2B27"/>
                </a:solidFill>
                <a:latin typeface="Calibri" pitchFamily="34" charset="0"/>
                <a:ea typeface="Calibri" pitchFamily="34" charset="-122"/>
                <a:cs typeface="Calibri" pitchFamily="34" charset="-120"/>
              </a:rPr>
              <a:t>Operaciones por segundo por tipo (opcounters), latencia de lecturas, escrituras y comandos.</a:t>
            </a:r>
            <a:endParaRPr lang="en-US" sz="1500" dirty="0"/>
          </a:p>
        </p:txBody>
      </p:sp>
      <p:sp>
        <p:nvSpPr>
          <p:cNvPr id="8" name="Shape 6"/>
          <p:cNvSpPr/>
          <p:nvPr/>
        </p:nvSpPr>
        <p:spPr>
          <a:xfrm>
            <a:off x="4338218" y="150876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4566818" y="1737360"/>
            <a:ext cx="502920" cy="502920"/>
          </a:xfrm>
          <a:prstGeom prst="ellipse">
            <a:avLst/>
          </a:prstGeom>
          <a:solidFill>
            <a:srgbClr val="1F7A4D"/>
          </a:solidFill>
          <a:ln w="12700">
            <a:solidFill>
              <a:srgbClr val="1F7A4D"/>
            </a:solidFill>
            <a:prstDash val="solid"/>
          </a:ln>
        </p:spPr>
      </p:sp>
      <p:sp>
        <p:nvSpPr>
          <p:cNvPr id="10" name="Text 8"/>
          <p:cNvSpPr txBox="1"/>
          <p:nvPr/>
        </p:nvSpPr>
        <p:spPr>
          <a:xfrm>
            <a:off x="4566818" y="17373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5206898" y="170992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Conexiones</a:t>
            </a:r>
            <a:endParaRPr lang="en-US" sz="1800" dirty="0"/>
          </a:p>
        </p:txBody>
      </p:sp>
      <p:sp>
        <p:nvSpPr>
          <p:cNvPr id="12" name="Text 10"/>
          <p:cNvSpPr txBox="1"/>
          <p:nvPr/>
        </p:nvSpPr>
        <p:spPr>
          <a:xfrm>
            <a:off x="4566818" y="2377440"/>
            <a:ext cx="3058058" cy="1188720"/>
          </a:xfrm>
          <a:prstGeom prst="rect">
            <a:avLst/>
          </a:prstGeom>
          <a:noFill/>
          <a:ln/>
        </p:spPr>
        <p:txBody>
          <a:bodyPr wrap="square" lIns="0" tIns="0" rIns="0" bIns="0" rtlCol="0" anchor="t"/>
          <a:lstStyle/>
          <a:p>
            <a:pPr indent="0" marL="0">
              <a:buNone/>
            </a:pPr>
            <a:r>
              <a:rPr lang="en-US" sz="1500" dirty="0">
                <a:solidFill>
                  <a:srgbClr val="1C2B27"/>
                </a:solidFill>
                <a:latin typeface="Calibri" pitchFamily="34" charset="0"/>
                <a:ea typeface="Calibri" pitchFamily="34" charset="-122"/>
                <a:cs typeface="Calibri" pitchFamily="34" charset="-120"/>
              </a:rPr>
              <a:t>Actuales, disponibles y creadas por segundo. Un pico de conexiones nuevas suele ser una aplicación con problemas.</a:t>
            </a:r>
            <a:endParaRPr lang="en-US" sz="1500" dirty="0"/>
          </a:p>
        </p:txBody>
      </p:sp>
      <p:sp>
        <p:nvSpPr>
          <p:cNvPr id="13" name="Shape 11"/>
          <p:cNvSpPr/>
          <p:nvPr/>
        </p:nvSpPr>
        <p:spPr>
          <a:xfrm>
            <a:off x="8127797" y="150876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14" name="Shape 12"/>
          <p:cNvSpPr/>
          <p:nvPr/>
        </p:nvSpPr>
        <p:spPr>
          <a:xfrm>
            <a:off x="8356397" y="1737360"/>
            <a:ext cx="502920" cy="502920"/>
          </a:xfrm>
          <a:prstGeom prst="ellipse">
            <a:avLst/>
          </a:prstGeom>
          <a:solidFill>
            <a:srgbClr val="F2B33D"/>
          </a:solidFill>
          <a:ln w="12700">
            <a:solidFill>
              <a:srgbClr val="F2B33D"/>
            </a:solidFill>
            <a:prstDash val="solid"/>
          </a:ln>
        </p:spPr>
      </p:sp>
      <p:sp>
        <p:nvSpPr>
          <p:cNvPr id="15" name="Text 13"/>
          <p:cNvSpPr txBox="1"/>
          <p:nvPr/>
        </p:nvSpPr>
        <p:spPr>
          <a:xfrm>
            <a:off x="8356397" y="1737360"/>
            <a:ext cx="502920" cy="502920"/>
          </a:xfrm>
          <a:prstGeom prst="rect">
            <a:avLst/>
          </a:prstGeom>
          <a:noFill/>
          <a:ln/>
        </p:spPr>
        <p:txBody>
          <a:bodyPr wrap="square" lIns="0" tIns="0" rIns="0" bIns="0" rtlCol="0" anchor="ctr"/>
          <a:lstStyle/>
          <a:p>
            <a:pPr algn="ctr" indent="0" marL="0">
              <a:buNone/>
            </a:pPr>
            <a:r>
              <a:rPr lang="en-US" sz="1500" b="1" dirty="0">
                <a:solidFill>
                  <a:srgbClr val="0F2A25"/>
                </a:solidFill>
                <a:latin typeface="Cambria" pitchFamily="34" charset="0"/>
                <a:ea typeface="Cambria" pitchFamily="34" charset="-122"/>
                <a:cs typeface="Cambria" pitchFamily="34" charset="-120"/>
              </a:rPr>
              <a:t>3</a:t>
            </a:r>
            <a:endParaRPr lang="en-US" sz="1500" dirty="0"/>
          </a:p>
        </p:txBody>
      </p:sp>
      <p:sp>
        <p:nvSpPr>
          <p:cNvPr id="16" name="Text 14"/>
          <p:cNvSpPr txBox="1"/>
          <p:nvPr/>
        </p:nvSpPr>
        <p:spPr>
          <a:xfrm>
            <a:off x="8996477" y="170992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Caché WiredTiger</a:t>
            </a:r>
            <a:endParaRPr lang="en-US" sz="1800" dirty="0"/>
          </a:p>
        </p:txBody>
      </p:sp>
      <p:sp>
        <p:nvSpPr>
          <p:cNvPr id="17" name="Text 15"/>
          <p:cNvSpPr txBox="1"/>
          <p:nvPr/>
        </p:nvSpPr>
        <p:spPr>
          <a:xfrm>
            <a:off x="8356397" y="2377440"/>
            <a:ext cx="3058058" cy="1188720"/>
          </a:xfrm>
          <a:prstGeom prst="rect">
            <a:avLst/>
          </a:prstGeom>
          <a:noFill/>
          <a:ln/>
        </p:spPr>
        <p:txBody>
          <a:bodyPr wrap="square" lIns="0" tIns="0" rIns="0" bIns="0" rtlCol="0" anchor="t"/>
          <a:lstStyle/>
          <a:p>
            <a:pPr indent="0" marL="0">
              <a:buNone/>
            </a:pPr>
            <a:r>
              <a:rPr lang="en-US" sz="1500" dirty="0">
                <a:solidFill>
                  <a:srgbClr val="1C2B27"/>
                </a:solidFill>
                <a:latin typeface="Calibri" pitchFamily="34" charset="0"/>
                <a:ea typeface="Calibri" pitchFamily="34" charset="-122"/>
                <a:cs typeface="Calibri" pitchFamily="34" charset="-120"/>
              </a:rPr>
              <a:t>Ocupación, porcentaje sucio, páginas leídas de disco, desalojo por hilos de aplicación, tickets disponibles.</a:t>
            </a:r>
            <a:endParaRPr lang="en-US" sz="1500" dirty="0"/>
          </a:p>
        </p:txBody>
      </p:sp>
      <p:sp>
        <p:nvSpPr>
          <p:cNvPr id="18" name="Shape 16"/>
          <p:cNvSpPr/>
          <p:nvPr/>
        </p:nvSpPr>
        <p:spPr>
          <a:xfrm>
            <a:off x="548640" y="397764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19" name="Shape 17"/>
          <p:cNvSpPr/>
          <p:nvPr/>
        </p:nvSpPr>
        <p:spPr>
          <a:xfrm>
            <a:off x="777240" y="4206240"/>
            <a:ext cx="502920" cy="502920"/>
          </a:xfrm>
          <a:prstGeom prst="ellipse">
            <a:avLst/>
          </a:prstGeom>
          <a:solidFill>
            <a:srgbClr val="F2B33D"/>
          </a:solidFill>
          <a:ln w="12700">
            <a:solidFill>
              <a:srgbClr val="F2B33D"/>
            </a:solidFill>
            <a:prstDash val="solid"/>
          </a:ln>
        </p:spPr>
      </p:sp>
      <p:sp>
        <p:nvSpPr>
          <p:cNvPr id="20" name="Text 18"/>
          <p:cNvSpPr txBox="1"/>
          <p:nvPr/>
        </p:nvSpPr>
        <p:spPr>
          <a:xfrm>
            <a:off x="777240" y="4206240"/>
            <a:ext cx="502920" cy="502920"/>
          </a:xfrm>
          <a:prstGeom prst="rect">
            <a:avLst/>
          </a:prstGeom>
          <a:noFill/>
          <a:ln/>
        </p:spPr>
        <p:txBody>
          <a:bodyPr wrap="square" lIns="0" tIns="0" rIns="0" bIns="0" rtlCol="0" anchor="ctr"/>
          <a:lstStyle/>
          <a:p>
            <a:pPr algn="ctr" indent="0" marL="0">
              <a:buNone/>
            </a:pPr>
            <a:r>
              <a:rPr lang="en-US" sz="1500" b="1" dirty="0">
                <a:solidFill>
                  <a:srgbClr val="0F2A25"/>
                </a:solidFill>
                <a:latin typeface="Cambria" pitchFamily="34" charset="0"/>
                <a:ea typeface="Cambria" pitchFamily="34" charset="-122"/>
                <a:cs typeface="Cambria" pitchFamily="34" charset="-120"/>
              </a:rPr>
              <a:t>4</a:t>
            </a:r>
            <a:endParaRPr lang="en-US" sz="1500" dirty="0"/>
          </a:p>
        </p:txBody>
      </p:sp>
      <p:sp>
        <p:nvSpPr>
          <p:cNvPr id="21" name="Text 19"/>
          <p:cNvSpPr txBox="1"/>
          <p:nvPr/>
        </p:nvSpPr>
        <p:spPr>
          <a:xfrm>
            <a:off x="1417320" y="417880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Replicación</a:t>
            </a:r>
            <a:endParaRPr lang="en-US" sz="1800" dirty="0"/>
          </a:p>
        </p:txBody>
      </p:sp>
      <p:sp>
        <p:nvSpPr>
          <p:cNvPr id="22" name="Text 20"/>
          <p:cNvSpPr txBox="1"/>
          <p:nvPr/>
        </p:nvSpPr>
        <p:spPr>
          <a:xfrm>
            <a:off x="777240" y="4846320"/>
            <a:ext cx="3058058" cy="1188720"/>
          </a:xfrm>
          <a:prstGeom prst="rect">
            <a:avLst/>
          </a:prstGeom>
          <a:noFill/>
          <a:ln/>
        </p:spPr>
        <p:txBody>
          <a:bodyPr wrap="square" lIns="0" tIns="0" rIns="0" bIns="0" rtlCol="0" anchor="t"/>
          <a:lstStyle/>
          <a:p>
            <a:pPr indent="0" marL="0">
              <a:buNone/>
            </a:pPr>
            <a:r>
              <a:rPr lang="en-US" sz="1500" dirty="0">
                <a:solidFill>
                  <a:srgbClr val="1C2B27"/>
                </a:solidFill>
                <a:latin typeface="Calibri" pitchFamily="34" charset="0"/>
                <a:ea typeface="Calibri" pitchFamily="34" charset="-122"/>
                <a:cs typeface="Calibri" pitchFamily="34" charset="-120"/>
              </a:rPr>
              <a:t>Estado de cada miembro, lag, ventana del oplog, elecciones y cambios de primario.</a:t>
            </a:r>
            <a:endParaRPr lang="en-US" sz="1500" dirty="0"/>
          </a:p>
        </p:txBody>
      </p:sp>
      <p:sp>
        <p:nvSpPr>
          <p:cNvPr id="23" name="Shape 21"/>
          <p:cNvSpPr/>
          <p:nvPr/>
        </p:nvSpPr>
        <p:spPr>
          <a:xfrm>
            <a:off x="4338218" y="397764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24" name="Shape 22"/>
          <p:cNvSpPr/>
          <p:nvPr/>
        </p:nvSpPr>
        <p:spPr>
          <a:xfrm>
            <a:off x="4566818" y="4206240"/>
            <a:ext cx="502920" cy="502920"/>
          </a:xfrm>
          <a:prstGeom prst="ellipse">
            <a:avLst/>
          </a:prstGeom>
          <a:solidFill>
            <a:srgbClr val="1F7A4D"/>
          </a:solidFill>
          <a:ln w="12700">
            <a:solidFill>
              <a:srgbClr val="1F7A4D"/>
            </a:solidFill>
            <a:prstDash val="solid"/>
          </a:ln>
        </p:spPr>
      </p:sp>
      <p:sp>
        <p:nvSpPr>
          <p:cNvPr id="25" name="Text 23"/>
          <p:cNvSpPr txBox="1"/>
          <p:nvPr/>
        </p:nvSpPr>
        <p:spPr>
          <a:xfrm>
            <a:off x="4566818" y="42062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6" name="Text 24"/>
          <p:cNvSpPr txBox="1"/>
          <p:nvPr/>
        </p:nvSpPr>
        <p:spPr>
          <a:xfrm>
            <a:off x="5206898" y="417880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Consultas</a:t>
            </a:r>
            <a:endParaRPr lang="en-US" sz="1800" dirty="0"/>
          </a:p>
        </p:txBody>
      </p:sp>
      <p:sp>
        <p:nvSpPr>
          <p:cNvPr id="27" name="Text 25"/>
          <p:cNvSpPr txBox="1"/>
          <p:nvPr/>
        </p:nvSpPr>
        <p:spPr>
          <a:xfrm>
            <a:off x="4566818" y="4846320"/>
            <a:ext cx="3058058" cy="1188720"/>
          </a:xfrm>
          <a:prstGeom prst="rect">
            <a:avLst/>
          </a:prstGeom>
          <a:noFill/>
          <a:ln/>
        </p:spPr>
        <p:txBody>
          <a:bodyPr wrap="square" lIns="0" tIns="0" rIns="0" bIns="0" rtlCol="0" anchor="t"/>
          <a:lstStyle/>
          <a:p>
            <a:pPr indent="0" marL="0">
              <a:buNone/>
            </a:pPr>
            <a:r>
              <a:rPr lang="en-US" sz="1500" dirty="0">
                <a:solidFill>
                  <a:srgbClr val="1C2B27"/>
                </a:solidFill>
                <a:latin typeface="Calibri" pitchFamily="34" charset="0"/>
                <a:ea typeface="Calibri" pitchFamily="34" charset="-122"/>
                <a:cs typeface="Calibri" pitchFamily="34" charset="-120"/>
              </a:rPr>
              <a:t>Consultas lentas, documentos examinados frente a devueltos, COLLSCAN, ordenaciones en memoria.</a:t>
            </a:r>
            <a:endParaRPr lang="en-US" sz="1500" dirty="0"/>
          </a:p>
        </p:txBody>
      </p:sp>
      <p:sp>
        <p:nvSpPr>
          <p:cNvPr id="28" name="Shape 26"/>
          <p:cNvSpPr/>
          <p:nvPr/>
        </p:nvSpPr>
        <p:spPr>
          <a:xfrm>
            <a:off x="8127797" y="3977640"/>
            <a:ext cx="3515258" cy="2194560"/>
          </a:xfrm>
          <a:prstGeom prst="roundRect">
            <a:avLst>
              <a:gd name="adj" fmla="val 5000"/>
            </a:avLst>
          </a:prstGeom>
          <a:solidFill>
            <a:srgbClr val="F4F9F6"/>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29" name="Shape 27"/>
          <p:cNvSpPr/>
          <p:nvPr/>
        </p:nvSpPr>
        <p:spPr>
          <a:xfrm>
            <a:off x="8356397" y="4206240"/>
            <a:ext cx="502920" cy="502920"/>
          </a:xfrm>
          <a:prstGeom prst="ellipse">
            <a:avLst/>
          </a:prstGeom>
          <a:solidFill>
            <a:srgbClr val="1F7A4D"/>
          </a:solidFill>
          <a:ln w="12700">
            <a:solidFill>
              <a:srgbClr val="1F7A4D"/>
            </a:solidFill>
            <a:prstDash val="solid"/>
          </a:ln>
        </p:spPr>
      </p:sp>
      <p:sp>
        <p:nvSpPr>
          <p:cNvPr id="30" name="Text 28"/>
          <p:cNvSpPr txBox="1"/>
          <p:nvPr/>
        </p:nvSpPr>
        <p:spPr>
          <a:xfrm>
            <a:off x="8356397" y="42062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1" name="Text 29"/>
          <p:cNvSpPr txBox="1"/>
          <p:nvPr/>
        </p:nvSpPr>
        <p:spPr>
          <a:xfrm>
            <a:off x="8996477" y="4178808"/>
            <a:ext cx="2463698"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Sistema</a:t>
            </a:r>
            <a:endParaRPr lang="en-US" sz="1800" dirty="0"/>
          </a:p>
        </p:txBody>
      </p:sp>
      <p:sp>
        <p:nvSpPr>
          <p:cNvPr id="32" name="Text 30"/>
          <p:cNvSpPr txBox="1"/>
          <p:nvPr/>
        </p:nvSpPr>
        <p:spPr>
          <a:xfrm>
            <a:off x="8356397" y="4846320"/>
            <a:ext cx="3058058" cy="1188720"/>
          </a:xfrm>
          <a:prstGeom prst="rect">
            <a:avLst/>
          </a:prstGeom>
          <a:noFill/>
          <a:ln/>
        </p:spPr>
        <p:txBody>
          <a:bodyPr wrap="square" lIns="0" tIns="0" rIns="0" bIns="0" rtlCol="0" anchor="t"/>
          <a:lstStyle/>
          <a:p>
            <a:pPr indent="0" marL="0">
              <a:buNone/>
            </a:pPr>
            <a:r>
              <a:rPr lang="en-US" sz="1500" dirty="0">
                <a:solidFill>
                  <a:srgbClr val="1C2B27"/>
                </a:solidFill>
                <a:latin typeface="Calibri" pitchFamily="34" charset="0"/>
                <a:ea typeface="Calibri" pitchFamily="34" charset="-122"/>
                <a:cs typeface="Calibri" pitchFamily="34" charset="-120"/>
              </a:rPr>
              <a:t>CPU, memoria, swap, E/S de disco (latencia, IOPS, cola), espacio libre y red.</a:t>
            </a:r>
            <a:endParaRPr lang="en-US" sz="1500" dirty="0"/>
          </a:p>
        </p:txBody>
      </p:sp>
      <p:sp>
        <p:nvSpPr>
          <p:cNvPr id="33" name="Text 3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34" name="Text 3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19 / 33</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Fuentes de métricas</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3108960"/>
                <a:gridCol w="4389120"/>
                <a:gridCol w="3474720"/>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Fuente</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Qué da</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Quién la usa</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db.serverStatus()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Cientos de contadores: operaciones, conexiones, caché, locks, red</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Exporters, mongostat, tú</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rs.status() / replSetGetStatus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Estado, optime y salud de cada miembro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Monitorización de replicación</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dbStats, collStats, $indexStats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Tamaños, uso de índices, crecimiento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Capacidad y optimización</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Profiler (system.profile)</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Operaciones lentas con su plan y coste</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Query analytics, troubleshooting</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Log de mongod</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Eventos, errores, consultas lentas en JSON</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Troubleshooting, SIEM</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FTDC (diagnostic.data)</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serverStatus y más cada segundo, comprimido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Análisis post mortem, soporte</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5"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20 / 33</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Percona Monitoring and Management (PMM)</a:t>
            </a:r>
            <a:endParaRPr lang="en-US" sz="3200" dirty="0"/>
          </a:p>
        </p:txBody>
      </p:sp>
      <p:sp>
        <p:nvSpPr>
          <p:cNvPr id="3" name="Shape 1"/>
          <p:cNvSpPr/>
          <p:nvPr/>
        </p:nvSpPr>
        <p:spPr>
          <a:xfrm>
            <a:off x="1978122" y="2423160"/>
            <a:ext cx="1441643" cy="0"/>
          </a:xfrm>
          <a:prstGeom prst="line">
            <a:avLst/>
          </a:prstGeom>
          <a:noFill/>
          <a:ln w="31750">
            <a:solidFill>
              <a:srgbClr val="2E9E66"/>
            </a:solidFill>
            <a:prstDash val="solid"/>
            <a:tailEnd type="triangle"/>
          </a:ln>
        </p:spPr>
      </p:sp>
      <p:sp>
        <p:nvSpPr>
          <p:cNvPr id="4" name="Shape 2"/>
          <p:cNvSpPr/>
          <p:nvPr/>
        </p:nvSpPr>
        <p:spPr>
          <a:xfrm>
            <a:off x="1155162" y="2011680"/>
            <a:ext cx="822960" cy="822960"/>
          </a:xfrm>
          <a:prstGeom prst="ellipse">
            <a:avLst/>
          </a:prstGeom>
          <a:solidFill>
            <a:srgbClr val="1F7A4D"/>
          </a:solidFill>
          <a:ln w="12700">
            <a:solidFill>
              <a:srgbClr val="1F7A4D"/>
            </a:solidFill>
            <a:prstDash val="solid"/>
          </a:ln>
        </p:spPr>
      </p:sp>
      <p:sp>
        <p:nvSpPr>
          <p:cNvPr id="5" name="Text 3"/>
          <p:cNvSpPr txBox="1"/>
          <p:nvPr/>
        </p:nvSpPr>
        <p:spPr>
          <a:xfrm>
            <a:off x="1155162"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548640"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mongod</a:t>
            </a:r>
            <a:endParaRPr lang="en-US" sz="1700" dirty="0"/>
          </a:p>
        </p:txBody>
      </p:sp>
      <p:sp>
        <p:nvSpPr>
          <p:cNvPr id="7" name="Text 5"/>
          <p:cNvSpPr txBox="1"/>
          <p:nvPr/>
        </p:nvSpPr>
        <p:spPr>
          <a:xfrm>
            <a:off x="594360"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serverStatus, rs.status, profiler o log de consultas.</a:t>
            </a:r>
            <a:endParaRPr lang="en-US" sz="1600" dirty="0"/>
          </a:p>
        </p:txBody>
      </p:sp>
      <p:sp>
        <p:nvSpPr>
          <p:cNvPr id="8" name="Shape 6"/>
          <p:cNvSpPr/>
          <p:nvPr/>
        </p:nvSpPr>
        <p:spPr>
          <a:xfrm>
            <a:off x="4242725" y="2423160"/>
            <a:ext cx="1441643" cy="0"/>
          </a:xfrm>
          <a:prstGeom prst="line">
            <a:avLst/>
          </a:prstGeom>
          <a:noFill/>
          <a:ln w="31750">
            <a:solidFill>
              <a:srgbClr val="2E9E66"/>
            </a:solidFill>
            <a:prstDash val="solid"/>
            <a:tailEnd type="triangle"/>
          </a:ln>
        </p:spPr>
      </p:sp>
      <p:sp>
        <p:nvSpPr>
          <p:cNvPr id="9" name="Shape 7"/>
          <p:cNvSpPr/>
          <p:nvPr/>
        </p:nvSpPr>
        <p:spPr>
          <a:xfrm>
            <a:off x="3419765" y="2011680"/>
            <a:ext cx="822960" cy="822960"/>
          </a:xfrm>
          <a:prstGeom prst="ellipse">
            <a:avLst/>
          </a:prstGeom>
          <a:solidFill>
            <a:srgbClr val="F2B33D"/>
          </a:solidFill>
          <a:ln w="12700">
            <a:solidFill>
              <a:srgbClr val="F2B33D"/>
            </a:solidFill>
            <a:prstDash val="solid"/>
          </a:ln>
        </p:spPr>
      </p:sp>
      <p:sp>
        <p:nvSpPr>
          <p:cNvPr id="10" name="Text 8"/>
          <p:cNvSpPr txBox="1"/>
          <p:nvPr/>
        </p:nvSpPr>
        <p:spPr>
          <a:xfrm>
            <a:off x="3419765"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2813243"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pmm-agent + exporters</a:t>
            </a:r>
            <a:endParaRPr lang="en-US" sz="1700" dirty="0"/>
          </a:p>
        </p:txBody>
      </p:sp>
      <p:sp>
        <p:nvSpPr>
          <p:cNvPr id="12" name="Text 10"/>
          <p:cNvSpPr txBox="1"/>
          <p:nvPr/>
        </p:nvSpPr>
        <p:spPr>
          <a:xfrm>
            <a:off x="2858963"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En cada nodo (o en remoto): recogen métricas y consultas.</a:t>
            </a:r>
            <a:endParaRPr lang="en-US" sz="1600" dirty="0"/>
          </a:p>
        </p:txBody>
      </p:sp>
      <p:sp>
        <p:nvSpPr>
          <p:cNvPr id="13" name="Shape 11"/>
          <p:cNvSpPr/>
          <p:nvPr/>
        </p:nvSpPr>
        <p:spPr>
          <a:xfrm>
            <a:off x="6507328" y="2423160"/>
            <a:ext cx="1441643" cy="0"/>
          </a:xfrm>
          <a:prstGeom prst="line">
            <a:avLst/>
          </a:prstGeom>
          <a:noFill/>
          <a:ln w="31750">
            <a:solidFill>
              <a:srgbClr val="2E9E66"/>
            </a:solidFill>
            <a:prstDash val="solid"/>
            <a:tailEnd type="triangle"/>
          </a:ln>
        </p:spPr>
      </p:sp>
      <p:sp>
        <p:nvSpPr>
          <p:cNvPr id="14" name="Shape 12"/>
          <p:cNvSpPr/>
          <p:nvPr/>
        </p:nvSpPr>
        <p:spPr>
          <a:xfrm>
            <a:off x="5684368" y="2011680"/>
            <a:ext cx="822960" cy="822960"/>
          </a:xfrm>
          <a:prstGeom prst="ellipse">
            <a:avLst/>
          </a:prstGeom>
          <a:solidFill>
            <a:srgbClr val="1F7A4D"/>
          </a:solidFill>
          <a:ln w="12700">
            <a:solidFill>
              <a:srgbClr val="1F7A4D"/>
            </a:solidFill>
            <a:prstDash val="solid"/>
          </a:ln>
        </p:spPr>
      </p:sp>
      <p:sp>
        <p:nvSpPr>
          <p:cNvPr id="15" name="Text 13"/>
          <p:cNvSpPr txBox="1"/>
          <p:nvPr/>
        </p:nvSpPr>
        <p:spPr>
          <a:xfrm>
            <a:off x="5684368"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4"/>
          <p:cNvSpPr txBox="1"/>
          <p:nvPr/>
        </p:nvSpPr>
        <p:spPr>
          <a:xfrm>
            <a:off x="5077846"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PMM Server</a:t>
            </a:r>
            <a:endParaRPr lang="en-US" sz="1700" dirty="0"/>
          </a:p>
        </p:txBody>
      </p:sp>
      <p:sp>
        <p:nvSpPr>
          <p:cNvPr id="17" name="Text 15"/>
          <p:cNvSpPr txBox="1"/>
          <p:nvPr/>
        </p:nvSpPr>
        <p:spPr>
          <a:xfrm>
            <a:off x="5123566"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VictoriaMetrics para métricas, ClickHouse para Query Analytics.</a:t>
            </a:r>
            <a:endParaRPr lang="en-US" sz="1600" dirty="0"/>
          </a:p>
        </p:txBody>
      </p:sp>
      <p:sp>
        <p:nvSpPr>
          <p:cNvPr id="18" name="Shape 16"/>
          <p:cNvSpPr/>
          <p:nvPr/>
        </p:nvSpPr>
        <p:spPr>
          <a:xfrm>
            <a:off x="8771931" y="2423160"/>
            <a:ext cx="1441643" cy="0"/>
          </a:xfrm>
          <a:prstGeom prst="line">
            <a:avLst/>
          </a:prstGeom>
          <a:noFill/>
          <a:ln w="31750">
            <a:solidFill>
              <a:srgbClr val="2E9E66"/>
            </a:solidFill>
            <a:prstDash val="solid"/>
            <a:tailEnd type="triangle"/>
          </a:ln>
        </p:spPr>
      </p:sp>
      <p:sp>
        <p:nvSpPr>
          <p:cNvPr id="19" name="Shape 17"/>
          <p:cNvSpPr/>
          <p:nvPr/>
        </p:nvSpPr>
        <p:spPr>
          <a:xfrm>
            <a:off x="7948971" y="2011680"/>
            <a:ext cx="822960" cy="822960"/>
          </a:xfrm>
          <a:prstGeom prst="ellipse">
            <a:avLst/>
          </a:prstGeom>
          <a:solidFill>
            <a:srgbClr val="F2B33D"/>
          </a:solidFill>
          <a:ln w="12700">
            <a:solidFill>
              <a:srgbClr val="F2B33D"/>
            </a:solidFill>
            <a:prstDash val="solid"/>
          </a:ln>
        </p:spPr>
      </p:sp>
      <p:sp>
        <p:nvSpPr>
          <p:cNvPr id="20" name="Text 18"/>
          <p:cNvSpPr txBox="1"/>
          <p:nvPr/>
        </p:nvSpPr>
        <p:spPr>
          <a:xfrm>
            <a:off x="7948971"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4</a:t>
            </a:r>
            <a:endParaRPr lang="en-US" sz="2200" dirty="0"/>
          </a:p>
        </p:txBody>
      </p:sp>
      <p:sp>
        <p:nvSpPr>
          <p:cNvPr id="21" name="Text 19"/>
          <p:cNvSpPr txBox="1"/>
          <p:nvPr/>
        </p:nvSpPr>
        <p:spPr>
          <a:xfrm>
            <a:off x="7342449"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Grafana</a:t>
            </a:r>
            <a:endParaRPr lang="en-US" sz="1700" dirty="0"/>
          </a:p>
        </p:txBody>
      </p:sp>
      <p:sp>
        <p:nvSpPr>
          <p:cNvPr id="22" name="Text 20"/>
          <p:cNvSpPr txBox="1"/>
          <p:nvPr/>
        </p:nvSpPr>
        <p:spPr>
          <a:xfrm>
            <a:off x="7388169"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Paneles de MongoDB, replica set, WiredTiger, sistema.</a:t>
            </a:r>
            <a:endParaRPr lang="en-US" sz="1600" dirty="0"/>
          </a:p>
        </p:txBody>
      </p:sp>
      <p:sp>
        <p:nvSpPr>
          <p:cNvPr id="23" name="Shape 21"/>
          <p:cNvSpPr/>
          <p:nvPr/>
        </p:nvSpPr>
        <p:spPr>
          <a:xfrm>
            <a:off x="10213574" y="2011680"/>
            <a:ext cx="822960" cy="822960"/>
          </a:xfrm>
          <a:prstGeom prst="ellipse">
            <a:avLst/>
          </a:prstGeom>
          <a:solidFill>
            <a:srgbClr val="1F7A4D"/>
          </a:solidFill>
          <a:ln w="12700">
            <a:solidFill>
              <a:srgbClr val="1F7A4D"/>
            </a:solidFill>
            <a:prstDash val="solid"/>
          </a:ln>
        </p:spPr>
      </p:sp>
      <p:sp>
        <p:nvSpPr>
          <p:cNvPr id="24" name="Text 22"/>
          <p:cNvSpPr txBox="1"/>
          <p:nvPr/>
        </p:nvSpPr>
        <p:spPr>
          <a:xfrm>
            <a:off x="10213574"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5" name="Text 23"/>
          <p:cNvSpPr txBox="1"/>
          <p:nvPr/>
        </p:nvSpPr>
        <p:spPr>
          <a:xfrm>
            <a:off x="9607052"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Alerting</a:t>
            </a:r>
            <a:endParaRPr lang="en-US" sz="1700" dirty="0"/>
          </a:p>
        </p:txBody>
      </p:sp>
      <p:sp>
        <p:nvSpPr>
          <p:cNvPr id="26" name="Text 24"/>
          <p:cNvSpPr txBox="1"/>
          <p:nvPr/>
        </p:nvSpPr>
        <p:spPr>
          <a:xfrm>
            <a:off x="9652772"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Reglas a partir de plantillas y notificaciones a correo, Slack, PagerDuty...</a:t>
            </a:r>
            <a:endParaRPr lang="en-US" sz="1600" dirty="0"/>
          </a:p>
        </p:txBody>
      </p:sp>
      <p:sp>
        <p:nvSpPr>
          <p:cNvPr id="27" name="Shape 25"/>
          <p:cNvSpPr/>
          <p:nvPr/>
        </p:nvSpPr>
        <p:spPr>
          <a:xfrm>
            <a:off x="548640" y="5532120"/>
            <a:ext cx="11094415" cy="594360"/>
          </a:xfrm>
          <a:prstGeom prst="roundRect">
            <a:avLst>
              <a:gd name="adj" fmla="val 18462"/>
            </a:avLst>
          </a:prstGeom>
          <a:solidFill>
            <a:srgbClr val="E8F3EC"/>
          </a:solidFill>
          <a:ln w="12700">
            <a:solidFill>
              <a:srgbClr val="E8F3EC"/>
            </a:solidFill>
            <a:prstDash val="solid"/>
          </a:ln>
        </p:spPr>
      </p:sp>
      <p:sp>
        <p:nvSpPr>
          <p:cNvPr id="28" name="Text 26"/>
          <p:cNvSpPr txBox="1"/>
          <p:nvPr/>
        </p:nvSpPr>
        <p:spPr>
          <a:xfrm>
            <a:off x="777240" y="5532120"/>
            <a:ext cx="10637215" cy="594360"/>
          </a:xfrm>
          <a:prstGeom prst="rect">
            <a:avLst/>
          </a:prstGeom>
          <a:noFill/>
          <a:ln/>
        </p:spPr>
        <p:txBody>
          <a:bodyPr wrap="square" lIns="0" tIns="0" rIns="0" bIns="0" rtlCol="0" anchor="ctr"/>
          <a:lstStyle/>
          <a:p>
            <a:pPr indent="0" marL="0">
              <a:buNone/>
            </a:pPr>
            <a:r>
              <a:rPr lang="en-US" sz="1400" dirty="0">
                <a:solidFill>
                  <a:srgbClr val="0F2A25"/>
                </a:solidFill>
                <a:latin typeface="Calibri" pitchFamily="34" charset="0"/>
                <a:ea typeface="Calibri" pitchFamily="34" charset="-122"/>
                <a:cs typeface="Calibri" pitchFamily="34" charset="-120"/>
              </a:rPr>
              <a:t>Código abierto. PMM 3 despliega el servidor como un contenedor y el cliente como paquete o contenedor.</a:t>
            </a:r>
            <a:endParaRPr lang="en-US" sz="1400" dirty="0"/>
          </a:p>
        </p:txBody>
      </p:sp>
      <p:sp>
        <p:nvSpPr>
          <p:cNvPr id="29" name="Text 2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30" name="Text 2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21 / 33</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Alertas en la práctica</a:t>
            </a:r>
            <a:endParaRPr lang="en-US" sz="3200" dirty="0"/>
          </a:p>
        </p:txBody>
      </p:sp>
      <p:sp>
        <p:nvSpPr>
          <p:cNvPr id="3" name="Text 1"/>
          <p:cNvSpPr txBox="1"/>
          <p:nvPr/>
        </p:nvSpPr>
        <p:spPr>
          <a:xfrm>
            <a:off x="548640" y="1463040"/>
            <a:ext cx="6949440" cy="4663440"/>
          </a:xfrm>
          <a:prstGeom prst="rect">
            <a:avLst/>
          </a:prstGeom>
          <a:noFill/>
          <a:ln/>
        </p:spPr>
        <p:txBody>
          <a:bodyPr wrap="square" lIns="0" tIns="0" rIns="0" bIns="0" rtlCol="0" anchor="t"/>
          <a:lstStyle/>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Alertar sobre </a:t>
            </a:r>
            <a:r>
              <a:rPr lang="en-US" sz="2000" b="1" dirty="0">
                <a:solidFill>
                  <a:srgbClr val="1C2B27"/>
                </a:solidFill>
                <a:latin typeface="Calibri" pitchFamily="34" charset="0"/>
                <a:ea typeface="Calibri" pitchFamily="34" charset="-122"/>
                <a:cs typeface="Calibri" pitchFamily="34" charset="-120"/>
              </a:rPr>
              <a:t>síntomas</a:t>
            </a:r>
            <a:r>
              <a:rPr lang="en-US" sz="2000" dirty="0">
                <a:solidFill>
                  <a:srgbClr val="1C2B27"/>
                </a:solidFill>
                <a:latin typeface="Calibri" pitchFamily="34" charset="0"/>
                <a:ea typeface="Calibri" pitchFamily="34" charset="-122"/>
                <a:cs typeface="Calibri" pitchFamily="34" charset="-120"/>
              </a:rPr>
              <a:t> que afectan al servicio, no sobre cada métrica</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Cada alerta con </a:t>
            </a:r>
            <a:r>
              <a:rPr lang="en-US" sz="2000" b="1" dirty="0">
                <a:solidFill>
                  <a:srgbClr val="1C2B27"/>
                </a:solidFill>
                <a:latin typeface="Calibri" pitchFamily="34" charset="0"/>
                <a:ea typeface="Calibri" pitchFamily="34" charset="-122"/>
                <a:cs typeface="Calibri" pitchFamily="34" charset="-120"/>
              </a:rPr>
              <a:t>umbral</a:t>
            </a:r>
            <a:r>
              <a:rPr lang="en-US" sz="2000" dirty="0">
                <a:solidFill>
                  <a:srgbClr val="1C2B27"/>
                </a:solidFill>
                <a:latin typeface="Calibri" pitchFamily="34" charset="0"/>
                <a:ea typeface="Calibri" pitchFamily="34" charset="-122"/>
                <a:cs typeface="Calibri" pitchFamily="34" charset="-120"/>
              </a:rPr>
              <a:t>, </a:t>
            </a:r>
            <a:r>
              <a:rPr lang="en-US" sz="2000" b="1" dirty="0">
                <a:solidFill>
                  <a:srgbClr val="1C2B27"/>
                </a:solidFill>
                <a:latin typeface="Calibri" pitchFamily="34" charset="0"/>
                <a:ea typeface="Calibri" pitchFamily="34" charset="-122"/>
                <a:cs typeface="Calibri" pitchFamily="34" charset="-120"/>
              </a:rPr>
              <a:t>duración</a:t>
            </a:r>
            <a:r>
              <a:rPr lang="en-US" sz="2000" dirty="0">
                <a:solidFill>
                  <a:srgbClr val="1C2B27"/>
                </a:solidFill>
                <a:latin typeface="Calibri" pitchFamily="34" charset="0"/>
                <a:ea typeface="Calibri" pitchFamily="34" charset="-122"/>
                <a:cs typeface="Calibri" pitchFamily="34" charset="-120"/>
              </a:rPr>
              <a:t> (for) y </a:t>
            </a:r>
            <a:r>
              <a:rPr lang="en-US" sz="2000" b="1" dirty="0">
                <a:solidFill>
                  <a:srgbClr val="1C2B27"/>
                </a:solidFill>
                <a:latin typeface="Calibri" pitchFamily="34" charset="0"/>
                <a:ea typeface="Calibri" pitchFamily="34" charset="-122"/>
                <a:cs typeface="Calibri" pitchFamily="34" charset="-120"/>
              </a:rPr>
              <a:t>severidad</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Cada alerta crítica con su </a:t>
            </a:r>
            <a:r>
              <a:rPr lang="en-US" sz="2000" b="1" dirty="0">
                <a:solidFill>
                  <a:srgbClr val="1C2B27"/>
                </a:solidFill>
                <a:latin typeface="Calibri" pitchFamily="34" charset="0"/>
                <a:ea typeface="Calibri" pitchFamily="34" charset="-122"/>
                <a:cs typeface="Calibri" pitchFamily="34" charset="-120"/>
              </a:rPr>
              <a:t>runbook</a:t>
            </a:r>
            <a:r>
              <a:rPr lang="en-US" sz="2000" dirty="0">
                <a:solidFill>
                  <a:srgbClr val="1C2B27"/>
                </a:solidFill>
                <a:latin typeface="Calibri" pitchFamily="34" charset="0"/>
                <a:ea typeface="Calibri" pitchFamily="34" charset="-122"/>
                <a:cs typeface="Calibri" pitchFamily="34" charset="-120"/>
              </a:rPr>
              <a:t>: qué comprobar y qué hacer</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Evitar la </a:t>
            </a:r>
            <a:r>
              <a:rPr lang="en-US" sz="2000" b="1" dirty="0">
                <a:solidFill>
                  <a:srgbClr val="1C2B27"/>
                </a:solidFill>
                <a:latin typeface="Calibri" pitchFamily="34" charset="0"/>
                <a:ea typeface="Calibri" pitchFamily="34" charset="-122"/>
                <a:cs typeface="Calibri" pitchFamily="34" charset="-120"/>
              </a:rPr>
              <a:t>fatiga</a:t>
            </a:r>
            <a:r>
              <a:rPr lang="en-US" sz="2000" dirty="0">
                <a:solidFill>
                  <a:srgbClr val="1C2B27"/>
                </a:solidFill>
                <a:latin typeface="Calibri" pitchFamily="34" charset="0"/>
                <a:ea typeface="Calibri" pitchFamily="34" charset="-122"/>
                <a:cs typeface="Calibri" pitchFamily="34" charset="-120"/>
              </a:rPr>
              <a:t>: si una alerta salta y nadie actúa, sobra o está mal calibrada</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Alertar también de lo que </a:t>
            </a:r>
            <a:r>
              <a:rPr lang="en-US" sz="2000" b="1" dirty="0">
                <a:solidFill>
                  <a:srgbClr val="1C2B27"/>
                </a:solidFill>
                <a:latin typeface="Calibri" pitchFamily="34" charset="0"/>
                <a:ea typeface="Calibri" pitchFamily="34" charset="-122"/>
                <a:cs typeface="Calibri" pitchFamily="34" charset="-120"/>
              </a:rPr>
              <a:t>no pasa</a:t>
            </a:r>
            <a:r>
              <a:rPr lang="en-US" sz="2000" dirty="0">
                <a:solidFill>
                  <a:srgbClr val="1C2B27"/>
                </a:solidFill>
                <a:latin typeface="Calibri" pitchFamily="34" charset="0"/>
                <a:ea typeface="Calibri" pitchFamily="34" charset="-122"/>
                <a:cs typeface="Calibri" pitchFamily="34" charset="-120"/>
              </a:rPr>
              <a:t>: backups que no se ejecutan, métricas que no llegan</a:t>
            </a:r>
            <a:endParaRPr lang="en-US" sz="2000" dirty="0"/>
          </a:p>
          <a:p>
            <a:pPr marL="254000" indent="-254000">
              <a:spcAft>
                <a:spcPts val="1000"/>
              </a:spcAft>
              <a:buSzPct val="100000"/>
              <a:buChar char="●"/>
            </a:pPr>
            <a:r>
              <a:rPr lang="en-US" sz="2000" dirty="0">
                <a:solidFill>
                  <a:srgbClr val="1C2B27"/>
                </a:solidFill>
                <a:latin typeface="Calibri" pitchFamily="34" charset="0"/>
                <a:ea typeface="Calibri" pitchFamily="34" charset="-122"/>
                <a:cs typeface="Calibri" pitchFamily="34" charset="-120"/>
              </a:rPr>
              <a:t>Probar las alertas: </a:t>
            </a:r>
            <a:r>
              <a:rPr lang="en-US" sz="2000" b="1" dirty="0">
                <a:solidFill>
                  <a:srgbClr val="1C2B27"/>
                </a:solidFill>
                <a:latin typeface="Calibri" pitchFamily="34" charset="0"/>
                <a:ea typeface="Calibri" pitchFamily="34" charset="-122"/>
                <a:cs typeface="Calibri" pitchFamily="34" charset="-120"/>
              </a:rPr>
              <a:t>provocar</a:t>
            </a:r>
            <a:r>
              <a:rPr lang="en-US" sz="2000" dirty="0">
                <a:solidFill>
                  <a:srgbClr val="1C2B27"/>
                </a:solidFill>
                <a:latin typeface="Calibri" pitchFamily="34" charset="0"/>
                <a:ea typeface="Calibri" pitchFamily="34" charset="-122"/>
                <a:cs typeface="Calibri" pitchFamily="34" charset="-120"/>
              </a:rPr>
              <a:t> el fallo y comprobar que llega el aviso</a:t>
            </a:r>
            <a:endParaRPr lang="en-US" sz="2000" dirty="0"/>
          </a:p>
        </p:txBody>
      </p:sp>
      <p:sp>
        <p:nvSpPr>
          <p:cNvPr id="4" name="Shape 2"/>
          <p:cNvSpPr/>
          <p:nvPr/>
        </p:nvSpPr>
        <p:spPr>
          <a:xfrm>
            <a:off x="7863840" y="1463040"/>
            <a:ext cx="3779215" cy="4206240"/>
          </a:xfrm>
          <a:prstGeom prst="roundRect">
            <a:avLst>
              <a:gd name="adj" fmla="val 2903"/>
            </a:avLst>
          </a:prstGeom>
          <a:solidFill>
            <a:srgbClr val="E8F3EC"/>
          </a:solidFill>
          <a:ln w="12700">
            <a:solidFill>
              <a:srgbClr val="E8F3EC"/>
            </a:solidFill>
            <a:prstDash val="solid"/>
          </a:ln>
        </p:spPr>
      </p:sp>
      <p:sp>
        <p:nvSpPr>
          <p:cNvPr id="5" name="Shape 3"/>
          <p:cNvSpPr/>
          <p:nvPr/>
        </p:nvSpPr>
        <p:spPr>
          <a:xfrm>
            <a:off x="8138160" y="1737360"/>
            <a:ext cx="548640" cy="548640"/>
          </a:xfrm>
          <a:prstGeom prst="ellipse">
            <a:avLst/>
          </a:prstGeom>
          <a:solidFill>
            <a:srgbClr val="1F7A4D"/>
          </a:solidFill>
          <a:ln w="12700">
            <a:solidFill>
              <a:srgbClr val="1F7A4D"/>
            </a:solidFill>
            <a:prstDash val="solid"/>
          </a:ln>
        </p:spPr>
      </p:sp>
      <p:sp>
        <p:nvSpPr>
          <p:cNvPr id="6" name="Text 4"/>
          <p:cNvSpPr txBox="1"/>
          <p:nvPr/>
        </p:nvSpPr>
        <p:spPr>
          <a:xfrm>
            <a:off x="8138160" y="17373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7" name="Text 5"/>
          <p:cNvSpPr txBox="1"/>
          <p:nvPr/>
        </p:nvSpPr>
        <p:spPr>
          <a:xfrm>
            <a:off x="8823960" y="1737360"/>
            <a:ext cx="2590495" cy="548640"/>
          </a:xfrm>
          <a:prstGeom prst="rect">
            <a:avLst/>
          </a:prstGeom>
          <a:noFill/>
          <a:ln/>
        </p:spPr>
        <p:txBody>
          <a:bodyPr wrap="square" lIns="0" tIns="0" rIns="0" bIns="0" rtlCol="0" anchor="ctr"/>
          <a:lstStyle/>
          <a:p>
            <a:pPr indent="0" marL="0">
              <a:buNone/>
            </a:pPr>
            <a:r>
              <a:rPr lang="en-US" sz="1800" b="1" dirty="0">
                <a:solidFill>
                  <a:srgbClr val="0F2A25"/>
                </a:solidFill>
                <a:latin typeface="Cambria" pitchFamily="34" charset="0"/>
                <a:ea typeface="Cambria" pitchFamily="34" charset="-122"/>
                <a:cs typeface="Cambria" pitchFamily="34" charset="-120"/>
              </a:rPr>
              <a:t>Críticas vs avisos</a:t>
            </a:r>
            <a:endParaRPr lang="en-US" sz="1800" dirty="0"/>
          </a:p>
        </p:txBody>
      </p:sp>
      <p:sp>
        <p:nvSpPr>
          <p:cNvPr id="8" name="Text 6"/>
          <p:cNvSpPr txBox="1"/>
          <p:nvPr/>
        </p:nvSpPr>
        <p:spPr>
          <a:xfrm>
            <a:off x="8138160" y="2468880"/>
            <a:ext cx="3230575" cy="3017520"/>
          </a:xfrm>
          <a:prstGeom prst="rect">
            <a:avLst/>
          </a:prstGeom>
          <a:noFill/>
          <a:ln/>
        </p:spPr>
        <p:txBody>
          <a:bodyPr wrap="square" lIns="0" tIns="0" rIns="0" bIns="0" rtlCol="0" anchor="t"/>
          <a:lstStyle/>
          <a:p>
            <a:pPr indent="0" marL="0">
              <a:buNone/>
            </a:pPr>
            <a:r>
              <a:rPr lang="en-US" sz="1700" dirty="0">
                <a:solidFill>
                  <a:srgbClr val="1C2B27"/>
                </a:solidFill>
                <a:latin typeface="Calibri" pitchFamily="34" charset="0"/>
                <a:ea typeface="Calibri" pitchFamily="34" charset="-122"/>
                <a:cs typeface="Calibri" pitchFamily="34" charset="-120"/>
              </a:rPr>
              <a:t>Crítica (despierta a alguien): sin primario, nodo caído, disco casi lleno, backup fallido.</a:t>
            </a:r>
            <a:endParaRPr lang="en-US" sz="1700" dirty="0"/>
          </a:p>
          <a:p>
            <a:pPr indent="0" marL="0">
              <a:buNone/>
            </a:pPr>
            <a:r>
              <a:rPr lang="en-US" sz="1700" dirty="0">
                <a:solidFill>
                  <a:srgbClr val="1C2B27"/>
                </a:solidFill>
                <a:latin typeface="Calibri" pitchFamily="34" charset="0"/>
                <a:ea typeface="Calibri" pitchFamily="34" charset="-122"/>
                <a:cs typeface="Calibri" pitchFamily="34" charset="-120"/>
              </a:rPr>
              <a:t>Aviso (horario laboral): lag creciente, conexiones altas, certificado caduca en 30 días.</a:t>
            </a:r>
            <a:endParaRPr lang="en-US" sz="1700" dirty="0"/>
          </a:p>
        </p:txBody>
      </p:sp>
      <p:sp>
        <p:nvSpPr>
          <p:cNvPr id="9" name="Text 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10" name="Text 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22 / 33</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8F3EC"/>
        </a:solidFill>
      </p:bgPr>
    </p:bg>
    <p:spTree>
      <p:nvGrpSpPr>
        <p:cNvPr id="1" name=""/>
        <p:cNvGrpSpPr/>
        <p:nvPr/>
      </p:nvGrpSpPr>
      <p:grpSpPr>
        <a:xfrm>
          <a:off x="0" y="0"/>
          <a:ext cx="0" cy="0"/>
          <a:chOff x="0" y="0"/>
          <a:chExt cx="0" cy="0"/>
        </a:xfrm>
      </p:grpSpPr>
      <p:sp>
        <p:nvSpPr>
          <p:cNvPr id="2" name="Shape 0"/>
          <p:cNvSpPr/>
          <p:nvPr/>
        </p:nvSpPr>
        <p:spPr>
          <a:xfrm>
            <a:off x="548640" y="457200"/>
            <a:ext cx="2651760" cy="457200"/>
          </a:xfrm>
          <a:prstGeom prst="roundRect">
            <a:avLst>
              <a:gd name="adj" fmla="val 50000"/>
            </a:avLst>
          </a:prstGeom>
          <a:solidFill>
            <a:srgbClr val="F2B33D"/>
          </a:solidFill>
          <a:ln w="12700">
            <a:solidFill>
              <a:srgbClr val="F2B33D"/>
            </a:solidFill>
            <a:prstDash val="solid"/>
          </a:ln>
        </p:spPr>
      </p:sp>
      <p:sp>
        <p:nvSpPr>
          <p:cNvPr id="3" name="Text 1"/>
          <p:cNvSpPr txBox="1"/>
          <p:nvPr/>
        </p:nvSpPr>
        <p:spPr>
          <a:xfrm>
            <a:off x="548640" y="457200"/>
            <a:ext cx="2651760" cy="457200"/>
          </a:xfrm>
          <a:prstGeom prst="rect">
            <a:avLst/>
          </a:prstGeom>
          <a:noFill/>
          <a:ln/>
        </p:spPr>
        <p:txBody>
          <a:bodyPr wrap="square" lIns="0" tIns="0" rIns="0" bIns="0" rtlCol="0" anchor="ctr"/>
          <a:lstStyle/>
          <a:p>
            <a:pPr algn="ctr" indent="0" marL="0">
              <a:buNone/>
            </a:pPr>
            <a:r>
              <a:rPr lang="en-US" sz="1400" b="1" spc="200" kern="0" dirty="0">
                <a:solidFill>
                  <a:srgbClr val="0F2A25"/>
                </a:solidFill>
                <a:latin typeface="Calibri" pitchFamily="34" charset="0"/>
                <a:ea typeface="Calibri" pitchFamily="34" charset="-122"/>
                <a:cs typeface="Calibri" pitchFamily="34" charset="-120"/>
              </a:rPr>
              <a:t>LABORATORIO 13</a:t>
            </a:r>
            <a:endParaRPr lang="en-US" sz="1400" dirty="0"/>
          </a:p>
        </p:txBody>
      </p:sp>
      <p:sp>
        <p:nvSpPr>
          <p:cNvPr id="4" name="Text 2"/>
          <p:cNvSpPr txBox="1"/>
          <p:nvPr/>
        </p:nvSpPr>
        <p:spPr>
          <a:xfrm>
            <a:off x="548640" y="1097280"/>
            <a:ext cx="11094415" cy="822960"/>
          </a:xfrm>
          <a:prstGeom prst="rect">
            <a:avLst/>
          </a:prstGeom>
          <a:noFill/>
          <a:ln/>
        </p:spPr>
        <p:txBody>
          <a:bodyPr wrap="square" lIns="0" tIns="0" rIns="0" bIns="0" rtlCol="0" anchor="t"/>
          <a:lstStyle/>
          <a:p>
            <a:pPr indent="0" marL="0">
              <a:buNone/>
            </a:pPr>
            <a:r>
              <a:rPr lang="en-US" sz="3400" b="1" dirty="0">
                <a:solidFill>
                  <a:srgbClr val="0F2A25"/>
                </a:solidFill>
                <a:latin typeface="Cambria" pitchFamily="34" charset="0"/>
                <a:ea typeface="Cambria" pitchFamily="34" charset="-122"/>
                <a:cs typeface="Cambria" pitchFamily="34" charset="-120"/>
              </a:rPr>
              <a:t>Monitorización con PMM y alertas</a:t>
            </a:r>
            <a:endParaRPr lang="en-US" sz="3400" dirty="0"/>
          </a:p>
        </p:txBody>
      </p:sp>
      <p:sp>
        <p:nvSpPr>
          <p:cNvPr id="5" name="Shape 3"/>
          <p:cNvSpPr/>
          <p:nvPr/>
        </p:nvSpPr>
        <p:spPr>
          <a:xfrm>
            <a:off x="548640" y="2103120"/>
            <a:ext cx="7223760" cy="3977640"/>
          </a:xfrm>
          <a:prstGeom prst="roundRect">
            <a:avLst>
              <a:gd name="adj" fmla="val 2759"/>
            </a:avLst>
          </a:prstGeom>
          <a:solidFill>
            <a:srgbClr val="FFFFFF"/>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2240280"/>
            <a:ext cx="6675120" cy="411480"/>
          </a:xfrm>
          <a:prstGeom prst="rect">
            <a:avLst/>
          </a:prstGeom>
          <a:noFill/>
          <a:ln/>
        </p:spPr>
        <p:txBody>
          <a:bodyPr wrap="square" lIns="0" tIns="0" rIns="0" bIns="0" rtlCol="0" anchor="ctr"/>
          <a:lstStyle/>
          <a:p>
            <a:pPr indent="0" marL="0">
              <a:buNone/>
            </a:pPr>
            <a:r>
              <a:rPr lang="en-US" sz="1800" b="1" dirty="0">
                <a:solidFill>
                  <a:srgbClr val="1F7A4D"/>
                </a:solidFill>
                <a:latin typeface="Cambria" pitchFamily="34" charset="0"/>
                <a:ea typeface="Cambria" pitchFamily="34" charset="-122"/>
                <a:cs typeface="Cambria" pitchFamily="34" charset="-120"/>
              </a:rPr>
              <a:t>Qué vas a hacer</a:t>
            </a:r>
            <a:endParaRPr lang="en-US" sz="1800" dirty="0"/>
          </a:p>
        </p:txBody>
      </p:sp>
      <p:sp>
        <p:nvSpPr>
          <p:cNvPr id="7" name="Text 5"/>
          <p:cNvSpPr txBox="1"/>
          <p:nvPr/>
        </p:nvSpPr>
        <p:spPr>
          <a:xfrm>
            <a:off x="822960" y="2697480"/>
            <a:ext cx="6675120" cy="3246120"/>
          </a:xfrm>
          <a:prstGeom prst="rect">
            <a:avLst/>
          </a:prstGeom>
          <a:noFill/>
          <a:ln/>
        </p:spPr>
        <p:txBody>
          <a:bodyPr wrap="square" lIns="0" tIns="0" rIns="0" bIns="0" rtlCol="0" anchor="t"/>
          <a:lstStyle/>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Crear el usuario de monitorización y activar el profiler en los tres nodos</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Desplegar PMM Server y PMM Client y registrar el replica set</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Interpretar los paneles de instancias, replica set y WiredTiger bajo carga</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Encontrar la consulta más costosa en Query Analytics</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Crear una alerta de nodo caído y comprobar que salta</a:t>
            </a:r>
            <a:endParaRPr lang="en-US" sz="1900" dirty="0"/>
          </a:p>
        </p:txBody>
      </p:sp>
      <p:sp>
        <p:nvSpPr>
          <p:cNvPr id="8" name="Shape 6"/>
          <p:cNvSpPr/>
          <p:nvPr/>
        </p:nvSpPr>
        <p:spPr>
          <a:xfrm>
            <a:off x="8138160" y="2103120"/>
            <a:ext cx="3504895" cy="1143000"/>
          </a:xfrm>
          <a:prstGeom prst="roundRect">
            <a:avLst>
              <a:gd name="adj" fmla="val 9600"/>
            </a:avLst>
          </a:prstGeom>
          <a:solidFill>
            <a:srgbClr val="0F2A25"/>
          </a:solidFill>
          <a:ln w="12700">
            <a:solidFill>
              <a:srgbClr val="0F2A25"/>
            </a:solidFill>
            <a:prstDash val="solid"/>
          </a:ln>
        </p:spPr>
      </p:sp>
      <p:sp>
        <p:nvSpPr>
          <p:cNvPr id="9" name="Text 7"/>
          <p:cNvSpPr txBox="1"/>
          <p:nvPr/>
        </p:nvSpPr>
        <p:spPr>
          <a:xfrm>
            <a:off x="8366760" y="2240280"/>
            <a:ext cx="3047695" cy="274320"/>
          </a:xfrm>
          <a:prstGeom prst="rect">
            <a:avLst/>
          </a:prstGeom>
          <a:noFill/>
          <a:ln/>
        </p:spPr>
        <p:txBody>
          <a:bodyPr wrap="square" lIns="0" tIns="0" rIns="0" bIns="0" rtlCol="0" anchor="ctr"/>
          <a:lstStyle/>
          <a:p>
            <a:pPr indent="0" marL="0">
              <a:buNone/>
            </a:pPr>
            <a:r>
              <a:rPr lang="en-US" sz="1100" b="1" spc="200" kern="0" dirty="0">
                <a:solidFill>
                  <a:srgbClr val="F2B33D"/>
                </a:solidFill>
                <a:latin typeface="Calibri" pitchFamily="34" charset="0"/>
                <a:ea typeface="Calibri" pitchFamily="34" charset="-122"/>
                <a:cs typeface="Calibri" pitchFamily="34" charset="-120"/>
              </a:rPr>
              <a:t>DURACIÓN</a:t>
            </a:r>
            <a:endParaRPr lang="en-US" sz="1100" dirty="0"/>
          </a:p>
        </p:txBody>
      </p:sp>
      <p:sp>
        <p:nvSpPr>
          <p:cNvPr id="10" name="Text 8"/>
          <p:cNvSpPr txBox="1"/>
          <p:nvPr/>
        </p:nvSpPr>
        <p:spPr>
          <a:xfrm>
            <a:off x="8366760" y="2514600"/>
            <a:ext cx="3047695" cy="64008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30 min</a:t>
            </a:r>
            <a:endParaRPr lang="en-US" sz="2600" dirty="0"/>
          </a:p>
        </p:txBody>
      </p:sp>
      <p:sp>
        <p:nvSpPr>
          <p:cNvPr id="11" name="Shape 9"/>
          <p:cNvSpPr/>
          <p:nvPr/>
        </p:nvSpPr>
        <p:spPr>
          <a:xfrm>
            <a:off x="8138160" y="3474720"/>
            <a:ext cx="3504895" cy="1143000"/>
          </a:xfrm>
          <a:prstGeom prst="roundRect">
            <a:avLst>
              <a:gd name="adj" fmla="val 9600"/>
            </a:avLst>
          </a:prstGeom>
          <a:solidFill>
            <a:srgbClr val="FFFFFF"/>
          </a:solidFill>
          <a:ln w="12700">
            <a:solidFill>
              <a:srgbClr val="D5DDD9"/>
            </a:solidFill>
            <a:prstDash val="solid"/>
          </a:ln>
        </p:spPr>
      </p:sp>
      <p:sp>
        <p:nvSpPr>
          <p:cNvPr id="12" name="Text 10"/>
          <p:cNvSpPr txBox="1"/>
          <p:nvPr/>
        </p:nvSpPr>
        <p:spPr>
          <a:xfrm>
            <a:off x="8366760" y="36118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CARPETA</a:t>
            </a:r>
            <a:endParaRPr lang="en-US" sz="1100" dirty="0"/>
          </a:p>
        </p:txBody>
      </p:sp>
      <p:sp>
        <p:nvSpPr>
          <p:cNvPr id="13" name="Text 11"/>
          <p:cNvSpPr txBox="1"/>
          <p:nvPr/>
        </p:nvSpPr>
        <p:spPr>
          <a:xfrm>
            <a:off x="8366760" y="38862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entorno/</a:t>
            </a:r>
            <a:endParaRPr lang="en-US" sz="1300" dirty="0"/>
          </a:p>
        </p:txBody>
      </p:sp>
      <p:sp>
        <p:nvSpPr>
          <p:cNvPr id="14" name="Shape 12"/>
          <p:cNvSpPr/>
          <p:nvPr/>
        </p:nvSpPr>
        <p:spPr>
          <a:xfrm>
            <a:off x="8138160" y="4846320"/>
            <a:ext cx="3504895" cy="1143000"/>
          </a:xfrm>
          <a:prstGeom prst="roundRect">
            <a:avLst>
              <a:gd name="adj" fmla="val 9600"/>
            </a:avLst>
          </a:prstGeom>
          <a:solidFill>
            <a:srgbClr val="FFFFFF"/>
          </a:solidFill>
          <a:ln w="12700">
            <a:solidFill>
              <a:srgbClr val="D5DDD9"/>
            </a:solidFill>
            <a:prstDash val="solid"/>
          </a:ln>
        </p:spPr>
      </p:sp>
      <p:sp>
        <p:nvSpPr>
          <p:cNvPr id="15" name="Text 13"/>
          <p:cNvSpPr txBox="1"/>
          <p:nvPr/>
        </p:nvSpPr>
        <p:spPr>
          <a:xfrm>
            <a:off x="8366760" y="49834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GUÍA</a:t>
            </a:r>
            <a:endParaRPr lang="en-US" sz="1100" dirty="0"/>
          </a:p>
        </p:txBody>
      </p:sp>
      <p:sp>
        <p:nvSpPr>
          <p:cNvPr id="16" name="Text 14"/>
          <p:cNvSpPr txBox="1"/>
          <p:nvPr/>
        </p:nvSpPr>
        <p:spPr>
          <a:xfrm>
            <a:off x="8366760" y="52578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dia4/lab13-pmm/README.md</a:t>
            </a:r>
            <a:endParaRPr lang="en-US" sz="1300" dirty="0"/>
          </a:p>
        </p:txBody>
      </p:sp>
      <p:sp>
        <p:nvSpPr>
          <p:cNvPr id="17" name="Text 1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18" name="Text 1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23 / 33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2A25"/>
        </a:solidFill>
      </p:bgPr>
    </p:bg>
    <p:spTree>
      <p:nvGrpSpPr>
        <p:cNvPr id="1" name=""/>
        <p:cNvGrpSpPr/>
        <p:nvPr/>
      </p:nvGrpSpPr>
      <p:grpSpPr>
        <a:xfrm>
          <a:off x="0" y="0"/>
          <a:ext cx="0" cy="0"/>
          <a:chOff x="0" y="0"/>
          <a:chExt cx="0" cy="0"/>
        </a:xfrm>
      </p:grpSpPr>
      <p:sp>
        <p:nvSpPr>
          <p:cNvPr id="2" name="Shape 0"/>
          <p:cNvSpPr/>
          <p:nvPr/>
        </p:nvSpPr>
        <p:spPr>
          <a:xfrm>
            <a:off x="548640" y="1280160"/>
            <a:ext cx="1463040" cy="1463040"/>
          </a:xfrm>
          <a:prstGeom prst="ellipse">
            <a:avLst/>
          </a:prstGeom>
          <a:solidFill>
            <a:srgbClr val="F2B33D"/>
          </a:solidFill>
          <a:ln w="12700">
            <a:solidFill>
              <a:srgbClr val="F2B33D"/>
            </a:solidFill>
            <a:prstDash val="solid"/>
          </a:ln>
        </p:spPr>
      </p:sp>
      <p:sp>
        <p:nvSpPr>
          <p:cNvPr id="3" name="Text 1"/>
          <p:cNvSpPr txBox="1"/>
          <p:nvPr/>
        </p:nvSpPr>
        <p:spPr>
          <a:xfrm>
            <a:off x="548640" y="1280160"/>
            <a:ext cx="1463040" cy="1463040"/>
          </a:xfrm>
          <a:prstGeom prst="rect">
            <a:avLst/>
          </a:prstGeom>
          <a:noFill/>
          <a:ln/>
        </p:spPr>
        <p:txBody>
          <a:bodyPr wrap="square" lIns="0" tIns="0" rIns="0" bIns="0" rtlCol="0" anchor="ctr"/>
          <a:lstStyle/>
          <a:p>
            <a:pPr algn="ctr" indent="0" marL="0">
              <a:buNone/>
            </a:pPr>
            <a:r>
              <a:rPr lang="en-US" sz="4000" b="1" dirty="0">
                <a:solidFill>
                  <a:srgbClr val="0F2A25"/>
                </a:solidFill>
                <a:latin typeface="Cambria" pitchFamily="34" charset="0"/>
                <a:ea typeface="Cambria" pitchFamily="34" charset="-122"/>
                <a:cs typeface="Cambria" pitchFamily="34" charset="-120"/>
              </a:rPr>
              <a:t>14</a:t>
            </a:r>
            <a:endParaRPr lang="en-US" sz="4000" dirty="0"/>
          </a:p>
        </p:txBody>
      </p:sp>
      <p:sp>
        <p:nvSpPr>
          <p:cNvPr id="4" name="Text 2"/>
          <p:cNvSpPr txBox="1"/>
          <p:nvPr/>
        </p:nvSpPr>
        <p:spPr>
          <a:xfrm>
            <a:off x="2377440" y="1325880"/>
            <a:ext cx="8229600" cy="365760"/>
          </a:xfrm>
          <a:prstGeom prst="rect">
            <a:avLst/>
          </a:prstGeom>
          <a:noFill/>
          <a:ln/>
        </p:spPr>
        <p:txBody>
          <a:bodyPr wrap="square" lIns="0" tIns="0" rIns="0" bIns="0" rtlCol="0" anchor="ctr"/>
          <a:lstStyle/>
          <a:p>
            <a:pPr indent="0" marL="0">
              <a:buNone/>
            </a:pPr>
            <a:r>
              <a:rPr lang="en-US" sz="1400" b="1" spc="400" kern="0" dirty="0">
                <a:solidFill>
                  <a:srgbClr val="F2B33D"/>
                </a:solidFill>
                <a:latin typeface="Calibri" pitchFamily="34" charset="0"/>
                <a:ea typeface="Calibri" pitchFamily="34" charset="-122"/>
                <a:cs typeface="Calibri" pitchFamily="34" charset="-120"/>
              </a:rPr>
              <a:t>MÓDULO</a:t>
            </a:r>
            <a:endParaRPr lang="en-US" sz="1400" dirty="0"/>
          </a:p>
        </p:txBody>
      </p:sp>
      <p:sp>
        <p:nvSpPr>
          <p:cNvPr id="5" name="Text 3"/>
          <p:cNvSpPr txBox="1"/>
          <p:nvPr/>
        </p:nvSpPr>
        <p:spPr>
          <a:xfrm>
            <a:off x="2377440" y="1691640"/>
            <a:ext cx="9144000" cy="9144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Troubleshooting</a:t>
            </a:r>
            <a:endParaRPr lang="en-US" sz="4000" dirty="0"/>
          </a:p>
        </p:txBody>
      </p:sp>
      <p:sp>
        <p:nvSpPr>
          <p:cNvPr id="6" name="Text 4"/>
          <p:cNvSpPr txBox="1"/>
          <p:nvPr/>
        </p:nvSpPr>
        <p:spPr>
          <a:xfrm>
            <a:off x="2377440" y="2743200"/>
            <a:ext cx="9144000" cy="548640"/>
          </a:xfrm>
          <a:prstGeom prst="rect">
            <a:avLst/>
          </a:prstGeom>
          <a:noFill/>
          <a:ln/>
        </p:spPr>
        <p:txBody>
          <a:bodyPr wrap="square" lIns="0" tIns="0" rIns="0" bIns="0" rtlCol="0" anchor="ctr"/>
          <a:lstStyle/>
          <a:p>
            <a:pPr indent="0" marL="0">
              <a:buNone/>
            </a:pPr>
            <a:r>
              <a:rPr lang="en-US" sz="1800" dirty="0">
                <a:solidFill>
                  <a:srgbClr val="CFE3D8"/>
                </a:solidFill>
                <a:latin typeface="Calibri" pitchFamily="34" charset="0"/>
                <a:ea typeface="Calibri" pitchFamily="34" charset="-122"/>
                <a:cs typeface="Calibri" pitchFamily="34" charset="-120"/>
              </a:rPr>
              <a:t>Método y herramientas integradas en MongoDB</a:t>
            </a:r>
            <a:endParaRPr lang="en-US" sz="1800" dirty="0"/>
          </a:p>
        </p:txBody>
      </p:sp>
      <p:sp>
        <p:nvSpPr>
          <p:cNvPr id="7" name="Shape 5"/>
          <p:cNvSpPr/>
          <p:nvPr/>
        </p:nvSpPr>
        <p:spPr>
          <a:xfrm>
            <a:off x="2377440" y="3749040"/>
            <a:ext cx="2905658" cy="731520"/>
          </a:xfrm>
          <a:prstGeom prst="roundRect">
            <a:avLst>
              <a:gd name="adj" fmla="val 15000"/>
            </a:avLst>
          </a:prstGeom>
          <a:solidFill>
            <a:srgbClr val="173D35"/>
          </a:solidFill>
          <a:ln w="12700">
            <a:solidFill>
              <a:srgbClr val="2D5A4E"/>
            </a:solidFill>
            <a:prstDash val="solid"/>
          </a:ln>
        </p:spPr>
      </p:sp>
      <p:sp>
        <p:nvSpPr>
          <p:cNvPr id="8" name="Text 6"/>
          <p:cNvSpPr txBox="1"/>
          <p:nvPr/>
        </p:nvSpPr>
        <p:spPr>
          <a:xfrm>
            <a:off x="2560320" y="37490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Método</a:t>
            </a:r>
            <a:endParaRPr lang="en-US" sz="1600" dirty="0"/>
          </a:p>
        </p:txBody>
      </p:sp>
      <p:sp>
        <p:nvSpPr>
          <p:cNvPr id="9" name="Shape 7"/>
          <p:cNvSpPr/>
          <p:nvPr/>
        </p:nvSpPr>
        <p:spPr>
          <a:xfrm>
            <a:off x="5557418" y="3749040"/>
            <a:ext cx="2905658" cy="731520"/>
          </a:xfrm>
          <a:prstGeom prst="roundRect">
            <a:avLst>
              <a:gd name="adj" fmla="val 15000"/>
            </a:avLst>
          </a:prstGeom>
          <a:solidFill>
            <a:srgbClr val="173D35"/>
          </a:solidFill>
          <a:ln w="12700">
            <a:solidFill>
              <a:srgbClr val="2D5A4E"/>
            </a:solidFill>
            <a:prstDash val="solid"/>
          </a:ln>
        </p:spPr>
      </p:sp>
      <p:sp>
        <p:nvSpPr>
          <p:cNvPr id="10" name="Text 8"/>
          <p:cNvSpPr txBox="1"/>
          <p:nvPr/>
        </p:nvSpPr>
        <p:spPr>
          <a:xfrm>
            <a:off x="5740298" y="37490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Logs de mongod y mongos</a:t>
            </a:r>
            <a:endParaRPr lang="en-US" sz="1600" dirty="0"/>
          </a:p>
        </p:txBody>
      </p:sp>
      <p:sp>
        <p:nvSpPr>
          <p:cNvPr id="11" name="Shape 9"/>
          <p:cNvSpPr/>
          <p:nvPr/>
        </p:nvSpPr>
        <p:spPr>
          <a:xfrm>
            <a:off x="8737397" y="3749040"/>
            <a:ext cx="2905658" cy="731520"/>
          </a:xfrm>
          <a:prstGeom prst="roundRect">
            <a:avLst>
              <a:gd name="adj" fmla="val 15000"/>
            </a:avLst>
          </a:prstGeom>
          <a:solidFill>
            <a:srgbClr val="173D35"/>
          </a:solidFill>
          <a:ln w="12700">
            <a:solidFill>
              <a:srgbClr val="2D5A4E"/>
            </a:solidFill>
            <a:prstDash val="solid"/>
          </a:ln>
        </p:spPr>
      </p:sp>
      <p:sp>
        <p:nvSpPr>
          <p:cNvPr id="12" name="Text 10"/>
          <p:cNvSpPr txBox="1"/>
          <p:nvPr/>
        </p:nvSpPr>
        <p:spPr>
          <a:xfrm>
            <a:off x="8920277" y="37490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mongostat y mongotop</a:t>
            </a:r>
            <a:endParaRPr lang="en-US" sz="1600" dirty="0"/>
          </a:p>
        </p:txBody>
      </p:sp>
      <p:sp>
        <p:nvSpPr>
          <p:cNvPr id="13" name="Shape 11"/>
          <p:cNvSpPr/>
          <p:nvPr/>
        </p:nvSpPr>
        <p:spPr>
          <a:xfrm>
            <a:off x="2377440" y="4663440"/>
            <a:ext cx="2905658" cy="731520"/>
          </a:xfrm>
          <a:prstGeom prst="roundRect">
            <a:avLst>
              <a:gd name="adj" fmla="val 15000"/>
            </a:avLst>
          </a:prstGeom>
          <a:solidFill>
            <a:srgbClr val="173D35"/>
          </a:solidFill>
          <a:ln w="12700">
            <a:solidFill>
              <a:srgbClr val="2D5A4E"/>
            </a:solidFill>
            <a:prstDash val="solid"/>
          </a:ln>
        </p:spPr>
      </p:sp>
      <p:sp>
        <p:nvSpPr>
          <p:cNvPr id="14" name="Text 12"/>
          <p:cNvSpPr txBox="1"/>
          <p:nvPr/>
        </p:nvSpPr>
        <p:spPr>
          <a:xfrm>
            <a:off x="2560320" y="46634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Profiler</a:t>
            </a:r>
            <a:endParaRPr lang="en-US" sz="1600" dirty="0"/>
          </a:p>
        </p:txBody>
      </p:sp>
      <p:sp>
        <p:nvSpPr>
          <p:cNvPr id="15" name="Shape 13"/>
          <p:cNvSpPr/>
          <p:nvPr/>
        </p:nvSpPr>
        <p:spPr>
          <a:xfrm>
            <a:off x="5557418" y="4663440"/>
            <a:ext cx="2905658" cy="731520"/>
          </a:xfrm>
          <a:prstGeom prst="roundRect">
            <a:avLst>
              <a:gd name="adj" fmla="val 15000"/>
            </a:avLst>
          </a:prstGeom>
          <a:solidFill>
            <a:srgbClr val="173D35"/>
          </a:solidFill>
          <a:ln w="12700">
            <a:solidFill>
              <a:srgbClr val="2D5A4E"/>
            </a:solidFill>
            <a:prstDash val="solid"/>
          </a:ln>
        </p:spPr>
      </p:sp>
      <p:sp>
        <p:nvSpPr>
          <p:cNvPr id="16" name="Text 14"/>
          <p:cNvSpPr txBox="1"/>
          <p:nvPr/>
        </p:nvSpPr>
        <p:spPr>
          <a:xfrm>
            <a:off x="5740298" y="46634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explain()</a:t>
            </a:r>
            <a:endParaRPr lang="en-US" sz="1600" dirty="0"/>
          </a:p>
        </p:txBody>
      </p:sp>
      <p:sp>
        <p:nvSpPr>
          <p:cNvPr id="17" name="Shape 15"/>
          <p:cNvSpPr/>
          <p:nvPr/>
        </p:nvSpPr>
        <p:spPr>
          <a:xfrm>
            <a:off x="8737397" y="4663440"/>
            <a:ext cx="2905658" cy="731520"/>
          </a:xfrm>
          <a:prstGeom prst="roundRect">
            <a:avLst>
              <a:gd name="adj" fmla="val 15000"/>
            </a:avLst>
          </a:prstGeom>
          <a:solidFill>
            <a:srgbClr val="173D35"/>
          </a:solidFill>
          <a:ln w="12700">
            <a:solidFill>
              <a:srgbClr val="2D5A4E"/>
            </a:solidFill>
            <a:prstDash val="solid"/>
          </a:ln>
        </p:spPr>
      </p:sp>
      <p:sp>
        <p:nvSpPr>
          <p:cNvPr id="18" name="Text 16"/>
          <p:cNvSpPr txBox="1"/>
          <p:nvPr/>
        </p:nvSpPr>
        <p:spPr>
          <a:xfrm>
            <a:off x="8920277" y="4663440"/>
            <a:ext cx="2539898"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currentOp y killOp</a:t>
            </a:r>
            <a:endParaRPr lang="en-US" sz="1600" dirty="0"/>
          </a:p>
        </p:txBody>
      </p:sp>
      <p:sp>
        <p:nvSpPr>
          <p:cNvPr id="19" name="Text 1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9DB8AE"/>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20" name="Text 1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9DB8AE"/>
                </a:solidFill>
                <a:latin typeface="Calibri" pitchFamily="34" charset="0"/>
                <a:ea typeface="Calibri" pitchFamily="34" charset="-122"/>
                <a:cs typeface="Calibri" pitchFamily="34" charset="-120"/>
              </a:rPr>
              <a:t>24 / 33</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Un método para cada incidencia</a:t>
            </a:r>
            <a:endParaRPr lang="en-US" sz="3200" dirty="0"/>
          </a:p>
        </p:txBody>
      </p:sp>
      <p:sp>
        <p:nvSpPr>
          <p:cNvPr id="3" name="Shape 1"/>
          <p:cNvSpPr/>
          <p:nvPr/>
        </p:nvSpPr>
        <p:spPr>
          <a:xfrm>
            <a:off x="1978122" y="2423160"/>
            <a:ext cx="1441643" cy="0"/>
          </a:xfrm>
          <a:prstGeom prst="line">
            <a:avLst/>
          </a:prstGeom>
          <a:noFill/>
          <a:ln w="31750">
            <a:solidFill>
              <a:srgbClr val="2E9E66"/>
            </a:solidFill>
            <a:prstDash val="solid"/>
            <a:tailEnd type="triangle"/>
          </a:ln>
        </p:spPr>
      </p:sp>
      <p:sp>
        <p:nvSpPr>
          <p:cNvPr id="4" name="Shape 2"/>
          <p:cNvSpPr/>
          <p:nvPr/>
        </p:nvSpPr>
        <p:spPr>
          <a:xfrm>
            <a:off x="1155162" y="2011680"/>
            <a:ext cx="822960" cy="822960"/>
          </a:xfrm>
          <a:prstGeom prst="ellipse">
            <a:avLst/>
          </a:prstGeom>
          <a:solidFill>
            <a:srgbClr val="1F7A4D"/>
          </a:solidFill>
          <a:ln w="12700">
            <a:solidFill>
              <a:srgbClr val="1F7A4D"/>
            </a:solidFill>
            <a:prstDash val="solid"/>
          </a:ln>
        </p:spPr>
      </p:sp>
      <p:sp>
        <p:nvSpPr>
          <p:cNvPr id="5" name="Text 3"/>
          <p:cNvSpPr txBox="1"/>
          <p:nvPr/>
        </p:nvSpPr>
        <p:spPr>
          <a:xfrm>
            <a:off x="1155162"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548640"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Síntoma</a:t>
            </a:r>
            <a:endParaRPr lang="en-US" sz="1700" dirty="0"/>
          </a:p>
        </p:txBody>
      </p:sp>
      <p:sp>
        <p:nvSpPr>
          <p:cNvPr id="7" name="Text 5"/>
          <p:cNvSpPr txBox="1"/>
          <p:nvPr/>
        </p:nvSpPr>
        <p:spPr>
          <a:xfrm>
            <a:off x="594360"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¿Qué ve el usuario? ¿Desde cuándo? ¿A quién afecta? ¿Qué ha cambiado?</a:t>
            </a:r>
            <a:endParaRPr lang="en-US" sz="1600" dirty="0"/>
          </a:p>
        </p:txBody>
      </p:sp>
      <p:sp>
        <p:nvSpPr>
          <p:cNvPr id="8" name="Shape 6"/>
          <p:cNvSpPr/>
          <p:nvPr/>
        </p:nvSpPr>
        <p:spPr>
          <a:xfrm>
            <a:off x="4242725" y="2423160"/>
            <a:ext cx="1441643" cy="0"/>
          </a:xfrm>
          <a:prstGeom prst="line">
            <a:avLst/>
          </a:prstGeom>
          <a:noFill/>
          <a:ln w="31750">
            <a:solidFill>
              <a:srgbClr val="2E9E66"/>
            </a:solidFill>
            <a:prstDash val="solid"/>
            <a:tailEnd type="triangle"/>
          </a:ln>
        </p:spPr>
      </p:sp>
      <p:sp>
        <p:nvSpPr>
          <p:cNvPr id="9" name="Shape 7"/>
          <p:cNvSpPr/>
          <p:nvPr/>
        </p:nvSpPr>
        <p:spPr>
          <a:xfrm>
            <a:off x="3419765" y="2011680"/>
            <a:ext cx="822960" cy="822960"/>
          </a:xfrm>
          <a:prstGeom prst="ellipse">
            <a:avLst/>
          </a:prstGeom>
          <a:solidFill>
            <a:srgbClr val="F2B33D"/>
          </a:solidFill>
          <a:ln w="12700">
            <a:solidFill>
              <a:srgbClr val="F2B33D"/>
            </a:solidFill>
            <a:prstDash val="solid"/>
          </a:ln>
        </p:spPr>
      </p:sp>
      <p:sp>
        <p:nvSpPr>
          <p:cNvPr id="10" name="Text 8"/>
          <p:cNvSpPr txBox="1"/>
          <p:nvPr/>
        </p:nvSpPr>
        <p:spPr>
          <a:xfrm>
            <a:off x="3419765"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2813243"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Evidencia</a:t>
            </a:r>
            <a:endParaRPr lang="en-US" sz="1700" dirty="0"/>
          </a:p>
        </p:txBody>
      </p:sp>
      <p:sp>
        <p:nvSpPr>
          <p:cNvPr id="12" name="Text 10"/>
          <p:cNvSpPr txBox="1"/>
          <p:nvPr/>
        </p:nvSpPr>
        <p:spPr>
          <a:xfrm>
            <a:off x="2858963"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Métricas, logs, currentOp, profiler. Datos, no intuiciones.</a:t>
            </a:r>
            <a:endParaRPr lang="en-US" sz="1600" dirty="0"/>
          </a:p>
        </p:txBody>
      </p:sp>
      <p:sp>
        <p:nvSpPr>
          <p:cNvPr id="13" name="Shape 11"/>
          <p:cNvSpPr/>
          <p:nvPr/>
        </p:nvSpPr>
        <p:spPr>
          <a:xfrm>
            <a:off x="6507328" y="2423160"/>
            <a:ext cx="1441643" cy="0"/>
          </a:xfrm>
          <a:prstGeom prst="line">
            <a:avLst/>
          </a:prstGeom>
          <a:noFill/>
          <a:ln w="31750">
            <a:solidFill>
              <a:srgbClr val="2E9E66"/>
            </a:solidFill>
            <a:prstDash val="solid"/>
            <a:tailEnd type="triangle"/>
          </a:ln>
        </p:spPr>
      </p:sp>
      <p:sp>
        <p:nvSpPr>
          <p:cNvPr id="14" name="Shape 12"/>
          <p:cNvSpPr/>
          <p:nvPr/>
        </p:nvSpPr>
        <p:spPr>
          <a:xfrm>
            <a:off x="5684368" y="2011680"/>
            <a:ext cx="822960" cy="822960"/>
          </a:xfrm>
          <a:prstGeom prst="ellipse">
            <a:avLst/>
          </a:prstGeom>
          <a:solidFill>
            <a:srgbClr val="1F7A4D"/>
          </a:solidFill>
          <a:ln w="12700">
            <a:solidFill>
              <a:srgbClr val="1F7A4D"/>
            </a:solidFill>
            <a:prstDash val="solid"/>
          </a:ln>
        </p:spPr>
      </p:sp>
      <p:sp>
        <p:nvSpPr>
          <p:cNvPr id="15" name="Text 13"/>
          <p:cNvSpPr txBox="1"/>
          <p:nvPr/>
        </p:nvSpPr>
        <p:spPr>
          <a:xfrm>
            <a:off x="5684368"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Text 14"/>
          <p:cNvSpPr txBox="1"/>
          <p:nvPr/>
        </p:nvSpPr>
        <p:spPr>
          <a:xfrm>
            <a:off x="5077846"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Causa</a:t>
            </a:r>
            <a:endParaRPr lang="en-US" sz="1700" dirty="0"/>
          </a:p>
        </p:txBody>
      </p:sp>
      <p:sp>
        <p:nvSpPr>
          <p:cNvPr id="17" name="Text 15"/>
          <p:cNvSpPr txBox="1"/>
          <p:nvPr/>
        </p:nvSpPr>
        <p:spPr>
          <a:xfrm>
            <a:off x="5123566"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Una hipótesis que explique todas las evidencias.</a:t>
            </a:r>
            <a:endParaRPr lang="en-US" sz="1600" dirty="0"/>
          </a:p>
        </p:txBody>
      </p:sp>
      <p:sp>
        <p:nvSpPr>
          <p:cNvPr id="18" name="Shape 16"/>
          <p:cNvSpPr/>
          <p:nvPr/>
        </p:nvSpPr>
        <p:spPr>
          <a:xfrm>
            <a:off x="8771931" y="2423160"/>
            <a:ext cx="1441643" cy="0"/>
          </a:xfrm>
          <a:prstGeom prst="line">
            <a:avLst/>
          </a:prstGeom>
          <a:noFill/>
          <a:ln w="31750">
            <a:solidFill>
              <a:srgbClr val="2E9E66"/>
            </a:solidFill>
            <a:prstDash val="solid"/>
            <a:tailEnd type="triangle"/>
          </a:ln>
        </p:spPr>
      </p:sp>
      <p:sp>
        <p:nvSpPr>
          <p:cNvPr id="19" name="Shape 17"/>
          <p:cNvSpPr/>
          <p:nvPr/>
        </p:nvSpPr>
        <p:spPr>
          <a:xfrm>
            <a:off x="7948971" y="2011680"/>
            <a:ext cx="822960" cy="822960"/>
          </a:xfrm>
          <a:prstGeom prst="ellipse">
            <a:avLst/>
          </a:prstGeom>
          <a:solidFill>
            <a:srgbClr val="F2B33D"/>
          </a:solidFill>
          <a:ln w="12700">
            <a:solidFill>
              <a:srgbClr val="F2B33D"/>
            </a:solidFill>
            <a:prstDash val="solid"/>
          </a:ln>
        </p:spPr>
      </p:sp>
      <p:sp>
        <p:nvSpPr>
          <p:cNvPr id="20" name="Text 18"/>
          <p:cNvSpPr txBox="1"/>
          <p:nvPr/>
        </p:nvSpPr>
        <p:spPr>
          <a:xfrm>
            <a:off x="7948971" y="2011680"/>
            <a:ext cx="822960" cy="822960"/>
          </a:xfrm>
          <a:prstGeom prst="rect">
            <a:avLst/>
          </a:prstGeom>
          <a:noFill/>
          <a:ln/>
        </p:spPr>
        <p:txBody>
          <a:bodyPr wrap="square" lIns="0" tIns="0" rIns="0" bIns="0" rtlCol="0" anchor="ctr"/>
          <a:lstStyle/>
          <a:p>
            <a:pPr algn="ctr" indent="0" marL="0">
              <a:buNone/>
            </a:pPr>
            <a:r>
              <a:rPr lang="en-US" sz="2200" b="1" dirty="0">
                <a:solidFill>
                  <a:srgbClr val="0F2A25"/>
                </a:solidFill>
                <a:latin typeface="Cambria" pitchFamily="34" charset="0"/>
                <a:ea typeface="Cambria" pitchFamily="34" charset="-122"/>
                <a:cs typeface="Cambria" pitchFamily="34" charset="-120"/>
              </a:rPr>
              <a:t>4</a:t>
            </a:r>
            <a:endParaRPr lang="en-US" sz="2200" dirty="0"/>
          </a:p>
        </p:txBody>
      </p:sp>
      <p:sp>
        <p:nvSpPr>
          <p:cNvPr id="21" name="Text 19"/>
          <p:cNvSpPr txBox="1"/>
          <p:nvPr/>
        </p:nvSpPr>
        <p:spPr>
          <a:xfrm>
            <a:off x="7342449"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Solución</a:t>
            </a:r>
            <a:endParaRPr lang="en-US" sz="1700" dirty="0"/>
          </a:p>
        </p:txBody>
      </p:sp>
      <p:sp>
        <p:nvSpPr>
          <p:cNvPr id="22" name="Text 20"/>
          <p:cNvSpPr txBox="1"/>
          <p:nvPr/>
        </p:nvSpPr>
        <p:spPr>
          <a:xfrm>
            <a:off x="7388169"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Primero mitigar (matar, reiniciar, desviar), después corregir.</a:t>
            </a:r>
            <a:endParaRPr lang="en-US" sz="1600" dirty="0"/>
          </a:p>
        </p:txBody>
      </p:sp>
      <p:sp>
        <p:nvSpPr>
          <p:cNvPr id="23" name="Shape 21"/>
          <p:cNvSpPr/>
          <p:nvPr/>
        </p:nvSpPr>
        <p:spPr>
          <a:xfrm>
            <a:off x="10213574" y="2011680"/>
            <a:ext cx="822960" cy="822960"/>
          </a:xfrm>
          <a:prstGeom prst="ellipse">
            <a:avLst/>
          </a:prstGeom>
          <a:solidFill>
            <a:srgbClr val="1F7A4D"/>
          </a:solidFill>
          <a:ln w="12700">
            <a:solidFill>
              <a:srgbClr val="1F7A4D"/>
            </a:solidFill>
            <a:prstDash val="solid"/>
          </a:ln>
        </p:spPr>
      </p:sp>
      <p:sp>
        <p:nvSpPr>
          <p:cNvPr id="24" name="Text 22"/>
          <p:cNvSpPr txBox="1"/>
          <p:nvPr/>
        </p:nvSpPr>
        <p:spPr>
          <a:xfrm>
            <a:off x="10213574" y="201168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5" name="Text 23"/>
          <p:cNvSpPr txBox="1"/>
          <p:nvPr/>
        </p:nvSpPr>
        <p:spPr>
          <a:xfrm>
            <a:off x="9607052" y="3017520"/>
            <a:ext cx="2036003" cy="640080"/>
          </a:xfrm>
          <a:prstGeom prst="rect">
            <a:avLst/>
          </a:prstGeom>
          <a:noFill/>
          <a:ln/>
        </p:spPr>
        <p:txBody>
          <a:bodyPr wrap="square" lIns="0" tIns="0" rIns="0" bIns="0" rtlCol="0" anchor="t"/>
          <a:lstStyle/>
          <a:p>
            <a:pPr algn="ctr" indent="0" marL="0">
              <a:buNone/>
            </a:pPr>
            <a:r>
              <a:rPr lang="en-US" sz="1700" b="1" dirty="0">
                <a:solidFill>
                  <a:srgbClr val="0F2A25"/>
                </a:solidFill>
                <a:latin typeface="Cambria" pitchFamily="34" charset="0"/>
                <a:ea typeface="Cambria" pitchFamily="34" charset="-122"/>
                <a:cs typeface="Cambria" pitchFamily="34" charset="-120"/>
              </a:rPr>
              <a:t>Verificación</a:t>
            </a:r>
            <a:endParaRPr lang="en-US" sz="1700" dirty="0"/>
          </a:p>
        </p:txBody>
      </p:sp>
      <p:sp>
        <p:nvSpPr>
          <p:cNvPr id="26" name="Text 24"/>
          <p:cNvSpPr txBox="1"/>
          <p:nvPr/>
        </p:nvSpPr>
        <p:spPr>
          <a:xfrm>
            <a:off x="9652772" y="3657600"/>
            <a:ext cx="1944563" cy="2468880"/>
          </a:xfrm>
          <a:prstGeom prst="rect">
            <a:avLst/>
          </a:prstGeom>
          <a:noFill/>
          <a:ln/>
        </p:spPr>
        <p:txBody>
          <a:bodyPr wrap="square" lIns="0" tIns="0" rIns="0" bIns="0" rtlCol="0" anchor="t"/>
          <a:lstStyle/>
          <a:p>
            <a:pPr algn="ctr" indent="0" marL="0">
              <a:buNone/>
            </a:pPr>
            <a:r>
              <a:rPr lang="en-US" sz="1600" dirty="0">
                <a:solidFill>
                  <a:srgbClr val="1C2B27"/>
                </a:solidFill>
                <a:latin typeface="Calibri" pitchFamily="34" charset="0"/>
                <a:ea typeface="Calibri" pitchFamily="34" charset="-122"/>
                <a:cs typeface="Calibri" pitchFamily="34" charset="-120"/>
              </a:rPr>
              <a:t>Comprobar que el síntoma desaparece y documentar.</a:t>
            </a:r>
            <a:endParaRPr lang="en-US" sz="1600" dirty="0"/>
          </a:p>
        </p:txBody>
      </p:sp>
      <p:sp>
        <p:nvSpPr>
          <p:cNvPr id="27" name="Shape 25"/>
          <p:cNvSpPr/>
          <p:nvPr/>
        </p:nvSpPr>
        <p:spPr>
          <a:xfrm>
            <a:off x="548640" y="5532120"/>
            <a:ext cx="11094415" cy="594360"/>
          </a:xfrm>
          <a:prstGeom prst="roundRect">
            <a:avLst>
              <a:gd name="adj" fmla="val 18462"/>
            </a:avLst>
          </a:prstGeom>
          <a:solidFill>
            <a:srgbClr val="E8F3EC"/>
          </a:solidFill>
          <a:ln w="12700">
            <a:solidFill>
              <a:srgbClr val="E8F3EC"/>
            </a:solidFill>
            <a:prstDash val="solid"/>
          </a:ln>
        </p:spPr>
      </p:sp>
      <p:sp>
        <p:nvSpPr>
          <p:cNvPr id="28" name="Text 26"/>
          <p:cNvSpPr txBox="1"/>
          <p:nvPr/>
        </p:nvSpPr>
        <p:spPr>
          <a:xfrm>
            <a:off x="777240" y="5532120"/>
            <a:ext cx="10637215" cy="594360"/>
          </a:xfrm>
          <a:prstGeom prst="rect">
            <a:avLst/>
          </a:prstGeom>
          <a:noFill/>
          <a:ln/>
        </p:spPr>
        <p:txBody>
          <a:bodyPr wrap="square" lIns="0" tIns="0" rIns="0" bIns="0" rtlCol="0" anchor="ctr"/>
          <a:lstStyle/>
          <a:p>
            <a:pPr indent="0" marL="0">
              <a:buNone/>
            </a:pPr>
            <a:r>
              <a:rPr lang="en-US" sz="1400" dirty="0">
                <a:solidFill>
                  <a:srgbClr val="0F2A25"/>
                </a:solidFill>
                <a:latin typeface="Calibri" pitchFamily="34" charset="0"/>
                <a:ea typeface="Calibri" pitchFamily="34" charset="-122"/>
                <a:cs typeface="Calibri" pitchFamily="34" charset="-120"/>
              </a:rPr>
              <a:t>La pregunta más útil en cualquier incidencia: ¿qué ha cambiado? Despliegues, volumen de datos, configuración, infraestructura.</a:t>
            </a:r>
            <a:endParaRPr lang="en-US" sz="1400" dirty="0"/>
          </a:p>
        </p:txBody>
      </p:sp>
      <p:sp>
        <p:nvSpPr>
          <p:cNvPr id="29" name="Text 2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30" name="Text 2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25 / 33</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Logs de mongod y mongos</a:t>
            </a:r>
            <a:endParaRPr lang="en-US" sz="3200" dirty="0"/>
          </a:p>
        </p:txBody>
      </p:sp>
      <p:sp>
        <p:nvSpPr>
          <p:cNvPr id="3" name="Shape 1"/>
          <p:cNvSpPr/>
          <p:nvPr/>
        </p:nvSpPr>
        <p:spPr>
          <a:xfrm>
            <a:off x="548640" y="1463040"/>
            <a:ext cx="6766560" cy="4663440"/>
          </a:xfrm>
          <a:prstGeom prst="roundRect">
            <a:avLst>
              <a:gd name="adj" fmla="val 1569"/>
            </a:avLst>
          </a:prstGeom>
          <a:solidFill>
            <a:srgbClr val="11201C"/>
          </a:solidFill>
          <a:ln w="12700">
            <a:solidFill>
              <a:srgbClr val="11201C"/>
            </a:solidFill>
            <a:prstDash val="solid"/>
          </a:ln>
        </p:spPr>
      </p:sp>
      <p:sp>
        <p:nvSpPr>
          <p:cNvPr id="4" name="Text 2"/>
          <p:cNvSpPr txBox="1"/>
          <p:nvPr/>
        </p:nvSpPr>
        <p:spPr>
          <a:xfrm>
            <a:off x="777240" y="1572768"/>
            <a:ext cx="2743200" cy="274320"/>
          </a:xfrm>
          <a:prstGeom prst="rect">
            <a:avLst/>
          </a:prstGeom>
          <a:noFill/>
          <a:ln/>
        </p:spPr>
        <p:txBody>
          <a:bodyPr wrap="square" lIns="0" tIns="0" rIns="0" bIns="0" rtlCol="0" anchor="ctr"/>
          <a:lstStyle/>
          <a:p>
            <a:pPr indent="0" marL="0">
              <a:buNone/>
            </a:pPr>
            <a:r>
              <a:rPr lang="en-US" sz="1100" b="1" dirty="0">
                <a:solidFill>
                  <a:srgbClr val="F2B33D"/>
                </a:solidFill>
                <a:latin typeface="Courier New" pitchFamily="34" charset="0"/>
                <a:ea typeface="Courier New" pitchFamily="34" charset="-122"/>
                <a:cs typeface="Courier New" pitchFamily="34" charset="-120"/>
              </a:rPr>
              <a:t>Log JSON · una línea por evento</a:t>
            </a:r>
            <a:endParaRPr lang="en-US" sz="1100" dirty="0"/>
          </a:p>
        </p:txBody>
      </p:sp>
      <p:sp>
        <p:nvSpPr>
          <p:cNvPr id="5" name="Text 3"/>
          <p:cNvSpPr txBox="1"/>
          <p:nvPr/>
        </p:nvSpPr>
        <p:spPr>
          <a:xfrm>
            <a:off x="777240" y="1874520"/>
            <a:ext cx="6309360" cy="4114800"/>
          </a:xfrm>
          <a:prstGeom prst="rect">
            <a:avLst/>
          </a:prstGeom>
          <a:noFill/>
          <a:ln/>
        </p:spPr>
        <p:txBody>
          <a:bodyPr wrap="square" lIns="0" tIns="0" rIns="0" bIns="0" rtlCol="0" anchor="t"/>
          <a:lstStyle/>
          <a:p>
            <a:pPr indent="0" marL="0">
              <a:buNone/>
            </a:pPr>
            <a:r>
              <a:rPr lang="en-US" sz="1100" dirty="0">
                <a:solidFill>
                  <a:srgbClr val="D8F3E3"/>
                </a:solidFill>
                <a:latin typeface="Courier New" pitchFamily="34" charset="0"/>
                <a:ea typeface="Courier New" pitchFamily="34" charset="-122"/>
                <a:cs typeface="Courier New" pitchFamily="34" charset="-120"/>
              </a:rPr>
              <a:t>{"t":{"$date":"2026-09-24T10:15:02.345+00:00"},"s":"I",
 "c":"COMMAND","id":51803,"ctx":"conn42","msg":"Slow query",
 "attr":{"type":"command","ns":"tienda.pedidos",
   "command":{"find":"pedidos","filter":{"cliente_id":1234}},
   "planSummary":"COLLSCAN","keysExamined":0,
   "docsExamined":200000,"nreturned":3,"durationMillis":412}}
// Últimas entradas de aviso o error, desde mongosh:
db.adminCommand({ getLog: "global" }).log
  .map(l =&gt; JSON.parse(l))
  .filter(e =&gt; e.s === "W" || e.s === "E")
// Más detalle en un componente, sin reiniciar:
db.setLogLevel(1, "query")
db.adminCommand({ logRotate: 1 })
</a:t>
            </a:r>
            <a:endParaRPr lang="en-US" sz="1100" dirty="0"/>
          </a:p>
        </p:txBody>
      </p:sp>
      <p:sp>
        <p:nvSpPr>
          <p:cNvPr id="6" name="Text 4"/>
          <p:cNvSpPr txBox="1"/>
          <p:nvPr/>
        </p:nvSpPr>
        <p:spPr>
          <a:xfrm>
            <a:off x="7680960" y="1463040"/>
            <a:ext cx="3962095" cy="4663440"/>
          </a:xfrm>
          <a:prstGeom prst="rect">
            <a:avLst/>
          </a:prstGeom>
          <a:noFill/>
          <a:ln/>
        </p:spPr>
        <p:txBody>
          <a:bodyPr wrap="square" lIns="0" tIns="0" rIns="0" bIns="0" rtlCol="0" anchor="t"/>
          <a:lstStyle/>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s</a:t>
            </a:r>
            <a:r>
              <a:rPr lang="en-US" sz="1600" dirty="0">
                <a:solidFill>
                  <a:srgbClr val="1C2B27"/>
                </a:solidFill>
                <a:latin typeface="Calibri" pitchFamily="34" charset="0"/>
                <a:ea typeface="Calibri" pitchFamily="34" charset="-122"/>
                <a:cs typeface="Calibri" pitchFamily="34" charset="-120"/>
              </a:rPr>
              <a:t>: severidad (F, E, W, I, D1-D5)</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c</a:t>
            </a:r>
            <a:r>
              <a:rPr lang="en-US" sz="1600" dirty="0">
                <a:solidFill>
                  <a:srgbClr val="1C2B27"/>
                </a:solidFill>
                <a:latin typeface="Calibri" pitchFamily="34" charset="0"/>
                <a:ea typeface="Calibri" pitchFamily="34" charset="-122"/>
                <a:cs typeface="Calibri" pitchFamily="34" charset="-120"/>
              </a:rPr>
              <a:t>: componente (COMMAND, REPL, NETWORK, ACCESS, STORAGE...)</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id</a:t>
            </a:r>
            <a:r>
              <a:rPr lang="en-US" sz="1600" dirty="0">
                <a:solidFill>
                  <a:srgbClr val="1C2B27"/>
                </a:solidFill>
                <a:latin typeface="Calibri" pitchFamily="34" charset="0"/>
                <a:ea typeface="Calibri" pitchFamily="34" charset="-122"/>
                <a:cs typeface="Calibri" pitchFamily="34" charset="-120"/>
              </a:rPr>
              <a:t>: identificador estable del mensaje</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Slow query</a:t>
            </a:r>
            <a:r>
              <a:rPr lang="en-US" sz="1600" dirty="0">
                <a:solidFill>
                  <a:srgbClr val="1C2B27"/>
                </a:solidFill>
                <a:latin typeface="Calibri" pitchFamily="34" charset="0"/>
                <a:ea typeface="Calibri" pitchFamily="34" charset="-122"/>
                <a:cs typeface="Calibri" pitchFamily="34" charset="-120"/>
              </a:rPr>
              <a:t>: operaciones &gt; slowms (100 ms)</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mongos</a:t>
            </a:r>
            <a:r>
              <a:rPr lang="en-US" sz="1600" dirty="0">
                <a:solidFill>
                  <a:srgbClr val="1C2B27"/>
                </a:solidFill>
                <a:latin typeface="Calibri" pitchFamily="34" charset="0"/>
                <a:ea typeface="Calibri" pitchFamily="34" charset="-122"/>
                <a:cs typeface="Calibri" pitchFamily="34" charset="-120"/>
              </a:rPr>
              <a:t>: mismo formato; enrutado, shards y balanceador</a:t>
            </a:r>
            <a:endParaRPr lang="en-US" sz="1600" dirty="0"/>
          </a:p>
        </p:txBody>
      </p:sp>
      <p:sp>
        <p:nvSpPr>
          <p:cNvPr id="7" name="Text 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8" name="Text 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26 / 33</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mongostat y mongotop</a:t>
            </a:r>
            <a:endParaRPr lang="en-US" sz="3200" dirty="0"/>
          </a:p>
        </p:txBody>
      </p:sp>
      <p:sp>
        <p:nvSpPr>
          <p:cNvPr id="3" name="Shape 1"/>
          <p:cNvSpPr/>
          <p:nvPr/>
        </p:nvSpPr>
        <p:spPr>
          <a:xfrm>
            <a:off x="548640" y="1463040"/>
            <a:ext cx="11094415" cy="4663440"/>
          </a:xfrm>
          <a:prstGeom prst="roundRect">
            <a:avLst>
              <a:gd name="adj" fmla="val 1569"/>
            </a:avLst>
          </a:prstGeom>
          <a:solidFill>
            <a:srgbClr val="11201C"/>
          </a:solidFill>
          <a:ln w="12700">
            <a:solidFill>
              <a:srgbClr val="11201C"/>
            </a:solidFill>
            <a:prstDash val="solid"/>
          </a:ln>
        </p:spPr>
      </p:sp>
      <p:sp>
        <p:nvSpPr>
          <p:cNvPr id="4" name="Text 2"/>
          <p:cNvSpPr txBox="1"/>
          <p:nvPr/>
        </p:nvSpPr>
        <p:spPr>
          <a:xfrm>
            <a:off x="777240" y="1572768"/>
            <a:ext cx="2743200" cy="274320"/>
          </a:xfrm>
          <a:prstGeom prst="rect">
            <a:avLst/>
          </a:prstGeom>
          <a:noFill/>
          <a:ln/>
        </p:spPr>
        <p:txBody>
          <a:bodyPr wrap="square" lIns="0" tIns="0" rIns="0" bIns="0" rtlCol="0" anchor="ctr"/>
          <a:lstStyle/>
          <a:p>
            <a:pPr indent="0" marL="0">
              <a:buNone/>
            </a:pPr>
            <a:r>
              <a:rPr lang="en-US" sz="1100" b="1" dirty="0">
                <a:solidFill>
                  <a:srgbClr val="F2B33D"/>
                </a:solidFill>
                <a:latin typeface="Courier New" pitchFamily="34" charset="0"/>
                <a:ea typeface="Courier New" pitchFamily="34" charset="-122"/>
                <a:cs typeface="Courier New" pitchFamily="34" charset="-120"/>
              </a:rPr>
              <a:t>mongostat · mongotop</a:t>
            </a:r>
            <a:endParaRPr lang="en-US" sz="1100" dirty="0"/>
          </a:p>
        </p:txBody>
      </p:sp>
      <p:sp>
        <p:nvSpPr>
          <p:cNvPr id="5" name="Text 3"/>
          <p:cNvSpPr txBox="1"/>
          <p:nvPr/>
        </p:nvSpPr>
        <p:spPr>
          <a:xfrm>
            <a:off x="777240" y="1874520"/>
            <a:ext cx="10637215" cy="4114800"/>
          </a:xfrm>
          <a:prstGeom prst="rect">
            <a:avLst/>
          </a:prstGeom>
          <a:noFill/>
          <a:ln/>
        </p:spPr>
        <p:txBody>
          <a:bodyPr wrap="square" lIns="0" tIns="0" rIns="0" bIns="0" rtlCol="0" anchor="t"/>
          <a:lstStyle/>
          <a:p>
            <a:pPr indent="0" marL="0">
              <a:buNone/>
            </a:pPr>
            <a:r>
              <a:rPr lang="en-US" sz="1400" dirty="0">
                <a:solidFill>
                  <a:srgbClr val="D8F3E3"/>
                </a:solidFill>
                <a:latin typeface="Courier New" pitchFamily="34" charset="0"/>
                <a:ea typeface="Courier New" pitchFamily="34" charset="-122"/>
                <a:cs typeface="Courier New" pitchFamily="34" charset="-120"/>
              </a:rPr>
              <a:t>host        insert query update delete getmore command dirty used  qrw arw conn set repl
mongo1:27017   *0    *0     *0     *0      0   4|0   0.1% 35.2% 0|0 1|0   18 rs0 SEC
mongo2:27017   48   312     95     *0     12  88|0   2.3% 79.8% 0|0 3|1   42 rs0 PRI
mongo3:27017   *0    *0     *0     *0      0   3|0   0.1% 34.9% 0|0 1|0   15 rs0 SEC
mongotop --uri "$RS" 5
                ns    total    read    write
    tienda.pedidos   4812ms  4650ms    162ms
  tienda.productos     95ms     12ms     83ms
  tienda.clientes      41ms     41ms      0ms
</a:t>
            </a:r>
            <a:endParaRPr lang="en-US" sz="1400" dirty="0"/>
          </a:p>
        </p:txBody>
      </p:sp>
      <p:sp>
        <p:nvSpPr>
          <p:cNvPr id="6" name="Text 4"/>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7" name="Text 5"/>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27 / 33</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El profiler</a:t>
            </a:r>
            <a:endParaRPr lang="en-US" sz="3200" dirty="0"/>
          </a:p>
        </p:txBody>
      </p:sp>
      <p:sp>
        <p:nvSpPr>
          <p:cNvPr id="3" name="Shape 1"/>
          <p:cNvSpPr/>
          <p:nvPr/>
        </p:nvSpPr>
        <p:spPr>
          <a:xfrm>
            <a:off x="548640" y="1463040"/>
            <a:ext cx="6766560" cy="4663440"/>
          </a:xfrm>
          <a:prstGeom prst="roundRect">
            <a:avLst>
              <a:gd name="adj" fmla="val 1569"/>
            </a:avLst>
          </a:prstGeom>
          <a:solidFill>
            <a:srgbClr val="11201C"/>
          </a:solidFill>
          <a:ln w="12700">
            <a:solidFill>
              <a:srgbClr val="11201C"/>
            </a:solidFill>
            <a:prstDash val="solid"/>
          </a:ln>
        </p:spPr>
      </p:sp>
      <p:sp>
        <p:nvSpPr>
          <p:cNvPr id="4" name="Text 2"/>
          <p:cNvSpPr txBox="1"/>
          <p:nvPr/>
        </p:nvSpPr>
        <p:spPr>
          <a:xfrm>
            <a:off x="777240" y="1572768"/>
            <a:ext cx="2743200" cy="274320"/>
          </a:xfrm>
          <a:prstGeom prst="rect">
            <a:avLst/>
          </a:prstGeom>
          <a:noFill/>
          <a:ln/>
        </p:spPr>
        <p:txBody>
          <a:bodyPr wrap="square" lIns="0" tIns="0" rIns="0" bIns="0" rtlCol="0" anchor="ctr"/>
          <a:lstStyle/>
          <a:p>
            <a:pPr indent="0" marL="0">
              <a:buNone/>
            </a:pPr>
            <a:r>
              <a:rPr lang="en-US" sz="1100" b="1" dirty="0">
                <a:solidFill>
                  <a:srgbClr val="F2B33D"/>
                </a:solidFill>
                <a:latin typeface="Courier New" pitchFamily="34" charset="0"/>
                <a:ea typeface="Courier New" pitchFamily="34" charset="-122"/>
                <a:cs typeface="Courier New" pitchFamily="34" charset="-120"/>
              </a:rPr>
              <a:t>mongosh</a:t>
            </a:r>
            <a:endParaRPr lang="en-US" sz="1100" dirty="0"/>
          </a:p>
        </p:txBody>
      </p:sp>
      <p:sp>
        <p:nvSpPr>
          <p:cNvPr id="5" name="Text 3"/>
          <p:cNvSpPr txBox="1"/>
          <p:nvPr/>
        </p:nvSpPr>
        <p:spPr>
          <a:xfrm>
            <a:off x="777240" y="1874520"/>
            <a:ext cx="6309360" cy="4114800"/>
          </a:xfrm>
          <a:prstGeom prst="rect">
            <a:avLst/>
          </a:prstGeom>
          <a:noFill/>
          <a:ln/>
        </p:spPr>
        <p:txBody>
          <a:bodyPr wrap="square" lIns="0" tIns="0" rIns="0" bIns="0" rtlCol="0" anchor="t"/>
          <a:lstStyle/>
          <a:p>
            <a:pPr indent="0" marL="0">
              <a:buNone/>
            </a:pPr>
            <a:r>
              <a:rPr lang="en-US" sz="1300" dirty="0">
                <a:solidFill>
                  <a:srgbClr val="D8F3E3"/>
                </a:solidFill>
                <a:latin typeface="Courier New" pitchFamily="34" charset="0"/>
                <a:ea typeface="Courier New" pitchFamily="34" charset="-122"/>
                <a:cs typeface="Courier New" pitchFamily="34" charset="-120"/>
              </a:rPr>
              <a:t>use tienda
db.setProfilingLevel(1, { slowms: 50 })  // 0, 1 o 2
db.getProfilingStatus()
// Las últimas operaciones lentas
db.system.profile.find({}, {
    op: 1, ns: 1, millis: 1, planSummary: 1,
    docsExamined: 1, nreturned: 1 })
  .sort({ ts: -1 }).limit(5)
// Agrupadas por colección y plan
db.system.profile.aggregate([
  { $group: {
      _id: { ns: "$ns", plan: "$planSummary" },
      veces: { $sum: 1 },
      ms: { $avg: "$millis" },
      examinados: { $avg: "$docsExamined" } } },
  { $sort: { veces: -1 } }
])
</a:t>
            </a:r>
            <a:endParaRPr lang="en-US" sz="1300" dirty="0"/>
          </a:p>
        </p:txBody>
      </p:sp>
      <p:sp>
        <p:nvSpPr>
          <p:cNvPr id="6" name="Text 4"/>
          <p:cNvSpPr txBox="1"/>
          <p:nvPr/>
        </p:nvSpPr>
        <p:spPr>
          <a:xfrm>
            <a:off x="7680960" y="1463040"/>
            <a:ext cx="3962095" cy="466344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Configuración </a:t>
            </a:r>
            <a:r>
              <a:rPr lang="en-US" sz="1600" b="1" dirty="0">
                <a:solidFill>
                  <a:srgbClr val="1C2B27"/>
                </a:solidFill>
                <a:latin typeface="Calibri" pitchFamily="34" charset="0"/>
                <a:ea typeface="Calibri" pitchFamily="34" charset="-122"/>
                <a:cs typeface="Calibri" pitchFamily="34" charset="-120"/>
              </a:rPr>
              <a:t>por nodo y por base de datos</a:t>
            </a:r>
            <a:r>
              <a:rPr lang="en-US" sz="1600" dirty="0">
                <a:solidFill>
                  <a:srgbClr val="1C2B27"/>
                </a:solidFill>
                <a:latin typeface="Calibri" pitchFamily="34" charset="0"/>
                <a:ea typeface="Calibri" pitchFamily="34" charset="-122"/>
                <a:cs typeface="Calibri" pitchFamily="34" charset="-120"/>
              </a:rPr>
              <a:t>; no se replica</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system.profile</a:t>
            </a:r>
            <a:r>
              <a:rPr lang="en-US" sz="1600" dirty="0">
                <a:solidFill>
                  <a:srgbClr val="1C2B27"/>
                </a:solidFill>
                <a:latin typeface="Calibri" pitchFamily="34" charset="0"/>
                <a:ea typeface="Calibri" pitchFamily="34" charset="-122"/>
                <a:cs typeface="Calibri" pitchFamily="34" charset="-120"/>
              </a:rPr>
              <a:t>: colección capped (1 MB por defecto)</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Nivel 2 solo para diagnósticos breves: coste alto</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filter</a:t>
            </a:r>
            <a:r>
              <a:rPr lang="en-US" sz="1600" dirty="0">
                <a:solidFill>
                  <a:srgbClr val="1C2B27"/>
                </a:solidFill>
                <a:latin typeface="Calibri" pitchFamily="34" charset="0"/>
                <a:ea typeface="Calibri" pitchFamily="34" charset="-122"/>
                <a:cs typeface="Calibri" pitchFamily="34" charset="-120"/>
              </a:rPr>
              <a:t> y </a:t>
            </a:r>
            <a:r>
              <a:rPr lang="en-US" sz="1600" b="1" dirty="0">
                <a:solidFill>
                  <a:srgbClr val="1C2B27"/>
                </a:solidFill>
                <a:latin typeface="Calibri" pitchFamily="34" charset="0"/>
                <a:ea typeface="Calibri" pitchFamily="34" charset="-122"/>
                <a:cs typeface="Calibri" pitchFamily="34" charset="-120"/>
              </a:rPr>
              <a:t>sampleRate</a:t>
            </a:r>
            <a:r>
              <a:rPr lang="en-US" sz="1600" dirty="0">
                <a:solidFill>
                  <a:srgbClr val="1C2B27"/>
                </a:solidFill>
                <a:latin typeface="Calibri" pitchFamily="34" charset="0"/>
                <a:ea typeface="Calibri" pitchFamily="34" charset="-122"/>
                <a:cs typeface="Calibri" pitchFamily="34" charset="-120"/>
              </a:rPr>
              <a:t> para acotar lo que se guarda</a:t>
            </a:r>
            <a:endParaRPr lang="en-US" sz="1600" dirty="0"/>
          </a:p>
        </p:txBody>
      </p:sp>
      <p:sp>
        <p:nvSpPr>
          <p:cNvPr id="7" name="Text 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8" name="Text 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28 / 33</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explain(): cómo se ejecuta una consulta</a:t>
            </a:r>
            <a:endParaRPr lang="en-US" sz="3200" dirty="0"/>
          </a:p>
        </p:txBody>
      </p:sp>
      <p:sp>
        <p:nvSpPr>
          <p:cNvPr id="3" name="Shape 1"/>
          <p:cNvSpPr/>
          <p:nvPr/>
        </p:nvSpPr>
        <p:spPr>
          <a:xfrm>
            <a:off x="548640" y="1463040"/>
            <a:ext cx="6766560" cy="4663440"/>
          </a:xfrm>
          <a:prstGeom prst="roundRect">
            <a:avLst>
              <a:gd name="adj" fmla="val 1569"/>
            </a:avLst>
          </a:prstGeom>
          <a:solidFill>
            <a:srgbClr val="11201C"/>
          </a:solidFill>
          <a:ln w="12700">
            <a:solidFill>
              <a:srgbClr val="11201C"/>
            </a:solidFill>
            <a:prstDash val="solid"/>
          </a:ln>
        </p:spPr>
      </p:sp>
      <p:sp>
        <p:nvSpPr>
          <p:cNvPr id="4" name="Text 2"/>
          <p:cNvSpPr txBox="1"/>
          <p:nvPr/>
        </p:nvSpPr>
        <p:spPr>
          <a:xfrm>
            <a:off x="777240" y="1572768"/>
            <a:ext cx="2743200" cy="274320"/>
          </a:xfrm>
          <a:prstGeom prst="rect">
            <a:avLst/>
          </a:prstGeom>
          <a:noFill/>
          <a:ln/>
        </p:spPr>
        <p:txBody>
          <a:bodyPr wrap="square" lIns="0" tIns="0" rIns="0" bIns="0" rtlCol="0" anchor="ctr"/>
          <a:lstStyle/>
          <a:p>
            <a:pPr indent="0" marL="0">
              <a:buNone/>
            </a:pPr>
            <a:r>
              <a:rPr lang="en-US" sz="1100" b="1" dirty="0">
                <a:solidFill>
                  <a:srgbClr val="F2B33D"/>
                </a:solidFill>
                <a:latin typeface="Courier New" pitchFamily="34" charset="0"/>
                <a:ea typeface="Courier New" pitchFamily="34" charset="-122"/>
                <a:cs typeface="Courier New" pitchFamily="34" charset="-120"/>
              </a:rPr>
              <a:t>mongosh</a:t>
            </a:r>
            <a:endParaRPr lang="en-US" sz="1100" dirty="0"/>
          </a:p>
        </p:txBody>
      </p:sp>
      <p:sp>
        <p:nvSpPr>
          <p:cNvPr id="5" name="Text 3"/>
          <p:cNvSpPr txBox="1"/>
          <p:nvPr/>
        </p:nvSpPr>
        <p:spPr>
          <a:xfrm>
            <a:off x="777240" y="1874520"/>
            <a:ext cx="6309360" cy="4114800"/>
          </a:xfrm>
          <a:prstGeom prst="rect">
            <a:avLst/>
          </a:prstGeom>
          <a:noFill/>
          <a:ln/>
        </p:spPr>
        <p:txBody>
          <a:bodyPr wrap="square" lIns="0" tIns="0" rIns="0" bIns="0" rtlCol="0" anchor="t"/>
          <a:lstStyle/>
          <a:p>
            <a:pPr indent="0" marL="0">
              <a:buNone/>
            </a:pPr>
            <a:r>
              <a:rPr lang="en-US" sz="1300" dirty="0">
                <a:solidFill>
                  <a:srgbClr val="D8F3E3"/>
                </a:solidFill>
                <a:latin typeface="Courier New" pitchFamily="34" charset="0"/>
                <a:ea typeface="Courier New" pitchFamily="34" charset="-122"/>
                <a:cs typeface="Courier New" pitchFamily="34" charset="-120"/>
              </a:rPr>
              <a:t>db.pedidos.find({ estado: "enviado", ciudad: "Madrid" })
  .sort({ fecha: -1 }).limit(20)
  .explain("executionStats")
// Antes:  COLLSCAN + SORT en memoria
//   totalDocsExamined: 200000   nReturned: 20
//   executionTimeMillis: 180
db.pedidos.createIndex({ estado: 1, ciudad: 1, fecha: -1 })
// Después: IXSCAN, sin etapa SORT
//   totalKeysExamined: 20   totalDocsExamined: 20
//   nReturned: 20           executionTimeMillis: 1
</a:t>
            </a:r>
            <a:endParaRPr lang="en-US" sz="1300" dirty="0"/>
          </a:p>
        </p:txBody>
      </p:sp>
      <p:sp>
        <p:nvSpPr>
          <p:cNvPr id="6" name="Text 4"/>
          <p:cNvSpPr txBox="1"/>
          <p:nvPr/>
        </p:nvSpPr>
        <p:spPr>
          <a:xfrm>
            <a:off x="7680960" y="1463040"/>
            <a:ext cx="3962095" cy="4663440"/>
          </a:xfrm>
          <a:prstGeom prst="rect">
            <a:avLst/>
          </a:prstGeom>
          <a:noFill/>
          <a:ln/>
        </p:spPr>
        <p:txBody>
          <a:bodyPr wrap="square" lIns="0" tIns="0" rIns="0" bIns="0" rtlCol="0" anchor="t"/>
          <a:lstStyle/>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queryPlanner</a:t>
            </a:r>
            <a:r>
              <a:rPr lang="en-US" sz="1600" dirty="0">
                <a:solidFill>
                  <a:srgbClr val="1C2B27"/>
                </a:solidFill>
                <a:latin typeface="Calibri" pitchFamily="34" charset="0"/>
                <a:ea typeface="Calibri" pitchFamily="34" charset="-122"/>
                <a:cs typeface="Calibri" pitchFamily="34" charset="-120"/>
              </a:rPr>
              <a:t>: plan elegido y planes rechazados</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executionStats</a:t>
            </a:r>
            <a:r>
              <a:rPr lang="en-US" sz="1600" dirty="0">
                <a:solidFill>
                  <a:srgbClr val="1C2B27"/>
                </a:solidFill>
                <a:latin typeface="Calibri" pitchFamily="34" charset="0"/>
                <a:ea typeface="Calibri" pitchFamily="34" charset="-122"/>
                <a:cs typeface="Calibri" pitchFamily="34" charset="-120"/>
              </a:rPr>
              <a:t>: lo que realmente costó</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Señales de alarma: </a:t>
            </a:r>
            <a:r>
              <a:rPr lang="en-US" sz="1600" b="1" dirty="0">
                <a:solidFill>
                  <a:srgbClr val="1C2B27"/>
                </a:solidFill>
                <a:latin typeface="Calibri" pitchFamily="34" charset="0"/>
                <a:ea typeface="Calibri" pitchFamily="34" charset="-122"/>
                <a:cs typeface="Calibri" pitchFamily="34" charset="-120"/>
              </a:rPr>
              <a:t>COLLSCAN</a:t>
            </a:r>
            <a:r>
              <a:rPr lang="en-US" sz="1600" dirty="0">
                <a:solidFill>
                  <a:srgbClr val="1C2B27"/>
                </a:solidFill>
                <a:latin typeface="Calibri" pitchFamily="34" charset="0"/>
                <a:ea typeface="Calibri" pitchFamily="34" charset="-122"/>
                <a:cs typeface="Calibri" pitchFamily="34" charset="-120"/>
              </a:rPr>
              <a:t>, </a:t>
            </a:r>
            <a:r>
              <a:rPr lang="en-US" sz="1600" b="1" dirty="0">
                <a:solidFill>
                  <a:srgbClr val="1C2B27"/>
                </a:solidFill>
                <a:latin typeface="Calibri" pitchFamily="34" charset="0"/>
                <a:ea typeface="Calibri" pitchFamily="34" charset="-122"/>
                <a:cs typeface="Calibri" pitchFamily="34" charset="-120"/>
              </a:rPr>
              <a:t>SORT</a:t>
            </a:r>
            <a:r>
              <a:rPr lang="en-US" sz="1600" dirty="0">
                <a:solidFill>
                  <a:srgbClr val="1C2B27"/>
                </a:solidFill>
                <a:latin typeface="Calibri" pitchFamily="34" charset="0"/>
                <a:ea typeface="Calibri" pitchFamily="34" charset="-122"/>
                <a:cs typeface="Calibri" pitchFamily="34" charset="-120"/>
              </a:rPr>
              <a:t> en memoria, examinados ≫ devueltos</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Regla </a:t>
            </a:r>
            <a:r>
              <a:rPr lang="en-US" sz="1600" b="1" dirty="0">
                <a:solidFill>
                  <a:srgbClr val="1C2B27"/>
                </a:solidFill>
                <a:latin typeface="Calibri" pitchFamily="34" charset="0"/>
                <a:ea typeface="Calibri" pitchFamily="34" charset="-122"/>
                <a:cs typeface="Calibri" pitchFamily="34" charset="-120"/>
              </a:rPr>
              <a:t>ESR</a:t>
            </a:r>
            <a:r>
              <a:rPr lang="en-US" sz="1600" dirty="0">
                <a:solidFill>
                  <a:srgbClr val="1C2B27"/>
                </a:solidFill>
                <a:latin typeface="Calibri" pitchFamily="34" charset="0"/>
                <a:ea typeface="Calibri" pitchFamily="34" charset="-122"/>
                <a:cs typeface="Calibri" pitchFamily="34" charset="-120"/>
              </a:rPr>
              <a:t>: igualdad, ordenación, rango</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Índices sin uso: </a:t>
            </a:r>
            <a:r>
              <a:rPr lang="en-US" sz="1600" b="1" dirty="0">
                <a:solidFill>
                  <a:srgbClr val="1C2B27"/>
                </a:solidFill>
                <a:latin typeface="Calibri" pitchFamily="34" charset="0"/>
                <a:ea typeface="Calibri" pitchFamily="34" charset="-122"/>
                <a:cs typeface="Calibri" pitchFamily="34" charset="-120"/>
              </a:rPr>
              <a:t>$indexStats</a:t>
            </a:r>
            <a:endParaRPr lang="en-US" sz="1600" dirty="0"/>
          </a:p>
        </p:txBody>
      </p:sp>
      <p:sp>
        <p:nvSpPr>
          <p:cNvPr id="7" name="Text 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8" name="Text 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29 / 33</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currentOp y killOp</a:t>
            </a:r>
            <a:endParaRPr lang="en-US" sz="3200" dirty="0"/>
          </a:p>
        </p:txBody>
      </p:sp>
      <p:sp>
        <p:nvSpPr>
          <p:cNvPr id="3" name="Shape 1"/>
          <p:cNvSpPr/>
          <p:nvPr/>
        </p:nvSpPr>
        <p:spPr>
          <a:xfrm>
            <a:off x="548640" y="1463040"/>
            <a:ext cx="6766560" cy="4663440"/>
          </a:xfrm>
          <a:prstGeom prst="roundRect">
            <a:avLst>
              <a:gd name="adj" fmla="val 1569"/>
            </a:avLst>
          </a:prstGeom>
          <a:solidFill>
            <a:srgbClr val="11201C"/>
          </a:solidFill>
          <a:ln w="12700">
            <a:solidFill>
              <a:srgbClr val="11201C"/>
            </a:solidFill>
            <a:prstDash val="solid"/>
          </a:ln>
        </p:spPr>
      </p:sp>
      <p:sp>
        <p:nvSpPr>
          <p:cNvPr id="4" name="Text 2"/>
          <p:cNvSpPr txBox="1"/>
          <p:nvPr/>
        </p:nvSpPr>
        <p:spPr>
          <a:xfrm>
            <a:off x="777240" y="1572768"/>
            <a:ext cx="2743200" cy="274320"/>
          </a:xfrm>
          <a:prstGeom prst="rect">
            <a:avLst/>
          </a:prstGeom>
          <a:noFill/>
          <a:ln/>
        </p:spPr>
        <p:txBody>
          <a:bodyPr wrap="square" lIns="0" tIns="0" rIns="0" bIns="0" rtlCol="0" anchor="ctr"/>
          <a:lstStyle/>
          <a:p>
            <a:pPr indent="0" marL="0">
              <a:buNone/>
            </a:pPr>
            <a:r>
              <a:rPr lang="en-US" sz="1100" b="1" dirty="0">
                <a:solidFill>
                  <a:srgbClr val="F2B33D"/>
                </a:solidFill>
                <a:latin typeface="Courier New" pitchFamily="34" charset="0"/>
                <a:ea typeface="Courier New" pitchFamily="34" charset="-122"/>
                <a:cs typeface="Courier New" pitchFamily="34" charset="-120"/>
              </a:rPr>
              <a:t>mongosh</a:t>
            </a:r>
            <a:endParaRPr lang="en-US" sz="1100" dirty="0"/>
          </a:p>
        </p:txBody>
      </p:sp>
      <p:sp>
        <p:nvSpPr>
          <p:cNvPr id="5" name="Text 3"/>
          <p:cNvSpPr txBox="1"/>
          <p:nvPr/>
        </p:nvSpPr>
        <p:spPr>
          <a:xfrm>
            <a:off x="777240" y="1874520"/>
            <a:ext cx="6309360" cy="4114800"/>
          </a:xfrm>
          <a:prstGeom prst="rect">
            <a:avLst/>
          </a:prstGeom>
          <a:noFill/>
          <a:ln/>
        </p:spPr>
        <p:txBody>
          <a:bodyPr wrap="square" lIns="0" tIns="0" rIns="0" bIns="0" rtlCol="0" anchor="t"/>
          <a:lstStyle/>
          <a:p>
            <a:pPr indent="0" marL="0">
              <a:buNone/>
            </a:pPr>
            <a:r>
              <a:rPr lang="en-US" sz="1300" dirty="0">
                <a:solidFill>
                  <a:srgbClr val="D8F3E3"/>
                </a:solidFill>
                <a:latin typeface="Courier New" pitchFamily="34" charset="0"/>
                <a:ea typeface="Courier New" pitchFamily="34" charset="-122"/>
                <a:cs typeface="Courier New" pitchFamily="34" charset="-120"/>
              </a:rPr>
              <a:t>// Operaciones activas de más de 3 segundos
db.currentOp({ active: true, secs_running: { $gte: 3 } })
  .inprog.map(op =&gt; ({
    opid: op.opid, seg: op.secs_running, ns: op.ns,
    op: op.op, cliente: op.client, app: op.appName }))
// Operaciones esperando un lock
db.currentOp({ waitingForLock: true })
// Construcciones de índices en curso
db.currentOp({ "command.createIndexes": { $exists: true } })
// Interrumpir una operación
db.killOp(1234567)
</a:t>
            </a:r>
            <a:endParaRPr lang="en-US" sz="1300" dirty="0"/>
          </a:p>
        </p:txBody>
      </p:sp>
      <p:sp>
        <p:nvSpPr>
          <p:cNvPr id="6" name="Text 4"/>
          <p:cNvSpPr txBox="1"/>
          <p:nvPr/>
        </p:nvSpPr>
        <p:spPr>
          <a:xfrm>
            <a:off x="7680960" y="1463040"/>
            <a:ext cx="3962095" cy="4663440"/>
          </a:xfrm>
          <a:prstGeom prst="rect">
            <a:avLst/>
          </a:prstGeom>
          <a:noFill/>
          <a:ln/>
        </p:spPr>
        <p:txBody>
          <a:bodyPr wrap="square" lIns="0" tIns="0" rIns="0" bIns="0" rtlCol="0" anchor="t"/>
          <a:lstStyle/>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currentOp</a:t>
            </a:r>
            <a:r>
              <a:rPr lang="en-US" sz="1600" dirty="0">
                <a:solidFill>
                  <a:srgbClr val="1C2B27"/>
                </a:solidFill>
                <a:latin typeface="Calibri" pitchFamily="34" charset="0"/>
                <a:ea typeface="Calibri" pitchFamily="34" charset="-122"/>
                <a:cs typeface="Calibri" pitchFamily="34" charset="-120"/>
              </a:rPr>
              <a:t>: foto de lo que se ejecuta ahora mismo</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Identificar </a:t>
            </a:r>
            <a:r>
              <a:rPr lang="en-US" sz="1600" b="1" dirty="0">
                <a:solidFill>
                  <a:srgbClr val="1C2B27"/>
                </a:solidFill>
                <a:latin typeface="Calibri" pitchFamily="34" charset="0"/>
                <a:ea typeface="Calibri" pitchFamily="34" charset="-122"/>
                <a:cs typeface="Calibri" pitchFamily="34" charset="-120"/>
              </a:rPr>
              <a:t>quién</a:t>
            </a:r>
            <a:r>
              <a:rPr lang="en-US" sz="1600" dirty="0">
                <a:solidFill>
                  <a:srgbClr val="1C2B27"/>
                </a:solidFill>
                <a:latin typeface="Calibri" pitchFamily="34" charset="0"/>
                <a:ea typeface="Calibri" pitchFamily="34" charset="-122"/>
                <a:cs typeface="Calibri" pitchFamily="34" charset="-120"/>
              </a:rPr>
              <a:t> antes de matar: client, appName, usuario</a:t>
            </a:r>
            <a:endParaRPr lang="en-US" sz="1600" dirty="0"/>
          </a:p>
          <a:p>
            <a:pPr marL="254000" indent="-254000">
              <a:spcAft>
                <a:spcPts val="800"/>
              </a:spcAft>
              <a:buSzPct val="100000"/>
              <a:buChar char="●"/>
            </a:pPr>
            <a:r>
              <a:rPr lang="en-US" sz="1600" b="1" dirty="0">
                <a:solidFill>
                  <a:srgbClr val="1C2B27"/>
                </a:solidFill>
                <a:latin typeface="Calibri" pitchFamily="34" charset="0"/>
                <a:ea typeface="Calibri" pitchFamily="34" charset="-122"/>
                <a:cs typeface="Calibri" pitchFamily="34" charset="-120"/>
              </a:rPr>
              <a:t>killOp</a:t>
            </a:r>
            <a:r>
              <a:rPr lang="en-US" sz="1600" dirty="0">
                <a:solidFill>
                  <a:srgbClr val="1C2B27"/>
                </a:solidFill>
                <a:latin typeface="Calibri" pitchFamily="34" charset="0"/>
                <a:ea typeface="Calibri" pitchFamily="34" charset="-122"/>
                <a:cs typeface="Calibri" pitchFamily="34" charset="-120"/>
              </a:rPr>
              <a:t> interrumpe en el siguiente punto seguro</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Cuidado con operaciones internas y de replicación</a:t>
            </a:r>
            <a:endParaRPr lang="en-US" sz="1600" dirty="0"/>
          </a:p>
          <a:p>
            <a:pPr marL="254000" indent="-254000">
              <a:spcAft>
                <a:spcPts val="800"/>
              </a:spcAft>
              <a:buSzPct val="100000"/>
              <a:buChar char="●"/>
            </a:pPr>
            <a:r>
              <a:rPr lang="en-US" sz="1600" dirty="0">
                <a:solidFill>
                  <a:srgbClr val="1C2B27"/>
                </a:solidFill>
                <a:latin typeface="Calibri" pitchFamily="34" charset="0"/>
                <a:ea typeface="Calibri" pitchFamily="34" charset="-122"/>
                <a:cs typeface="Calibri" pitchFamily="34" charset="-120"/>
              </a:rPr>
              <a:t>Prevenir: </a:t>
            </a:r>
            <a:r>
              <a:rPr lang="en-US" sz="1600" b="1" dirty="0">
                <a:solidFill>
                  <a:srgbClr val="1C2B27"/>
                </a:solidFill>
                <a:latin typeface="Calibri" pitchFamily="34" charset="0"/>
                <a:ea typeface="Calibri" pitchFamily="34" charset="-122"/>
                <a:cs typeface="Calibri" pitchFamily="34" charset="-120"/>
              </a:rPr>
              <a:t>maxTimeMS</a:t>
            </a:r>
            <a:r>
              <a:rPr lang="en-US" sz="1600" dirty="0">
                <a:solidFill>
                  <a:srgbClr val="1C2B27"/>
                </a:solidFill>
                <a:latin typeface="Calibri" pitchFamily="34" charset="0"/>
                <a:ea typeface="Calibri" pitchFamily="34" charset="-122"/>
                <a:cs typeface="Calibri" pitchFamily="34" charset="-120"/>
              </a:rPr>
              <a:t> y </a:t>
            </a:r>
            <a:r>
              <a:rPr lang="en-US" sz="1600" b="1" dirty="0">
                <a:solidFill>
                  <a:srgbClr val="1C2B27"/>
                </a:solidFill>
                <a:latin typeface="Calibri" pitchFamily="34" charset="0"/>
                <a:ea typeface="Calibri" pitchFamily="34" charset="-122"/>
                <a:cs typeface="Calibri" pitchFamily="34" charset="-120"/>
              </a:rPr>
              <a:t>defaultMaxTimeMS</a:t>
            </a:r>
            <a:endParaRPr lang="en-US" sz="1600" dirty="0"/>
          </a:p>
        </p:txBody>
      </p:sp>
      <p:sp>
        <p:nvSpPr>
          <p:cNvPr id="7" name="Text 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8" name="Text 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30 / 33</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85800"/>
          </a:xfrm>
          <a:prstGeom prst="rect">
            <a:avLst/>
          </a:prstGeom>
          <a:noFill/>
          <a:ln/>
        </p:spPr>
        <p:txBody>
          <a:bodyPr wrap="square" lIns="0" tIns="0" rIns="0" bIns="0" rtlCol="0" anchor="t"/>
          <a:lstStyle/>
          <a:p>
            <a:pPr indent="0" marL="0">
              <a:buNone/>
            </a:pPr>
            <a:r>
              <a:rPr lang="en-US" sz="3200" b="1" dirty="0">
                <a:solidFill>
                  <a:srgbClr val="0F2A25"/>
                </a:solidFill>
                <a:latin typeface="Cambria" pitchFamily="34" charset="0"/>
                <a:ea typeface="Cambria" pitchFamily="34" charset="-122"/>
                <a:cs typeface="Cambria" pitchFamily="34" charset="-120"/>
              </a:rPr>
              <a:t>Síntomas frecuentes y dónde mirar</a:t>
            </a:r>
            <a:endParaRPr lang="en-US" sz="3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3108960"/>
                <a:gridCol w="4023360"/>
                <a:gridCol w="3840480"/>
              </a:tblGrid>
              <a:tr h="56692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Síntoma</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Causas habituales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Herramientas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1F7A4D"/>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Todo va lento de repente</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Consulta nueva sin índice, datos que ya no caben en caché, disco saturado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mongostat, profiler, explain, métricas de disco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Picos de conexiones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Pools mal dimensionados, reinicios de aplicación, timeouts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serverStatus().connections, log (NETWORK)</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Lag de replicación</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Escrituras masivas, secundario con menos recursos, red</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rs.printSecondaryReplicationInfo, métricas del nodo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Elecciones inesperadas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Red inestable, pausas largas de disco o memoria</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Log (REPL, ELECTION), métricas de red y disco</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Errores de autenticación</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Contraseña cambiada, authSource incorrecto, restricciones de IP</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Log (ACCESS), getLog</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4F9F6"/>
                    </a:solidFill>
                  </a:tcPr>
                </a:tc>
              </a:tr>
              <a:tr h="566928">
                <a:tc>
                  <a:txBody>
                    <a:bodyPr/>
                    <a:lstStyle/>
                    <a:p>
                      <a:pPr indent="0" marL="0">
                        <a:buNone/>
                      </a:pPr>
                      <a:r>
                        <a:rPr lang="en-US" sz="1500" b="1" dirty="0">
                          <a:solidFill>
                            <a:srgbClr val="1C2B27"/>
                          </a:solidFill>
                          <a:latin typeface="Calibri" pitchFamily="34" charset="0"/>
                          <a:ea typeface="Calibri" pitchFamily="34" charset="-122"/>
                          <a:cs typeface="Calibri" pitchFamily="34" charset="-120"/>
                        </a:rPr>
                        <a:t>mongod no arranca</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Permisos, YAML inválido, disco lleno, keyfile</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c>
                  <a:txBody>
                    <a:bodyPr/>
                    <a:lstStyle/>
                    <a:p>
                      <a:pPr indent="0" marL="0">
                        <a:buNone/>
                      </a:pPr>
                      <a:r>
                        <a:rPr lang="en-US" sz="1500" dirty="0">
                          <a:solidFill>
                            <a:srgbClr val="1C2B27"/>
                          </a:solidFill>
                          <a:latin typeface="Calibri" pitchFamily="34" charset="0"/>
                          <a:ea typeface="Calibri" pitchFamily="34" charset="-122"/>
                          <a:cs typeface="Calibri" pitchFamily="34" charset="-120"/>
                        </a:rPr>
                        <a:t>Log del proceso, journalctl, docker logs</a:t>
                      </a:r>
                      <a:endParaRPr lang="en-US" sz="1500" dirty="0">
                        <a:latin typeface="Calibri" charset="0"/>
                        <a:ea typeface="Calibri" charset="0"/>
                        <a:cs typeface="Calibri" charset="0"/>
                      </a:endParaRPr>
                    </a:p>
                  </a:txBody>
                  <a:tcPr marL="73152" marR="73152" marT="73152" marB="73152" anchor="ctr">
                    <a:lnL w="9525" cap="flat" cmpd="sng" algn="ctr">
                      <a:solidFill>
                        <a:srgbClr val="D5DDD9"/>
                      </a:solidFill>
                      <a:prstDash val="solid"/>
                      <a:round/>
                      <a:headEnd type="none" w="med" len="med"/>
                      <a:tailEnd type="none" w="med" len="med"/>
                    </a:lnL>
                    <a:lnR w="9525" cap="flat" cmpd="sng" algn="ctr">
                      <a:solidFill>
                        <a:srgbClr val="D5DDD9"/>
                      </a:solidFill>
                      <a:prstDash val="solid"/>
                      <a:round/>
                      <a:headEnd type="none" w="med" len="med"/>
                      <a:tailEnd type="none" w="med" len="med"/>
                    </a:lnR>
                    <a:lnT w="9525" cap="flat" cmpd="sng" algn="ctr">
                      <a:solidFill>
                        <a:srgbClr val="D5DDD9"/>
                      </a:solidFill>
                      <a:prstDash val="solid"/>
                      <a:round/>
                      <a:headEnd type="none" w="med" len="med"/>
                      <a:tailEnd type="none" w="med" len="med"/>
                    </a:lnT>
                    <a:lnB w="9525" cap="flat" cmpd="sng" algn="ctr">
                      <a:solidFill>
                        <a:srgbClr val="D5DDD9"/>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5" name="Text 2"/>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31 / 33</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8F3EC"/>
        </a:solidFill>
      </p:bgPr>
    </p:bg>
    <p:spTree>
      <p:nvGrpSpPr>
        <p:cNvPr id="1" name=""/>
        <p:cNvGrpSpPr/>
        <p:nvPr/>
      </p:nvGrpSpPr>
      <p:grpSpPr>
        <a:xfrm>
          <a:off x="0" y="0"/>
          <a:ext cx="0" cy="0"/>
          <a:chOff x="0" y="0"/>
          <a:chExt cx="0" cy="0"/>
        </a:xfrm>
      </p:grpSpPr>
      <p:sp>
        <p:nvSpPr>
          <p:cNvPr id="2" name="Shape 0"/>
          <p:cNvSpPr/>
          <p:nvPr/>
        </p:nvSpPr>
        <p:spPr>
          <a:xfrm>
            <a:off x="548640" y="457200"/>
            <a:ext cx="2651760" cy="457200"/>
          </a:xfrm>
          <a:prstGeom prst="roundRect">
            <a:avLst>
              <a:gd name="adj" fmla="val 50000"/>
            </a:avLst>
          </a:prstGeom>
          <a:solidFill>
            <a:srgbClr val="F2B33D"/>
          </a:solidFill>
          <a:ln w="12700">
            <a:solidFill>
              <a:srgbClr val="F2B33D"/>
            </a:solidFill>
            <a:prstDash val="solid"/>
          </a:ln>
        </p:spPr>
      </p:sp>
      <p:sp>
        <p:nvSpPr>
          <p:cNvPr id="3" name="Text 1"/>
          <p:cNvSpPr txBox="1"/>
          <p:nvPr/>
        </p:nvSpPr>
        <p:spPr>
          <a:xfrm>
            <a:off x="548640" y="457200"/>
            <a:ext cx="2651760" cy="457200"/>
          </a:xfrm>
          <a:prstGeom prst="rect">
            <a:avLst/>
          </a:prstGeom>
          <a:noFill/>
          <a:ln/>
        </p:spPr>
        <p:txBody>
          <a:bodyPr wrap="square" lIns="0" tIns="0" rIns="0" bIns="0" rtlCol="0" anchor="ctr"/>
          <a:lstStyle/>
          <a:p>
            <a:pPr algn="ctr" indent="0" marL="0">
              <a:buNone/>
            </a:pPr>
            <a:r>
              <a:rPr lang="en-US" sz="1400" b="1" spc="200" kern="0" dirty="0">
                <a:solidFill>
                  <a:srgbClr val="0F2A25"/>
                </a:solidFill>
                <a:latin typeface="Calibri" pitchFamily="34" charset="0"/>
                <a:ea typeface="Calibri" pitchFamily="34" charset="-122"/>
                <a:cs typeface="Calibri" pitchFamily="34" charset="-120"/>
              </a:rPr>
              <a:t>LABORATORIO 14</a:t>
            </a:r>
            <a:endParaRPr lang="en-US" sz="1400" dirty="0"/>
          </a:p>
        </p:txBody>
      </p:sp>
      <p:sp>
        <p:nvSpPr>
          <p:cNvPr id="4" name="Text 2"/>
          <p:cNvSpPr txBox="1"/>
          <p:nvPr/>
        </p:nvSpPr>
        <p:spPr>
          <a:xfrm>
            <a:off x="548640" y="1097280"/>
            <a:ext cx="11094415" cy="822960"/>
          </a:xfrm>
          <a:prstGeom prst="rect">
            <a:avLst/>
          </a:prstGeom>
          <a:noFill/>
          <a:ln/>
        </p:spPr>
        <p:txBody>
          <a:bodyPr wrap="square" lIns="0" tIns="0" rIns="0" bIns="0" rtlCol="0" anchor="t"/>
          <a:lstStyle/>
          <a:p>
            <a:pPr indent="0" marL="0">
              <a:buNone/>
            </a:pPr>
            <a:r>
              <a:rPr lang="en-US" sz="3400" b="1" dirty="0">
                <a:solidFill>
                  <a:srgbClr val="0F2A25"/>
                </a:solidFill>
                <a:latin typeface="Cambria" pitchFamily="34" charset="0"/>
                <a:ea typeface="Cambria" pitchFamily="34" charset="-122"/>
                <a:cs typeface="Cambria" pitchFamily="34" charset="-120"/>
              </a:rPr>
              <a:t>Resolución de incidencias</a:t>
            </a:r>
            <a:endParaRPr lang="en-US" sz="3400" dirty="0"/>
          </a:p>
        </p:txBody>
      </p:sp>
      <p:sp>
        <p:nvSpPr>
          <p:cNvPr id="5" name="Shape 3"/>
          <p:cNvSpPr/>
          <p:nvPr/>
        </p:nvSpPr>
        <p:spPr>
          <a:xfrm>
            <a:off x="548640" y="2103120"/>
            <a:ext cx="7223760" cy="3977640"/>
          </a:xfrm>
          <a:prstGeom prst="roundRect">
            <a:avLst>
              <a:gd name="adj" fmla="val 2759"/>
            </a:avLst>
          </a:prstGeom>
          <a:solidFill>
            <a:srgbClr val="FFFFFF"/>
          </a:solidFill>
          <a:ln w="12700">
            <a:solidFill>
              <a:srgbClr val="D5DDD9"/>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822960" y="2240280"/>
            <a:ext cx="6675120" cy="411480"/>
          </a:xfrm>
          <a:prstGeom prst="rect">
            <a:avLst/>
          </a:prstGeom>
          <a:noFill/>
          <a:ln/>
        </p:spPr>
        <p:txBody>
          <a:bodyPr wrap="square" lIns="0" tIns="0" rIns="0" bIns="0" rtlCol="0" anchor="ctr"/>
          <a:lstStyle/>
          <a:p>
            <a:pPr indent="0" marL="0">
              <a:buNone/>
            </a:pPr>
            <a:r>
              <a:rPr lang="en-US" sz="1800" b="1" dirty="0">
                <a:solidFill>
                  <a:srgbClr val="1F7A4D"/>
                </a:solidFill>
                <a:latin typeface="Cambria" pitchFamily="34" charset="0"/>
                <a:ea typeface="Cambria" pitchFamily="34" charset="-122"/>
                <a:cs typeface="Cambria" pitchFamily="34" charset="-120"/>
              </a:rPr>
              <a:t>Qué vas a hacer</a:t>
            </a:r>
            <a:endParaRPr lang="en-US" sz="1800" dirty="0"/>
          </a:p>
        </p:txBody>
      </p:sp>
      <p:sp>
        <p:nvSpPr>
          <p:cNvPr id="7" name="Text 5"/>
          <p:cNvSpPr txBox="1"/>
          <p:nvPr/>
        </p:nvSpPr>
        <p:spPr>
          <a:xfrm>
            <a:off x="822960" y="2697480"/>
            <a:ext cx="6675120" cy="3246120"/>
          </a:xfrm>
          <a:prstGeom prst="rect">
            <a:avLst/>
          </a:prstGeom>
          <a:noFill/>
          <a:ln/>
        </p:spPr>
        <p:txBody>
          <a:bodyPr wrap="square" lIns="0" tIns="0" rIns="0" bIns="0" rtlCol="0" anchor="t"/>
          <a:lstStyle/>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Incidencia 1: consultas lentas → profiler, explain e índices con la regla ESR</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Incidencia 2: operación descontrolada → currentOp y killOp</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Incidencia 3: datos obsoletos en secundarios → lag de replicación y logs</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Incidencia 4: una aplicación no conecta → log de autenticación con getLog</a:t>
            </a:r>
            <a:endParaRPr lang="en-US" sz="1900" dirty="0"/>
          </a:p>
          <a:p>
            <a:pPr marL="254000" indent="-254000">
              <a:spcAft>
                <a:spcPts val="1000"/>
              </a:spcAft>
              <a:buSzPct val="100000"/>
              <a:buChar char="●"/>
            </a:pPr>
            <a:r>
              <a:rPr lang="en-US" sz="1900" dirty="0">
                <a:solidFill>
                  <a:srgbClr val="1C2B27"/>
                </a:solidFill>
                <a:latin typeface="Calibri" pitchFamily="34" charset="0"/>
                <a:ea typeface="Calibri" pitchFamily="34" charset="-122"/>
                <a:cs typeface="Calibri" pitchFamily="34" charset="-120"/>
              </a:rPr>
              <a:t>Seguir siempre el método: síntoma, evidencia, causa, solución, verificación</a:t>
            </a:r>
            <a:endParaRPr lang="en-US" sz="1900" dirty="0"/>
          </a:p>
        </p:txBody>
      </p:sp>
      <p:sp>
        <p:nvSpPr>
          <p:cNvPr id="8" name="Shape 6"/>
          <p:cNvSpPr/>
          <p:nvPr/>
        </p:nvSpPr>
        <p:spPr>
          <a:xfrm>
            <a:off x="8138160" y="2103120"/>
            <a:ext cx="3504895" cy="1143000"/>
          </a:xfrm>
          <a:prstGeom prst="roundRect">
            <a:avLst>
              <a:gd name="adj" fmla="val 9600"/>
            </a:avLst>
          </a:prstGeom>
          <a:solidFill>
            <a:srgbClr val="0F2A25"/>
          </a:solidFill>
          <a:ln w="12700">
            <a:solidFill>
              <a:srgbClr val="0F2A25"/>
            </a:solidFill>
            <a:prstDash val="solid"/>
          </a:ln>
        </p:spPr>
      </p:sp>
      <p:sp>
        <p:nvSpPr>
          <p:cNvPr id="9" name="Text 7"/>
          <p:cNvSpPr txBox="1"/>
          <p:nvPr/>
        </p:nvSpPr>
        <p:spPr>
          <a:xfrm>
            <a:off x="8366760" y="2240280"/>
            <a:ext cx="3047695" cy="274320"/>
          </a:xfrm>
          <a:prstGeom prst="rect">
            <a:avLst/>
          </a:prstGeom>
          <a:noFill/>
          <a:ln/>
        </p:spPr>
        <p:txBody>
          <a:bodyPr wrap="square" lIns="0" tIns="0" rIns="0" bIns="0" rtlCol="0" anchor="ctr"/>
          <a:lstStyle/>
          <a:p>
            <a:pPr indent="0" marL="0">
              <a:buNone/>
            </a:pPr>
            <a:r>
              <a:rPr lang="en-US" sz="1100" b="1" spc="200" kern="0" dirty="0">
                <a:solidFill>
                  <a:srgbClr val="F2B33D"/>
                </a:solidFill>
                <a:latin typeface="Calibri" pitchFamily="34" charset="0"/>
                <a:ea typeface="Calibri" pitchFamily="34" charset="-122"/>
                <a:cs typeface="Calibri" pitchFamily="34" charset="-120"/>
              </a:rPr>
              <a:t>DURACIÓN</a:t>
            </a:r>
            <a:endParaRPr lang="en-US" sz="1100" dirty="0"/>
          </a:p>
        </p:txBody>
      </p:sp>
      <p:sp>
        <p:nvSpPr>
          <p:cNvPr id="10" name="Text 8"/>
          <p:cNvSpPr txBox="1"/>
          <p:nvPr/>
        </p:nvSpPr>
        <p:spPr>
          <a:xfrm>
            <a:off x="8366760" y="2514600"/>
            <a:ext cx="3047695" cy="64008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30 min</a:t>
            </a:r>
            <a:endParaRPr lang="en-US" sz="2600" dirty="0"/>
          </a:p>
        </p:txBody>
      </p:sp>
      <p:sp>
        <p:nvSpPr>
          <p:cNvPr id="11" name="Shape 9"/>
          <p:cNvSpPr/>
          <p:nvPr/>
        </p:nvSpPr>
        <p:spPr>
          <a:xfrm>
            <a:off x="8138160" y="3474720"/>
            <a:ext cx="3504895" cy="1143000"/>
          </a:xfrm>
          <a:prstGeom prst="roundRect">
            <a:avLst>
              <a:gd name="adj" fmla="val 9600"/>
            </a:avLst>
          </a:prstGeom>
          <a:solidFill>
            <a:srgbClr val="FFFFFF"/>
          </a:solidFill>
          <a:ln w="12700">
            <a:solidFill>
              <a:srgbClr val="D5DDD9"/>
            </a:solidFill>
            <a:prstDash val="solid"/>
          </a:ln>
        </p:spPr>
      </p:sp>
      <p:sp>
        <p:nvSpPr>
          <p:cNvPr id="12" name="Text 10"/>
          <p:cNvSpPr txBox="1"/>
          <p:nvPr/>
        </p:nvSpPr>
        <p:spPr>
          <a:xfrm>
            <a:off x="8366760" y="36118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CARPETA</a:t>
            </a:r>
            <a:endParaRPr lang="en-US" sz="1100" dirty="0"/>
          </a:p>
        </p:txBody>
      </p:sp>
      <p:sp>
        <p:nvSpPr>
          <p:cNvPr id="13" name="Text 11"/>
          <p:cNvSpPr txBox="1"/>
          <p:nvPr/>
        </p:nvSpPr>
        <p:spPr>
          <a:xfrm>
            <a:off x="8366760" y="38862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entorno/</a:t>
            </a:r>
            <a:endParaRPr lang="en-US" sz="1300" dirty="0"/>
          </a:p>
        </p:txBody>
      </p:sp>
      <p:sp>
        <p:nvSpPr>
          <p:cNvPr id="14" name="Shape 12"/>
          <p:cNvSpPr/>
          <p:nvPr/>
        </p:nvSpPr>
        <p:spPr>
          <a:xfrm>
            <a:off x="8138160" y="4846320"/>
            <a:ext cx="3504895" cy="1143000"/>
          </a:xfrm>
          <a:prstGeom prst="roundRect">
            <a:avLst>
              <a:gd name="adj" fmla="val 9600"/>
            </a:avLst>
          </a:prstGeom>
          <a:solidFill>
            <a:srgbClr val="FFFFFF"/>
          </a:solidFill>
          <a:ln w="12700">
            <a:solidFill>
              <a:srgbClr val="D5DDD9"/>
            </a:solidFill>
            <a:prstDash val="solid"/>
          </a:ln>
        </p:spPr>
      </p:sp>
      <p:sp>
        <p:nvSpPr>
          <p:cNvPr id="15" name="Text 13"/>
          <p:cNvSpPr txBox="1"/>
          <p:nvPr/>
        </p:nvSpPr>
        <p:spPr>
          <a:xfrm>
            <a:off x="8366760" y="4983480"/>
            <a:ext cx="3047695" cy="274320"/>
          </a:xfrm>
          <a:prstGeom prst="rect">
            <a:avLst/>
          </a:prstGeom>
          <a:noFill/>
          <a:ln/>
        </p:spPr>
        <p:txBody>
          <a:bodyPr wrap="square" lIns="0" tIns="0" rIns="0" bIns="0" rtlCol="0" anchor="ctr"/>
          <a:lstStyle/>
          <a:p>
            <a:pPr indent="0" marL="0">
              <a:buNone/>
            </a:pPr>
            <a:r>
              <a:rPr lang="en-US" sz="1100" b="1" spc="200" kern="0" dirty="0">
                <a:solidFill>
                  <a:srgbClr val="5B6B66"/>
                </a:solidFill>
                <a:latin typeface="Calibri" pitchFamily="34" charset="0"/>
                <a:ea typeface="Calibri" pitchFamily="34" charset="-122"/>
                <a:cs typeface="Calibri" pitchFamily="34" charset="-120"/>
              </a:rPr>
              <a:t>GUÍA</a:t>
            </a:r>
            <a:endParaRPr lang="en-US" sz="1100" dirty="0"/>
          </a:p>
        </p:txBody>
      </p:sp>
      <p:sp>
        <p:nvSpPr>
          <p:cNvPr id="16" name="Text 14"/>
          <p:cNvSpPr txBox="1"/>
          <p:nvPr/>
        </p:nvSpPr>
        <p:spPr>
          <a:xfrm>
            <a:off x="8366760" y="5257800"/>
            <a:ext cx="3047695" cy="640080"/>
          </a:xfrm>
          <a:prstGeom prst="rect">
            <a:avLst/>
          </a:prstGeom>
          <a:noFill/>
          <a:ln/>
        </p:spPr>
        <p:txBody>
          <a:bodyPr wrap="square" lIns="0" tIns="0" rIns="0" bIns="0" rtlCol="0" anchor="t"/>
          <a:lstStyle/>
          <a:p>
            <a:pPr indent="0" marL="0">
              <a:buNone/>
            </a:pPr>
            <a:r>
              <a:rPr lang="en-US" sz="1300" dirty="0">
                <a:solidFill>
                  <a:srgbClr val="1C2B27"/>
                </a:solidFill>
                <a:latin typeface="Courier New" pitchFamily="34" charset="0"/>
                <a:ea typeface="Courier New" pitchFamily="34" charset="-122"/>
                <a:cs typeface="Courier New" pitchFamily="34" charset="-120"/>
              </a:rPr>
              <a:t>dia4/lab14-troubleshooting/README.md</a:t>
            </a:r>
            <a:endParaRPr lang="en-US" sz="1300" dirty="0"/>
          </a:p>
        </p:txBody>
      </p:sp>
      <p:sp>
        <p:nvSpPr>
          <p:cNvPr id="17" name="Text 15"/>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5B6B66"/>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18" name="Text 16"/>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5B6B66"/>
                </a:solidFill>
                <a:latin typeface="Calibri" pitchFamily="34" charset="0"/>
                <a:ea typeface="Calibri" pitchFamily="34" charset="-122"/>
                <a:cs typeface="Calibri" pitchFamily="34" charset="-120"/>
              </a:rPr>
              <a:t>32 / 33</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2A25"/>
        </a:solidFill>
      </p:bgPr>
    </p:bg>
    <p:spTree>
      <p:nvGrpSpPr>
        <p:cNvPr id="1" name=""/>
        <p:cNvGrpSpPr/>
        <p:nvPr/>
      </p:nvGrpSpPr>
      <p:grpSpPr>
        <a:xfrm>
          <a:off x="0" y="0"/>
          <a:ext cx="0" cy="0"/>
          <a:chOff x="0" y="0"/>
          <a:chExt cx="0" cy="0"/>
        </a:xfrm>
      </p:grpSpPr>
      <p:sp>
        <p:nvSpPr>
          <p:cNvPr id="2" name="Text 0"/>
          <p:cNvSpPr txBox="1"/>
          <p:nvPr/>
        </p:nvSpPr>
        <p:spPr>
          <a:xfrm>
            <a:off x="548640" y="548640"/>
            <a:ext cx="11094415"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Resumen del curso</a:t>
            </a:r>
            <a:endParaRPr lang="en-US" sz="3600" dirty="0"/>
          </a:p>
        </p:txBody>
      </p:sp>
      <p:sp>
        <p:nvSpPr>
          <p:cNvPr id="3" name="Shape 1"/>
          <p:cNvSpPr/>
          <p:nvPr/>
        </p:nvSpPr>
        <p:spPr>
          <a:xfrm>
            <a:off x="548640" y="1554480"/>
            <a:ext cx="5364328" cy="4389120"/>
          </a:xfrm>
          <a:prstGeom prst="roundRect">
            <a:avLst>
              <a:gd name="adj" fmla="val 2500"/>
            </a:avLst>
          </a:prstGeom>
          <a:solidFill>
            <a:srgbClr val="173D35"/>
          </a:solidFill>
          <a:ln w="12700">
            <a:solidFill>
              <a:srgbClr val="173D35"/>
            </a:solidFill>
            <a:prstDash val="solid"/>
          </a:ln>
        </p:spPr>
      </p:sp>
      <p:sp>
        <p:nvSpPr>
          <p:cNvPr id="4" name="Text 2"/>
          <p:cNvSpPr txBox="1"/>
          <p:nvPr/>
        </p:nvSpPr>
        <p:spPr>
          <a:xfrm>
            <a:off x="868680" y="1737360"/>
            <a:ext cx="4724248" cy="457200"/>
          </a:xfrm>
          <a:prstGeom prst="rect">
            <a:avLst/>
          </a:prstGeom>
          <a:noFill/>
          <a:ln/>
        </p:spPr>
        <p:txBody>
          <a:bodyPr wrap="square" lIns="0" tIns="0" rIns="0" bIns="0" rtlCol="0" anchor="ctr"/>
          <a:lstStyle/>
          <a:p>
            <a:pPr indent="0" marL="0">
              <a:buNone/>
            </a:pPr>
            <a:r>
              <a:rPr lang="en-US" sz="2000" b="1" dirty="0">
                <a:solidFill>
                  <a:srgbClr val="F2B33D"/>
                </a:solidFill>
                <a:latin typeface="Cambria" pitchFamily="34" charset="0"/>
                <a:ea typeface="Cambria" pitchFamily="34" charset="-122"/>
                <a:cs typeface="Cambria" pitchFamily="34" charset="-120"/>
              </a:rPr>
              <a:t>Lo que os lleváis</a:t>
            </a:r>
            <a:endParaRPr lang="en-US" sz="2000" dirty="0"/>
          </a:p>
        </p:txBody>
      </p:sp>
      <p:sp>
        <p:nvSpPr>
          <p:cNvPr id="5" name="Text 3"/>
          <p:cNvSpPr txBox="1"/>
          <p:nvPr/>
        </p:nvSpPr>
        <p:spPr>
          <a:xfrm>
            <a:off x="868680" y="2286000"/>
            <a:ext cx="4724248" cy="347472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Día 1: instalación, actualización en dos fases, memoria, disco y SO</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Día 2: replica sets, oplog, elecciones, concerns, failover y rolling</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Día 3: autenticación, roles, TLS sin parada, auditoría y cifrado</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Día 4: backups, PITR, monitorización, alertas y troubleshooting</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Un repositorio de laboratorios para repetir todo en casa o en el trabajo</a:t>
            </a:r>
            <a:endParaRPr lang="en-US" sz="1600" dirty="0"/>
          </a:p>
        </p:txBody>
      </p:sp>
      <p:sp>
        <p:nvSpPr>
          <p:cNvPr id="6" name="Shape 4"/>
          <p:cNvSpPr/>
          <p:nvPr/>
        </p:nvSpPr>
        <p:spPr>
          <a:xfrm>
            <a:off x="6278728" y="1554480"/>
            <a:ext cx="5364328" cy="4389120"/>
          </a:xfrm>
          <a:prstGeom prst="roundRect">
            <a:avLst>
              <a:gd name="adj" fmla="val 2500"/>
            </a:avLst>
          </a:prstGeom>
          <a:solidFill>
            <a:srgbClr val="1F7A4D"/>
          </a:solidFill>
          <a:ln w="12700">
            <a:solidFill>
              <a:srgbClr val="1F7A4D"/>
            </a:solidFill>
            <a:prstDash val="solid"/>
          </a:ln>
        </p:spPr>
      </p:sp>
      <p:sp>
        <p:nvSpPr>
          <p:cNvPr id="7" name="Text 5"/>
          <p:cNvSpPr txBox="1"/>
          <p:nvPr/>
        </p:nvSpPr>
        <p:spPr>
          <a:xfrm>
            <a:off x="6598768" y="1737360"/>
            <a:ext cx="4724248" cy="457200"/>
          </a:xfrm>
          <a:prstGeom prst="rect">
            <a:avLst/>
          </a:prstGeom>
          <a:noFill/>
          <a:ln/>
        </p:spPr>
        <p:txBody>
          <a:bodyPr wrap="square" lIns="0" tIns="0" rIns="0" bIns="0" rtlCol="0" anchor="ctr"/>
          <a:lstStyle/>
          <a:p>
            <a:pPr indent="0" marL="0">
              <a:buNone/>
            </a:pPr>
            <a:r>
              <a:rPr lang="en-US" sz="2000" b="1" dirty="0">
                <a:solidFill>
                  <a:srgbClr val="F2B33D"/>
                </a:solidFill>
                <a:latin typeface="Cambria" pitchFamily="34" charset="0"/>
                <a:ea typeface="Cambria" pitchFamily="34" charset="-122"/>
                <a:cs typeface="Cambria" pitchFamily="34" charset="-120"/>
              </a:rPr>
              <a:t>Siguientes pasos</a:t>
            </a:r>
            <a:endParaRPr lang="en-US" sz="2000" dirty="0"/>
          </a:p>
        </p:txBody>
      </p:sp>
      <p:sp>
        <p:nvSpPr>
          <p:cNvPr id="8" name="Text 6"/>
          <p:cNvSpPr txBox="1"/>
          <p:nvPr/>
        </p:nvSpPr>
        <p:spPr>
          <a:xfrm>
            <a:off x="6598768" y="2286000"/>
            <a:ext cx="4724248" cy="347472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Repetir los laboratorios y romper el entorno a propósito</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Revisar vuestras instalaciones con los checklists del curso</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Programar un simulacro de restauración real</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Documentación oficial: production notes y release notes de cada versión</a:t>
            </a:r>
            <a:endParaRPr lang="en-US" sz="1600" dirty="0"/>
          </a:p>
          <a:p>
            <a:pPr marL="254000" indent="-2540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Certificación: MongoDB Associate DBA (opcional)</a:t>
            </a:r>
            <a:endParaRPr lang="en-US" sz="1600" dirty="0"/>
          </a:p>
        </p:txBody>
      </p:sp>
      <p:sp>
        <p:nvSpPr>
          <p:cNvPr id="9" name="Text 7"/>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1000" dirty="0">
                <a:solidFill>
                  <a:srgbClr val="9DB8AE"/>
                </a:solidFill>
                <a:latin typeface="Calibri" pitchFamily="34" charset="0"/>
                <a:ea typeface="Calibri" pitchFamily="34" charset="-122"/>
                <a:cs typeface="Calibri" pitchFamily="34" charset="-120"/>
              </a:rPr>
              <a:t>Administración de MongoDB · Día 4 · Backups, monitorización y troubleshooting</a:t>
            </a:r>
            <a:endParaRPr lang="en-US" sz="1000" dirty="0"/>
          </a:p>
        </p:txBody>
      </p:sp>
      <p:sp>
        <p:nvSpPr>
          <p:cNvPr id="10" name="Text 8"/>
          <p:cNvSpPr txBox="1"/>
          <p:nvPr/>
        </p:nvSpPr>
        <p:spPr>
          <a:xfrm>
            <a:off x="10271455" y="6473952"/>
            <a:ext cx="1371600" cy="228600"/>
          </a:xfrm>
          <a:prstGeom prst="rect">
            <a:avLst/>
          </a:prstGeom>
          <a:noFill/>
          <a:ln/>
        </p:spPr>
        <p:txBody>
          <a:bodyPr wrap="square" lIns="0" tIns="0" rIns="0" bIns="0" rtlCol="0" anchor="ctr"/>
          <a:lstStyle/>
          <a:p>
            <a:pPr algn="r" indent="0" marL="0">
              <a:buNone/>
            </a:pPr>
            <a:r>
              <a:rPr lang="en-US" sz="1000" dirty="0">
                <a:solidFill>
                  <a:srgbClr val="9DB8AE"/>
                </a:solidFill>
                <a:latin typeface="Calibri" pitchFamily="34" charset="0"/>
                <a:ea typeface="Calibri" pitchFamily="34" charset="-122"/>
                <a:cs typeface="Calibri" pitchFamily="34" charset="-120"/>
              </a:rPr>
              <a:t>33 / 33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Administración de MongoDB · Día 4</dc:title>
  <dc:subject>PptxGenJS Presentation</dc:subject>
  <dc:creator>Curso de Administración de MongoDB</dc:creator>
  <cp:lastModifiedBy>Curso de Administración de MongoDB</cp:lastModifiedBy>
  <cp:revision>1</cp:revision>
  <dcterms:created xsi:type="dcterms:W3CDTF">2026-09-25T09:44:27Z</dcterms:created>
  <dcterms:modified xsi:type="dcterms:W3CDTF">2026-09-25T09:44:27Z</dcterms:modified>
</cp:coreProperties>
</file>